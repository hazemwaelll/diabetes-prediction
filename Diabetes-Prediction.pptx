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6" r:id="rId6"/>
    <p:sldId id="260" r:id="rId7"/>
    <p:sldId id="262" r:id="rId8"/>
    <p:sldId id="263" r:id="rId9"/>
    <p:sldId id="264" r:id="rId10"/>
  </p:sldIdLst>
  <p:sldSz cx="12192000" cy="6858000"/>
  <p:notesSz cx="6858000" cy="12192000"/>
  <p:embeddedFontLst>
    <p:embeddedFont>
      <p:font typeface="Geist" panose="020B0604020202020204" charset="0"/>
      <p:regular r:id="rId12"/>
    </p:embeddedFont>
    <p:embeddedFont>
      <p:font typeface="Geist Bold" panose="020B0604020202020204" charset="0"/>
      <p:regular r:id="rId13"/>
    </p:embeddedFont>
    <p:embeddedFont>
      <p:font typeface="Geist SemiBold" panose="020B0604020202020204" charset="0"/>
      <p:regular r:id="rId14"/>
    </p:embeddedFont>
    <p:embeddedFont>
      <p:font typeface="Newsreader Medium" panose="020B0604020202020204"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2638"/>
    <a:srgbClr val="4A5B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505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question: can routine health measurements predict diabetes, and which classifier should we trust?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task as a binary classification problem on routine measurements, then preview the seven algorithms we compare.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inputs go in, one binary label comes out. The outcome column is the target the models learn to predict.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zero in these measurements is not a real reading. Skin thickness and insulin carry the most invalid zeros.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1CACE-3363-8BA6-5FEA-26CA5E792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2AA562-97D0-2731-4C01-CF44DCDEDD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8BA141-1E30-F9FE-9C1B-AE68829DA0E2}"/>
              </a:ext>
            </a:extLst>
          </p:cNvPr>
          <p:cNvSpPr>
            <a:spLocks noGrp="1"/>
          </p:cNvSpPr>
          <p:nvPr>
            <p:ph type="body" idx="1"/>
          </p:nvPr>
        </p:nvSpPr>
        <p:spPr/>
        <p:txBody>
          <a:bodyPr/>
          <a:lstStyle/>
          <a:p>
            <a:r>
              <a:rPr lang="en-US" dirty="0"/>
              <a:t>A zero in these measurements is not a real reading. Skin thickness and insulin carry the most invalid zeros.</a:t>
            </a:r>
          </a:p>
        </p:txBody>
      </p:sp>
      <p:sp>
        <p:nvSpPr>
          <p:cNvPr id="4" name="Slide Number Placeholder 3">
            <a:extLst>
              <a:ext uri="{FF2B5EF4-FFF2-40B4-BE49-F238E27FC236}">
                <a16:creationId xmlns:a16="http://schemas.microsoft.com/office/drawing/2014/main" id="{BCFB6823-F420-1332-D8B3-E924C3C7EDB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315734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pipeline top to bottom. Note that the split happens before the scaler is applied, and scaling is applied only where it is appropriate.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single test split, the seven models sit within about two points of each other. Accuracy alone does not separate them, which is why we add cross-validation.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Cross-validation spreads the evaluation over five folds. Logistic Regression ranks first, tied at 77.60% with Random Forest.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has the highest mean cross-validation accuracy. On the test set, the matrix shows 45 true positives and 24 false negatives for the diabetic class.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AF7F0"/>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salihacur/diabete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189" y="457200"/>
            <a:ext cx="6126406" cy="640060"/>
          </a:xfrm>
          <a:prstGeom prst="rect">
            <a:avLst/>
          </a:prstGeom>
          <a:noFill/>
          <a:ln/>
        </p:spPr>
        <p:txBody>
          <a:bodyPr wrap="none" lIns="0" tIns="0" rIns="0" bIns="0" rtlCol="0" anchor="t"/>
          <a:lstStyle/>
          <a:p>
            <a:pPr marL="0" indent="0" algn="l">
              <a:lnSpc>
                <a:spcPct val="88000"/>
              </a:lnSpc>
              <a:buNone/>
            </a:pPr>
            <a:r>
              <a:rPr lang="en-US" sz="4800" kern="100" spc="-72" dirty="0">
                <a:solidFill>
                  <a:srgbClr val="1B2638"/>
                </a:solidFill>
                <a:latin typeface="Newsreader Medium" pitchFamily="34" charset="0"/>
                <a:ea typeface="Newsreader Medium" pitchFamily="34" charset="-122"/>
                <a:cs typeface="Newsreader Medium" pitchFamily="34" charset="-120"/>
              </a:rPr>
              <a:t>Diabetes Prediction</a:t>
            </a:r>
            <a:endParaRPr lang="en-US" sz="4800" dirty="0"/>
          </a:p>
        </p:txBody>
      </p:sp>
      <p:sp>
        <p:nvSpPr>
          <p:cNvPr id="3" name="Shape 1"/>
          <p:cNvSpPr/>
          <p:nvPr/>
        </p:nvSpPr>
        <p:spPr>
          <a:xfrm>
            <a:off x="457189" y="1371898"/>
            <a:ext cx="6126307" cy="31651"/>
          </a:xfrm>
          <a:prstGeom prst="roundRect">
            <a:avLst>
              <a:gd name="adj" fmla="val 49998"/>
            </a:avLst>
          </a:prstGeom>
          <a:solidFill>
            <a:srgbClr val="4A5B70"/>
          </a:solidFill>
          <a:ln/>
        </p:spPr>
        <p:txBody>
          <a:bodyPr/>
          <a:lstStyle/>
          <a:p>
            <a:endParaRPr lang="en-US"/>
          </a:p>
        </p:txBody>
      </p:sp>
      <p:sp>
        <p:nvSpPr>
          <p:cNvPr id="4" name="Text 2"/>
          <p:cNvSpPr/>
          <p:nvPr/>
        </p:nvSpPr>
        <p:spPr>
          <a:xfrm>
            <a:off x="457189" y="1850529"/>
            <a:ext cx="6126406" cy="603250"/>
          </a:xfrm>
          <a:prstGeom prst="rect">
            <a:avLst/>
          </a:prstGeom>
          <a:noFill/>
          <a:ln/>
        </p:spPr>
        <p:txBody>
          <a:bodyPr wrap="square" lIns="0" tIns="0" rIns="0" bIns="0" rtlCol="0" anchor="t">
            <a:normAutofit/>
          </a:bodyPr>
          <a:lstStyle/>
          <a:p>
            <a:pPr marL="0" indent="0" algn="l">
              <a:lnSpc>
                <a:spcPct val="104000"/>
              </a:lnSpc>
              <a:buNone/>
            </a:pPr>
            <a:r>
              <a:rPr lang="en-US" sz="1900" dirty="0">
                <a:solidFill>
                  <a:srgbClr val="1B2638"/>
                </a:solidFill>
                <a:latin typeface="Geist" panose="020B0604020202020204" charset="0"/>
                <a:ea typeface="Geist" panose="020B0604020202020204" charset="0"/>
                <a:cs typeface="Geist" panose="020B0604020202020204" charset="0"/>
              </a:rPr>
              <a:t>Comparing Classification Algorithms for Diabetes Prediction</a:t>
            </a:r>
          </a:p>
        </p:txBody>
      </p:sp>
      <p:sp>
        <p:nvSpPr>
          <p:cNvPr id="6" name="Rectangle 5">
            <a:extLst>
              <a:ext uri="{FF2B5EF4-FFF2-40B4-BE49-F238E27FC236}">
                <a16:creationId xmlns:a16="http://schemas.microsoft.com/office/drawing/2014/main" id="{65164BB0-6A22-85E7-8A73-CDE37EBCBBDD}"/>
              </a:ext>
            </a:extLst>
          </p:cNvPr>
          <p:cNvSpPr/>
          <p:nvPr/>
        </p:nvSpPr>
        <p:spPr>
          <a:xfrm>
            <a:off x="11038114" y="6475446"/>
            <a:ext cx="1073021" cy="3079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 0" descr="preencoded.png">
            <a:extLst>
              <a:ext uri="{FF2B5EF4-FFF2-40B4-BE49-F238E27FC236}">
                <a16:creationId xmlns:a16="http://schemas.microsoft.com/office/drawing/2014/main" id="{CFAF1905-215A-C0C1-7E47-61678A356899}"/>
              </a:ext>
            </a:extLst>
          </p:cNvPr>
          <p:cNvPicPr>
            <a:picLocks noChangeAspect="1"/>
          </p:cNvPicPr>
          <p:nvPr/>
        </p:nvPicPr>
        <p:blipFill>
          <a:blip r:embed="rId3"/>
          <a:stretch>
            <a:fillRect/>
          </a:stretch>
        </p:blipFill>
        <p:spPr>
          <a:xfrm>
            <a:off x="7772206" y="1447800"/>
            <a:ext cx="3962301" cy="3962400"/>
          </a:xfrm>
          <a:prstGeom prst="rect">
            <a:avLst/>
          </a:prstGeom>
        </p:spPr>
      </p:pic>
      <p:sp>
        <p:nvSpPr>
          <p:cNvPr id="11" name="TextBox 10">
            <a:extLst>
              <a:ext uri="{FF2B5EF4-FFF2-40B4-BE49-F238E27FC236}">
                <a16:creationId xmlns:a16="http://schemas.microsoft.com/office/drawing/2014/main" id="{3F41E3D5-D887-3616-4CC8-C8E0CA6CCCB0}"/>
              </a:ext>
            </a:extLst>
          </p:cNvPr>
          <p:cNvSpPr txBox="1"/>
          <p:nvPr/>
        </p:nvSpPr>
        <p:spPr>
          <a:xfrm>
            <a:off x="2621902" y="3470988"/>
            <a:ext cx="184731" cy="369332"/>
          </a:xfrm>
          <a:prstGeom prst="rect">
            <a:avLst/>
          </a:prstGeom>
          <a:noFill/>
        </p:spPr>
        <p:txBody>
          <a:bodyPr wrap="none" rtlCol="0">
            <a:spAutoFit/>
          </a:bodyPr>
          <a:lstStyle/>
          <a:p>
            <a:endParaRPr lang="en-US" dirty="0"/>
          </a:p>
        </p:txBody>
      </p:sp>
      <p:sp>
        <p:nvSpPr>
          <p:cNvPr id="13" name="Text 2">
            <a:extLst>
              <a:ext uri="{FF2B5EF4-FFF2-40B4-BE49-F238E27FC236}">
                <a16:creationId xmlns:a16="http://schemas.microsoft.com/office/drawing/2014/main" id="{EA59C6C9-78A5-8F1E-4341-BF44B8B61F06}"/>
              </a:ext>
            </a:extLst>
          </p:cNvPr>
          <p:cNvSpPr/>
          <p:nvPr/>
        </p:nvSpPr>
        <p:spPr>
          <a:xfrm>
            <a:off x="457189" y="3127374"/>
            <a:ext cx="7511154" cy="1549273"/>
          </a:xfrm>
          <a:prstGeom prst="rect">
            <a:avLst/>
          </a:prstGeom>
          <a:noFill/>
          <a:ln/>
        </p:spPr>
        <p:txBody>
          <a:bodyPr wrap="square" lIns="0" tIns="0" rIns="0" bIns="0" rtlCol="0" anchor="t">
            <a:noAutofit/>
          </a:bodyPr>
          <a:lstStyle/>
          <a:p>
            <a:r>
              <a:rPr lang="en-US" sz="1900" dirty="0">
                <a:solidFill>
                  <a:srgbClr val="1B2638"/>
                </a:solidFill>
                <a:latin typeface="Geist" panose="020B0604020202020204" charset="0"/>
                <a:ea typeface="Geist" panose="020B0604020202020204" charset="0"/>
                <a:cs typeface="Geist" panose="020B0604020202020204" charset="0"/>
              </a:rPr>
              <a:t>Diabetes is a common and serious health condition that can develop without obvious symptoms. This project explores how health measurements can be used to predict the risk of diabetes and compares different machine learning approaches to find the most effective one.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18" name="Text 0">
            <a:extLst>
              <a:ext uri="{FF2B5EF4-FFF2-40B4-BE49-F238E27FC236}">
                <a16:creationId xmlns:a16="http://schemas.microsoft.com/office/drawing/2014/main" id="{463B004F-2065-02E0-3FD9-066F69E46896}"/>
              </a:ext>
            </a:extLst>
          </p:cNvPr>
          <p:cNvSpPr/>
          <p:nvPr/>
        </p:nvSpPr>
        <p:spPr>
          <a:xfrm>
            <a:off x="457189" y="459184"/>
            <a:ext cx="11734506" cy="182563"/>
          </a:xfrm>
          <a:prstGeom prst="rect">
            <a:avLst/>
          </a:prstGeom>
          <a:noFill/>
          <a:ln/>
        </p:spPr>
        <p:txBody>
          <a:bodyPr wrap="none" lIns="0" tIns="0" rIns="0" bIns="0" rtlCol="0" anchor="t"/>
          <a:lstStyle/>
          <a:p>
            <a:pPr marL="0" indent="0" algn="l">
              <a:lnSpc>
                <a:spcPct val="104000"/>
              </a:lnSpc>
              <a:buNone/>
            </a:pPr>
            <a:r>
              <a:rPr lang="en-US" sz="1150" kern="100" spc="92" dirty="0">
                <a:solidFill>
                  <a:srgbClr val="4A5B70"/>
                </a:solidFill>
                <a:latin typeface="Geist SemiBold" pitchFamily="34" charset="0"/>
                <a:ea typeface="Geist SemiBold" pitchFamily="34" charset="-122"/>
                <a:cs typeface="Geist SemiBold" pitchFamily="34" charset="-120"/>
              </a:rPr>
              <a:t>PREDICTION TASK</a:t>
            </a:r>
            <a:endParaRPr lang="en-US" sz="1150" dirty="0"/>
          </a:p>
        </p:txBody>
      </p:sp>
      <p:sp>
        <p:nvSpPr>
          <p:cNvPr id="20" name="Text 1">
            <a:extLst>
              <a:ext uri="{FF2B5EF4-FFF2-40B4-BE49-F238E27FC236}">
                <a16:creationId xmlns:a16="http://schemas.microsoft.com/office/drawing/2014/main" id="{C10CAB81-7DC5-F29C-4C81-1EBD10B74787}"/>
              </a:ext>
            </a:extLst>
          </p:cNvPr>
          <p:cNvSpPr/>
          <p:nvPr/>
        </p:nvSpPr>
        <p:spPr>
          <a:xfrm>
            <a:off x="457189" y="731837"/>
            <a:ext cx="11277318" cy="432991"/>
          </a:xfrm>
          <a:prstGeom prst="rect">
            <a:avLst/>
          </a:prstGeom>
          <a:noFill/>
          <a:ln/>
        </p:spPr>
        <p:txBody>
          <a:bodyPr wrap="none" lIns="0" tIns="0" rIns="0" bIns="0" rtlCol="0" anchor="t"/>
          <a:lstStyle/>
          <a:p>
            <a:pPr marL="0" indent="0" algn="l">
              <a:lnSpc>
                <a:spcPct val="92000"/>
              </a:lnSpc>
              <a:buNone/>
            </a:pPr>
            <a:r>
              <a:rPr lang="en-US" sz="3100" kern="100" spc="-31" dirty="0">
                <a:solidFill>
                  <a:srgbClr val="1B2638"/>
                </a:solidFill>
                <a:latin typeface="Newsreader Medium" pitchFamily="34" charset="0"/>
                <a:ea typeface="Newsreader Medium" pitchFamily="34" charset="-122"/>
                <a:cs typeface="Newsreader Medium" pitchFamily="34" charset="-120"/>
              </a:rPr>
              <a:t>Machine learning can classify diabetes from health measurements</a:t>
            </a:r>
            <a:endParaRPr lang="en-US" sz="3100" dirty="0"/>
          </a:p>
        </p:txBody>
      </p:sp>
      <p:sp>
        <p:nvSpPr>
          <p:cNvPr id="22" name="Shape 2">
            <a:extLst>
              <a:ext uri="{FF2B5EF4-FFF2-40B4-BE49-F238E27FC236}">
                <a16:creationId xmlns:a16="http://schemas.microsoft.com/office/drawing/2014/main" id="{32F4CF9B-6D85-A295-DE47-D51370249A91}"/>
              </a:ext>
            </a:extLst>
          </p:cNvPr>
          <p:cNvSpPr/>
          <p:nvPr/>
        </p:nvSpPr>
        <p:spPr>
          <a:xfrm>
            <a:off x="457189" y="1439466"/>
            <a:ext cx="11277318" cy="31651"/>
          </a:xfrm>
          <a:prstGeom prst="roundRect">
            <a:avLst>
              <a:gd name="adj" fmla="val 49998"/>
            </a:avLst>
          </a:prstGeom>
          <a:solidFill>
            <a:srgbClr val="397B88"/>
          </a:solidFill>
          <a:ln/>
        </p:spPr>
        <p:txBody>
          <a:bodyPr/>
          <a:lstStyle/>
          <a:p>
            <a:endParaRPr lang="en-US"/>
          </a:p>
        </p:txBody>
      </p:sp>
      <p:pic>
        <p:nvPicPr>
          <p:cNvPr id="24" name="Image 0" descr="preencoded.png">
            <a:extLst>
              <a:ext uri="{FF2B5EF4-FFF2-40B4-BE49-F238E27FC236}">
                <a16:creationId xmlns:a16="http://schemas.microsoft.com/office/drawing/2014/main" id="{66D150F0-F8AB-F587-11BC-32C176FEAE8D}"/>
              </a:ext>
            </a:extLst>
          </p:cNvPr>
          <p:cNvPicPr>
            <a:picLocks noChangeAspect="1"/>
          </p:cNvPicPr>
          <p:nvPr/>
        </p:nvPicPr>
        <p:blipFill>
          <a:blip r:embed="rId3"/>
          <a:stretch>
            <a:fillRect/>
          </a:stretch>
        </p:blipFill>
        <p:spPr>
          <a:xfrm>
            <a:off x="685783" y="1952228"/>
            <a:ext cx="3149521" cy="3647877"/>
          </a:xfrm>
          <a:prstGeom prst="rect">
            <a:avLst/>
          </a:prstGeom>
        </p:spPr>
      </p:pic>
      <p:sp>
        <p:nvSpPr>
          <p:cNvPr id="26" name="Text 3">
            <a:extLst>
              <a:ext uri="{FF2B5EF4-FFF2-40B4-BE49-F238E27FC236}">
                <a16:creationId xmlns:a16="http://schemas.microsoft.com/office/drawing/2014/main" id="{58C7C004-0032-D3A1-3906-447A351BFF60}"/>
              </a:ext>
            </a:extLst>
          </p:cNvPr>
          <p:cNvSpPr/>
          <p:nvPr/>
        </p:nvSpPr>
        <p:spPr>
          <a:xfrm>
            <a:off x="685783" y="5777905"/>
            <a:ext cx="3149521" cy="394295"/>
          </a:xfrm>
          <a:prstGeom prst="rect">
            <a:avLst/>
          </a:prstGeom>
          <a:noFill/>
          <a:ln/>
        </p:spPr>
        <p:txBody>
          <a:bodyPr wrap="square" lIns="0" tIns="0" rIns="0" bIns="0" rtlCol="0" anchor="t">
            <a:normAutofit/>
          </a:bodyPr>
          <a:lstStyle/>
          <a:p>
            <a:pPr marL="0" indent="0" algn="l">
              <a:lnSpc>
                <a:spcPct val="113000"/>
              </a:lnSpc>
              <a:buNone/>
            </a:pPr>
            <a:r>
              <a:rPr lang="en-US" sz="1150" dirty="0">
                <a:solidFill>
                  <a:srgbClr val="000000"/>
                </a:solidFill>
                <a:latin typeface="Geist" pitchFamily="34" charset="0"/>
                <a:ea typeface="Geist" pitchFamily="34" charset="-122"/>
                <a:cs typeface="Geist" pitchFamily="34" charset="-120"/>
              </a:rPr>
              <a:t>Blood Pressure is one of the health-related input features.</a:t>
            </a:r>
            <a:endParaRPr lang="en-US" sz="1150" dirty="0"/>
          </a:p>
        </p:txBody>
      </p:sp>
      <p:sp>
        <p:nvSpPr>
          <p:cNvPr id="28" name="Text 4">
            <a:extLst>
              <a:ext uri="{FF2B5EF4-FFF2-40B4-BE49-F238E27FC236}">
                <a16:creationId xmlns:a16="http://schemas.microsoft.com/office/drawing/2014/main" id="{3D6BE75A-8441-CAD2-8A09-DC55ED0745A9}"/>
              </a:ext>
            </a:extLst>
          </p:cNvPr>
          <p:cNvSpPr/>
          <p:nvPr/>
        </p:nvSpPr>
        <p:spPr>
          <a:xfrm>
            <a:off x="4521087" y="1952292"/>
            <a:ext cx="7213420" cy="685205"/>
          </a:xfrm>
          <a:prstGeom prst="rect">
            <a:avLst/>
          </a:prstGeom>
          <a:noFill/>
          <a:ln/>
        </p:spPr>
        <p:txBody>
          <a:bodyPr wrap="square" lIns="0" tIns="0" rIns="0" bIns="0" rtlCol="0" anchor="t">
            <a:normAutofit/>
          </a:bodyPr>
          <a:lstStyle/>
          <a:p>
            <a:pPr marL="0" indent="0" algn="l">
              <a:lnSpc>
                <a:spcPct val="118000"/>
              </a:lnSpc>
              <a:buNone/>
            </a:pPr>
            <a:r>
              <a:rPr lang="en-US" sz="1900" dirty="0">
                <a:solidFill>
                  <a:srgbClr val="2B3139"/>
                </a:solidFill>
                <a:latin typeface="Geist" pitchFamily="34" charset="0"/>
                <a:ea typeface="Geist" pitchFamily="34" charset="-122"/>
                <a:cs typeface="Geist" pitchFamily="34" charset="-120"/>
              </a:rPr>
              <a:t>Classification algorithms predict whether a person has diabetes using health-related features.</a:t>
            </a:r>
            <a:endParaRPr lang="en-US" sz="1900" dirty="0"/>
          </a:p>
        </p:txBody>
      </p:sp>
      <p:sp>
        <p:nvSpPr>
          <p:cNvPr id="30" name="Text 5">
            <a:extLst>
              <a:ext uri="{FF2B5EF4-FFF2-40B4-BE49-F238E27FC236}">
                <a16:creationId xmlns:a16="http://schemas.microsoft.com/office/drawing/2014/main" id="{B994AD14-E764-E526-FC12-23922A3FE910}"/>
              </a:ext>
            </a:extLst>
          </p:cNvPr>
          <p:cNvSpPr/>
          <p:nvPr/>
        </p:nvSpPr>
        <p:spPr>
          <a:xfrm>
            <a:off x="4521087" y="2770783"/>
            <a:ext cx="7213420" cy="577056"/>
          </a:xfrm>
          <a:prstGeom prst="rect">
            <a:avLst/>
          </a:prstGeom>
          <a:noFill/>
          <a:ln/>
        </p:spPr>
        <p:txBody>
          <a:bodyPr wrap="square" lIns="0" tIns="0" rIns="0" bIns="0" rtlCol="0" anchor="t">
            <a:normAutofit/>
          </a:bodyPr>
          <a:lstStyle/>
          <a:p>
            <a:pPr marL="0" indent="0" algn="l">
              <a:lnSpc>
                <a:spcPct val="118000"/>
              </a:lnSpc>
              <a:buNone/>
            </a:pPr>
            <a:r>
              <a:rPr lang="en-US" sz="1600" dirty="0">
                <a:solidFill>
                  <a:srgbClr val="2B3139"/>
                </a:solidFill>
                <a:latin typeface="Geist" pitchFamily="34" charset="0"/>
                <a:ea typeface="Geist" pitchFamily="34" charset="-122"/>
                <a:cs typeface="Geist" pitchFamily="34" charset="-120"/>
              </a:rPr>
              <a:t>Several algorithms are trained, evaluated and compared to identify the best-performing model in this project.</a:t>
            </a:r>
            <a:endParaRPr lang="en-US" sz="1600" dirty="0"/>
          </a:p>
        </p:txBody>
      </p:sp>
      <p:sp>
        <p:nvSpPr>
          <p:cNvPr id="32" name="Text 6">
            <a:extLst>
              <a:ext uri="{FF2B5EF4-FFF2-40B4-BE49-F238E27FC236}">
                <a16:creationId xmlns:a16="http://schemas.microsoft.com/office/drawing/2014/main" id="{D79909F7-6B56-6180-B2DD-11FB2FDFFEB9}"/>
              </a:ext>
            </a:extLst>
          </p:cNvPr>
          <p:cNvSpPr/>
          <p:nvPr/>
        </p:nvSpPr>
        <p:spPr>
          <a:xfrm>
            <a:off x="4521087" y="4413647"/>
            <a:ext cx="7213420" cy="182563"/>
          </a:xfrm>
          <a:prstGeom prst="rect">
            <a:avLst/>
          </a:prstGeom>
          <a:noFill/>
          <a:ln/>
        </p:spPr>
        <p:txBody>
          <a:bodyPr wrap="none" lIns="0" tIns="0" rIns="0" bIns="0" rtlCol="0" anchor="t"/>
          <a:lstStyle/>
          <a:p>
            <a:pPr marL="0" indent="0" algn="l">
              <a:lnSpc>
                <a:spcPct val="104000"/>
              </a:lnSpc>
              <a:buNone/>
            </a:pPr>
            <a:r>
              <a:rPr lang="en-US" sz="1150" kern="100" spc="92" dirty="0">
                <a:solidFill>
                  <a:srgbClr val="4A5B70"/>
                </a:solidFill>
                <a:latin typeface="Geist SemiBold" pitchFamily="34" charset="0"/>
                <a:ea typeface="Geist SemiBold" pitchFamily="34" charset="-122"/>
                <a:cs typeface="Geist SemiBold" pitchFamily="34" charset="-120"/>
              </a:rPr>
              <a:t>TARGET VARIABLE · OUTCOME</a:t>
            </a:r>
            <a:endParaRPr lang="en-US" sz="1150" dirty="0"/>
          </a:p>
        </p:txBody>
      </p:sp>
      <p:sp>
        <p:nvSpPr>
          <p:cNvPr id="34" name="Shape 7">
            <a:extLst>
              <a:ext uri="{FF2B5EF4-FFF2-40B4-BE49-F238E27FC236}">
                <a16:creationId xmlns:a16="http://schemas.microsoft.com/office/drawing/2014/main" id="{57BF4874-BBEB-AF1F-B5FD-1C9B8210FF09}"/>
              </a:ext>
            </a:extLst>
          </p:cNvPr>
          <p:cNvSpPr/>
          <p:nvPr/>
        </p:nvSpPr>
        <p:spPr>
          <a:xfrm>
            <a:off x="4521087" y="4727575"/>
            <a:ext cx="3454314" cy="1444625"/>
          </a:xfrm>
          <a:prstGeom prst="roundRect">
            <a:avLst>
              <a:gd name="adj" fmla="val 791"/>
            </a:avLst>
          </a:prstGeom>
          <a:noFill/>
          <a:ln w="25399">
            <a:solidFill>
              <a:srgbClr val="4A5B70"/>
            </a:solidFill>
            <a:prstDash val="solid"/>
          </a:ln>
        </p:spPr>
        <p:txBody>
          <a:bodyPr/>
          <a:lstStyle/>
          <a:p>
            <a:endParaRPr lang="en-US"/>
          </a:p>
        </p:txBody>
      </p:sp>
      <p:sp>
        <p:nvSpPr>
          <p:cNvPr id="36" name="Text 8">
            <a:extLst>
              <a:ext uri="{FF2B5EF4-FFF2-40B4-BE49-F238E27FC236}">
                <a16:creationId xmlns:a16="http://schemas.microsoft.com/office/drawing/2014/main" id="{04D17366-CCE9-D23F-06B6-A10098F4C781}"/>
              </a:ext>
            </a:extLst>
          </p:cNvPr>
          <p:cNvSpPr/>
          <p:nvPr/>
        </p:nvSpPr>
        <p:spPr>
          <a:xfrm>
            <a:off x="4775081" y="4981575"/>
            <a:ext cx="2946326" cy="533400"/>
          </a:xfrm>
          <a:prstGeom prst="rect">
            <a:avLst/>
          </a:prstGeom>
          <a:noFill/>
          <a:ln/>
        </p:spPr>
        <p:txBody>
          <a:bodyPr wrap="none" lIns="0" tIns="0" rIns="0" bIns="0" rtlCol="0" anchor="t"/>
          <a:lstStyle/>
          <a:p>
            <a:pPr marL="0" indent="0" algn="l">
              <a:lnSpc>
                <a:spcPct val="88000"/>
              </a:lnSpc>
              <a:buNone/>
            </a:pPr>
            <a:r>
              <a:rPr lang="en-US" sz="4000" kern="100" spc="-80" dirty="0">
                <a:solidFill>
                  <a:srgbClr val="1B2638"/>
                </a:solidFill>
                <a:latin typeface="Newsreader Medium" pitchFamily="34" charset="0"/>
                <a:ea typeface="Newsreader Medium" pitchFamily="34" charset="-122"/>
                <a:cs typeface="Newsreader Medium" pitchFamily="34" charset="-120"/>
              </a:rPr>
              <a:t>0</a:t>
            </a:r>
            <a:endParaRPr lang="en-US" sz="4000" dirty="0"/>
          </a:p>
        </p:txBody>
      </p:sp>
      <p:sp>
        <p:nvSpPr>
          <p:cNvPr id="38" name="Text 9">
            <a:extLst>
              <a:ext uri="{FF2B5EF4-FFF2-40B4-BE49-F238E27FC236}">
                <a16:creationId xmlns:a16="http://schemas.microsoft.com/office/drawing/2014/main" id="{B8837F83-1B08-C6BD-8699-A1EA99F98A26}"/>
              </a:ext>
            </a:extLst>
          </p:cNvPr>
          <p:cNvSpPr/>
          <p:nvPr/>
        </p:nvSpPr>
        <p:spPr>
          <a:xfrm>
            <a:off x="4775081" y="5657056"/>
            <a:ext cx="2946326" cy="269875"/>
          </a:xfrm>
          <a:prstGeom prst="rect">
            <a:avLst/>
          </a:prstGeom>
          <a:noFill/>
          <a:ln/>
        </p:spPr>
        <p:txBody>
          <a:bodyPr wrap="none" lIns="0" tIns="0" rIns="0" bIns="0" rtlCol="0" anchor="t"/>
          <a:lstStyle/>
          <a:p>
            <a:pPr marL="0" indent="0" algn="l">
              <a:lnSpc>
                <a:spcPct val="104000"/>
              </a:lnSpc>
              <a:buNone/>
            </a:pPr>
            <a:r>
              <a:rPr lang="en-US" sz="1700" dirty="0">
                <a:solidFill>
                  <a:srgbClr val="4A5B70"/>
                </a:solidFill>
                <a:latin typeface="Geist SemiBold" pitchFamily="34" charset="0"/>
                <a:ea typeface="Geist SemiBold" pitchFamily="34" charset="-122"/>
                <a:cs typeface="Geist SemiBold" pitchFamily="34" charset="-120"/>
              </a:rPr>
              <a:t>No diabetes</a:t>
            </a:r>
            <a:endParaRPr lang="en-US" sz="1700" dirty="0"/>
          </a:p>
        </p:txBody>
      </p:sp>
      <p:sp>
        <p:nvSpPr>
          <p:cNvPr id="40" name="Shape 10">
            <a:extLst>
              <a:ext uri="{FF2B5EF4-FFF2-40B4-BE49-F238E27FC236}">
                <a16:creationId xmlns:a16="http://schemas.microsoft.com/office/drawing/2014/main" id="{A9ADDB2F-1D57-0244-A405-B5964BFCFD20}"/>
              </a:ext>
            </a:extLst>
          </p:cNvPr>
          <p:cNvSpPr/>
          <p:nvPr/>
        </p:nvSpPr>
        <p:spPr>
          <a:xfrm>
            <a:off x="8280193" y="4727575"/>
            <a:ext cx="3454314" cy="1444625"/>
          </a:xfrm>
          <a:prstGeom prst="roundRect">
            <a:avLst>
              <a:gd name="adj" fmla="val 791"/>
            </a:avLst>
          </a:prstGeom>
          <a:noFill/>
          <a:ln w="25399">
            <a:solidFill>
              <a:srgbClr val="4A5B70"/>
            </a:solidFill>
            <a:prstDash val="solid"/>
          </a:ln>
        </p:spPr>
        <p:txBody>
          <a:bodyPr/>
          <a:lstStyle/>
          <a:p>
            <a:endParaRPr lang="en-US"/>
          </a:p>
        </p:txBody>
      </p:sp>
      <p:sp>
        <p:nvSpPr>
          <p:cNvPr id="42" name="Text 11">
            <a:extLst>
              <a:ext uri="{FF2B5EF4-FFF2-40B4-BE49-F238E27FC236}">
                <a16:creationId xmlns:a16="http://schemas.microsoft.com/office/drawing/2014/main" id="{68162090-4EB9-4B36-2AA7-5D8B10652CE3}"/>
              </a:ext>
            </a:extLst>
          </p:cNvPr>
          <p:cNvSpPr/>
          <p:nvPr/>
        </p:nvSpPr>
        <p:spPr>
          <a:xfrm>
            <a:off x="8534187" y="4981575"/>
            <a:ext cx="2946326" cy="533400"/>
          </a:xfrm>
          <a:prstGeom prst="rect">
            <a:avLst/>
          </a:prstGeom>
          <a:noFill/>
          <a:ln/>
        </p:spPr>
        <p:txBody>
          <a:bodyPr wrap="none" lIns="0" tIns="0" rIns="0" bIns="0" rtlCol="0" anchor="t"/>
          <a:lstStyle/>
          <a:p>
            <a:pPr marL="0" indent="0" algn="l">
              <a:lnSpc>
                <a:spcPct val="88000"/>
              </a:lnSpc>
              <a:buNone/>
            </a:pPr>
            <a:r>
              <a:rPr lang="en-US" sz="4000" kern="100" spc="-80" dirty="0">
                <a:solidFill>
                  <a:srgbClr val="1B2638"/>
                </a:solidFill>
                <a:latin typeface="Newsreader Medium" pitchFamily="34" charset="0"/>
                <a:ea typeface="Newsreader Medium" pitchFamily="34" charset="-122"/>
                <a:cs typeface="Newsreader Medium" pitchFamily="34" charset="-120"/>
              </a:rPr>
              <a:t>1</a:t>
            </a:r>
            <a:endParaRPr lang="en-US" sz="4000" dirty="0"/>
          </a:p>
        </p:txBody>
      </p:sp>
      <p:sp>
        <p:nvSpPr>
          <p:cNvPr id="44" name="Text 12">
            <a:extLst>
              <a:ext uri="{FF2B5EF4-FFF2-40B4-BE49-F238E27FC236}">
                <a16:creationId xmlns:a16="http://schemas.microsoft.com/office/drawing/2014/main" id="{62915E86-3B9E-513D-EAD0-E30F5BE75F28}"/>
              </a:ext>
            </a:extLst>
          </p:cNvPr>
          <p:cNvSpPr/>
          <p:nvPr/>
        </p:nvSpPr>
        <p:spPr>
          <a:xfrm>
            <a:off x="8534187" y="5657056"/>
            <a:ext cx="2946326" cy="269875"/>
          </a:xfrm>
          <a:prstGeom prst="rect">
            <a:avLst/>
          </a:prstGeom>
          <a:noFill/>
          <a:ln/>
        </p:spPr>
        <p:txBody>
          <a:bodyPr wrap="none" lIns="0" tIns="0" rIns="0" bIns="0" rtlCol="0" anchor="t"/>
          <a:lstStyle/>
          <a:p>
            <a:pPr marL="0" indent="0" algn="l">
              <a:lnSpc>
                <a:spcPct val="104000"/>
              </a:lnSpc>
              <a:buNone/>
            </a:pPr>
            <a:r>
              <a:rPr lang="en-US" sz="1700" dirty="0">
                <a:solidFill>
                  <a:srgbClr val="4A5B70"/>
                </a:solidFill>
                <a:latin typeface="Geist SemiBold" pitchFamily="34" charset="0"/>
                <a:ea typeface="Geist SemiBold" pitchFamily="34" charset="-122"/>
                <a:cs typeface="Geist SemiBold" pitchFamily="34" charset="-120"/>
              </a:rPr>
              <a:t>Diabetes</a:t>
            </a:r>
            <a:endParaRPr lang="en-US" sz="1700" dirty="0"/>
          </a:p>
        </p:txBody>
      </p:sp>
      <p:sp>
        <p:nvSpPr>
          <p:cNvPr id="46" name="Rectangle 45">
            <a:extLst>
              <a:ext uri="{FF2B5EF4-FFF2-40B4-BE49-F238E27FC236}">
                <a16:creationId xmlns:a16="http://schemas.microsoft.com/office/drawing/2014/main" id="{772C5EB1-C020-41B5-C814-E75B84B1E704}"/>
              </a:ext>
            </a:extLst>
          </p:cNvPr>
          <p:cNvSpPr/>
          <p:nvPr/>
        </p:nvSpPr>
        <p:spPr>
          <a:xfrm>
            <a:off x="10982131" y="6447453"/>
            <a:ext cx="1209869" cy="4105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28" name="Text 0">
            <a:extLst>
              <a:ext uri="{FF2B5EF4-FFF2-40B4-BE49-F238E27FC236}">
                <a16:creationId xmlns:a16="http://schemas.microsoft.com/office/drawing/2014/main" id="{99FF3675-7BDD-3083-B6D8-6C9EF9558D29}"/>
              </a:ext>
            </a:extLst>
          </p:cNvPr>
          <p:cNvSpPr/>
          <p:nvPr/>
        </p:nvSpPr>
        <p:spPr>
          <a:xfrm>
            <a:off x="457189" y="459184"/>
            <a:ext cx="11734506" cy="182563"/>
          </a:xfrm>
          <a:prstGeom prst="rect">
            <a:avLst/>
          </a:prstGeom>
          <a:noFill/>
          <a:ln/>
        </p:spPr>
        <p:txBody>
          <a:bodyPr wrap="none" lIns="0" tIns="0" rIns="0" bIns="0" rtlCol="0" anchor="t"/>
          <a:lstStyle/>
          <a:p>
            <a:pPr marL="0" indent="0" algn="l">
              <a:lnSpc>
                <a:spcPct val="104000"/>
              </a:lnSpc>
              <a:buNone/>
            </a:pPr>
            <a:r>
              <a:rPr lang="en-US" sz="1150" kern="100" spc="92" dirty="0">
                <a:solidFill>
                  <a:srgbClr val="4A5B70"/>
                </a:solidFill>
                <a:latin typeface="Geist SemiBold" pitchFamily="34" charset="0"/>
                <a:ea typeface="Geist SemiBold" pitchFamily="34" charset="-122"/>
                <a:cs typeface="Geist SemiBold" pitchFamily="34" charset="-120"/>
              </a:rPr>
              <a:t>DATASET STRUCTURE</a:t>
            </a:r>
            <a:endParaRPr lang="en-US" sz="1150" dirty="0"/>
          </a:p>
        </p:txBody>
      </p:sp>
      <p:sp>
        <p:nvSpPr>
          <p:cNvPr id="30" name="Text 1">
            <a:extLst>
              <a:ext uri="{FF2B5EF4-FFF2-40B4-BE49-F238E27FC236}">
                <a16:creationId xmlns:a16="http://schemas.microsoft.com/office/drawing/2014/main" id="{7D959760-9A96-448D-B150-7645E63574ED}"/>
              </a:ext>
            </a:extLst>
          </p:cNvPr>
          <p:cNvSpPr/>
          <p:nvPr/>
        </p:nvSpPr>
        <p:spPr>
          <a:xfrm>
            <a:off x="457189" y="731837"/>
            <a:ext cx="11277318" cy="432991"/>
          </a:xfrm>
          <a:prstGeom prst="rect">
            <a:avLst/>
          </a:prstGeom>
          <a:noFill/>
          <a:ln/>
        </p:spPr>
        <p:txBody>
          <a:bodyPr wrap="none" lIns="0" tIns="0" rIns="0" bIns="0" rtlCol="0" anchor="t"/>
          <a:lstStyle/>
          <a:p>
            <a:pPr marL="0" indent="0" algn="l">
              <a:lnSpc>
                <a:spcPct val="92000"/>
              </a:lnSpc>
              <a:buNone/>
            </a:pPr>
            <a:r>
              <a:rPr lang="en-US" sz="3100" kern="100" spc="-31" dirty="0">
                <a:solidFill>
                  <a:srgbClr val="1B2638"/>
                </a:solidFill>
                <a:latin typeface="Newsreader Medium" pitchFamily="34" charset="0"/>
                <a:ea typeface="Newsreader Medium" pitchFamily="34" charset="-122"/>
                <a:cs typeface="Newsreader Medium" pitchFamily="34" charset="-120"/>
              </a:rPr>
              <a:t>768 observations describe eight health features and one outcome</a:t>
            </a:r>
            <a:endParaRPr lang="en-US" sz="3100" dirty="0"/>
          </a:p>
        </p:txBody>
      </p:sp>
      <p:sp>
        <p:nvSpPr>
          <p:cNvPr id="32" name="Shape 2">
            <a:extLst>
              <a:ext uri="{FF2B5EF4-FFF2-40B4-BE49-F238E27FC236}">
                <a16:creationId xmlns:a16="http://schemas.microsoft.com/office/drawing/2014/main" id="{F581ABEF-A0FA-4E68-F21F-A65F6A3515A3}"/>
              </a:ext>
            </a:extLst>
          </p:cNvPr>
          <p:cNvSpPr/>
          <p:nvPr/>
        </p:nvSpPr>
        <p:spPr>
          <a:xfrm>
            <a:off x="457189" y="1439466"/>
            <a:ext cx="11277318" cy="31651"/>
          </a:xfrm>
          <a:prstGeom prst="roundRect">
            <a:avLst>
              <a:gd name="adj" fmla="val 49998"/>
            </a:avLst>
          </a:prstGeom>
          <a:solidFill>
            <a:srgbClr val="397B88"/>
          </a:solidFill>
          <a:ln/>
        </p:spPr>
        <p:txBody>
          <a:bodyPr/>
          <a:lstStyle/>
          <a:p>
            <a:endParaRPr lang="en-US"/>
          </a:p>
        </p:txBody>
      </p:sp>
      <p:sp>
        <p:nvSpPr>
          <p:cNvPr id="34" name="Shape 3">
            <a:extLst>
              <a:ext uri="{FF2B5EF4-FFF2-40B4-BE49-F238E27FC236}">
                <a16:creationId xmlns:a16="http://schemas.microsoft.com/office/drawing/2014/main" id="{0D42A0B6-218C-8866-477B-B9C36C9A21A1}"/>
              </a:ext>
            </a:extLst>
          </p:cNvPr>
          <p:cNvSpPr/>
          <p:nvPr/>
        </p:nvSpPr>
        <p:spPr>
          <a:xfrm>
            <a:off x="457189" y="1723628"/>
            <a:ext cx="2590735" cy="1662013"/>
          </a:xfrm>
          <a:prstGeom prst="roundRect">
            <a:avLst>
              <a:gd name="adj" fmla="val 688"/>
            </a:avLst>
          </a:prstGeom>
          <a:noFill/>
          <a:ln w="25399">
            <a:solidFill>
              <a:srgbClr val="4A5B70"/>
            </a:solidFill>
            <a:prstDash val="solid"/>
          </a:ln>
        </p:spPr>
        <p:txBody>
          <a:bodyPr/>
          <a:lstStyle/>
          <a:p>
            <a:endParaRPr lang="en-US"/>
          </a:p>
        </p:txBody>
      </p:sp>
      <p:sp>
        <p:nvSpPr>
          <p:cNvPr id="36" name="Text 4">
            <a:extLst>
              <a:ext uri="{FF2B5EF4-FFF2-40B4-BE49-F238E27FC236}">
                <a16:creationId xmlns:a16="http://schemas.microsoft.com/office/drawing/2014/main" id="{77F9DCE9-1054-5ED3-A528-1458F9100F2A}"/>
              </a:ext>
            </a:extLst>
          </p:cNvPr>
          <p:cNvSpPr/>
          <p:nvPr/>
        </p:nvSpPr>
        <p:spPr>
          <a:xfrm>
            <a:off x="711182" y="1977628"/>
            <a:ext cx="2082748" cy="640060"/>
          </a:xfrm>
          <a:prstGeom prst="rect">
            <a:avLst/>
          </a:prstGeom>
          <a:noFill/>
          <a:ln/>
        </p:spPr>
        <p:txBody>
          <a:bodyPr wrap="none" lIns="0" tIns="0" rIns="0" bIns="0" rtlCol="0" anchor="t"/>
          <a:lstStyle/>
          <a:p>
            <a:pPr marL="0" indent="0" algn="l">
              <a:lnSpc>
                <a:spcPct val="88000"/>
              </a:lnSpc>
              <a:buNone/>
            </a:pPr>
            <a:r>
              <a:rPr lang="en-US" sz="4800" kern="100" spc="-96" dirty="0">
                <a:solidFill>
                  <a:srgbClr val="1B2638"/>
                </a:solidFill>
                <a:latin typeface="Newsreader Medium" pitchFamily="34" charset="0"/>
                <a:ea typeface="Newsreader Medium" pitchFamily="34" charset="-122"/>
                <a:cs typeface="Newsreader Medium" pitchFamily="34" charset="-120"/>
              </a:rPr>
              <a:t>768</a:t>
            </a:r>
            <a:endParaRPr lang="en-US" sz="4800" dirty="0"/>
          </a:p>
        </p:txBody>
      </p:sp>
      <p:sp>
        <p:nvSpPr>
          <p:cNvPr id="38" name="Text 5">
            <a:extLst>
              <a:ext uri="{FF2B5EF4-FFF2-40B4-BE49-F238E27FC236}">
                <a16:creationId xmlns:a16="http://schemas.microsoft.com/office/drawing/2014/main" id="{21B8777F-1DFC-E8A9-FEBF-6F2E72E534B0}"/>
              </a:ext>
            </a:extLst>
          </p:cNvPr>
          <p:cNvSpPr/>
          <p:nvPr/>
        </p:nvSpPr>
        <p:spPr>
          <a:xfrm>
            <a:off x="711182" y="2843113"/>
            <a:ext cx="2336742" cy="288528"/>
          </a:xfrm>
          <a:prstGeom prst="rect">
            <a:avLst/>
          </a:prstGeom>
          <a:noFill/>
          <a:ln/>
        </p:spPr>
        <p:txBody>
          <a:bodyPr wrap="none" lIns="0" tIns="0" rIns="0" bIns="0" rtlCol="0" anchor="t"/>
          <a:lstStyle/>
          <a:p>
            <a:pPr marL="0" indent="0" algn="l">
              <a:lnSpc>
                <a:spcPct val="118000"/>
              </a:lnSpc>
              <a:buNone/>
            </a:pPr>
            <a:r>
              <a:rPr lang="en-US" sz="1600" dirty="0">
                <a:solidFill>
                  <a:srgbClr val="2B3139"/>
                </a:solidFill>
                <a:latin typeface="Geist" pitchFamily="34" charset="0"/>
                <a:ea typeface="Geist" pitchFamily="34" charset="-122"/>
                <a:cs typeface="Geist" pitchFamily="34" charset="-120"/>
              </a:rPr>
              <a:t>Observations</a:t>
            </a:r>
            <a:endParaRPr lang="en-US" sz="1600" dirty="0"/>
          </a:p>
        </p:txBody>
      </p:sp>
      <p:sp>
        <p:nvSpPr>
          <p:cNvPr id="40" name="Shape 6">
            <a:extLst>
              <a:ext uri="{FF2B5EF4-FFF2-40B4-BE49-F238E27FC236}">
                <a16:creationId xmlns:a16="http://schemas.microsoft.com/office/drawing/2014/main" id="{4528BEB9-2BBD-9013-836F-5112B547B2AF}"/>
              </a:ext>
            </a:extLst>
          </p:cNvPr>
          <p:cNvSpPr/>
          <p:nvPr/>
        </p:nvSpPr>
        <p:spPr>
          <a:xfrm>
            <a:off x="3352716" y="1723628"/>
            <a:ext cx="2590735" cy="1662013"/>
          </a:xfrm>
          <a:prstGeom prst="roundRect">
            <a:avLst>
              <a:gd name="adj" fmla="val 688"/>
            </a:avLst>
          </a:prstGeom>
          <a:noFill/>
          <a:ln w="25399">
            <a:solidFill>
              <a:srgbClr val="4A5B70"/>
            </a:solidFill>
            <a:prstDash val="solid"/>
          </a:ln>
        </p:spPr>
        <p:txBody>
          <a:bodyPr/>
          <a:lstStyle/>
          <a:p>
            <a:endParaRPr lang="en-US"/>
          </a:p>
        </p:txBody>
      </p:sp>
      <p:sp>
        <p:nvSpPr>
          <p:cNvPr id="42" name="Text 7">
            <a:extLst>
              <a:ext uri="{FF2B5EF4-FFF2-40B4-BE49-F238E27FC236}">
                <a16:creationId xmlns:a16="http://schemas.microsoft.com/office/drawing/2014/main" id="{7F2F563A-D187-F981-42DD-4AB6C4DAD46A}"/>
              </a:ext>
            </a:extLst>
          </p:cNvPr>
          <p:cNvSpPr/>
          <p:nvPr/>
        </p:nvSpPr>
        <p:spPr>
          <a:xfrm>
            <a:off x="3606710" y="1977628"/>
            <a:ext cx="2082748" cy="640060"/>
          </a:xfrm>
          <a:prstGeom prst="rect">
            <a:avLst/>
          </a:prstGeom>
          <a:noFill/>
          <a:ln/>
        </p:spPr>
        <p:txBody>
          <a:bodyPr wrap="none" lIns="0" tIns="0" rIns="0" bIns="0" rtlCol="0" anchor="t"/>
          <a:lstStyle/>
          <a:p>
            <a:pPr marL="0" indent="0" algn="l">
              <a:lnSpc>
                <a:spcPct val="88000"/>
              </a:lnSpc>
              <a:buNone/>
            </a:pPr>
            <a:r>
              <a:rPr lang="en-US" sz="4800" kern="100" spc="-96" dirty="0">
                <a:solidFill>
                  <a:srgbClr val="1B2638"/>
                </a:solidFill>
                <a:latin typeface="Newsreader Medium" pitchFamily="34" charset="0"/>
                <a:ea typeface="Newsreader Medium" pitchFamily="34" charset="-122"/>
                <a:cs typeface="Newsreader Medium" pitchFamily="34" charset="-120"/>
              </a:rPr>
              <a:t>9</a:t>
            </a:r>
            <a:endParaRPr lang="en-US" sz="4800" dirty="0"/>
          </a:p>
        </p:txBody>
      </p:sp>
      <p:sp>
        <p:nvSpPr>
          <p:cNvPr id="44" name="Text 8">
            <a:extLst>
              <a:ext uri="{FF2B5EF4-FFF2-40B4-BE49-F238E27FC236}">
                <a16:creationId xmlns:a16="http://schemas.microsoft.com/office/drawing/2014/main" id="{65612186-7715-BD48-5941-5579233AEE18}"/>
              </a:ext>
            </a:extLst>
          </p:cNvPr>
          <p:cNvSpPr/>
          <p:nvPr/>
        </p:nvSpPr>
        <p:spPr>
          <a:xfrm>
            <a:off x="3606710" y="2843113"/>
            <a:ext cx="2336742" cy="288528"/>
          </a:xfrm>
          <a:prstGeom prst="rect">
            <a:avLst/>
          </a:prstGeom>
          <a:noFill/>
          <a:ln/>
        </p:spPr>
        <p:txBody>
          <a:bodyPr wrap="none" lIns="0" tIns="0" rIns="0" bIns="0" rtlCol="0" anchor="t"/>
          <a:lstStyle/>
          <a:p>
            <a:pPr marL="0" indent="0" algn="l">
              <a:lnSpc>
                <a:spcPct val="118000"/>
              </a:lnSpc>
              <a:buNone/>
            </a:pPr>
            <a:r>
              <a:rPr lang="en-US" sz="1600" dirty="0">
                <a:solidFill>
                  <a:srgbClr val="2B3139"/>
                </a:solidFill>
                <a:latin typeface="Geist" pitchFamily="34" charset="0"/>
                <a:ea typeface="Geist" pitchFamily="34" charset="-122"/>
                <a:cs typeface="Geist" pitchFamily="34" charset="-120"/>
              </a:rPr>
              <a:t>Columns</a:t>
            </a:r>
            <a:endParaRPr lang="en-US" sz="1600" dirty="0"/>
          </a:p>
        </p:txBody>
      </p:sp>
      <p:sp>
        <p:nvSpPr>
          <p:cNvPr id="46" name="Shape 9">
            <a:extLst>
              <a:ext uri="{FF2B5EF4-FFF2-40B4-BE49-F238E27FC236}">
                <a16:creationId xmlns:a16="http://schemas.microsoft.com/office/drawing/2014/main" id="{32CFFDE1-80EC-9269-E392-616FC47109F6}"/>
              </a:ext>
            </a:extLst>
          </p:cNvPr>
          <p:cNvSpPr/>
          <p:nvPr/>
        </p:nvSpPr>
        <p:spPr>
          <a:xfrm>
            <a:off x="6248244" y="1723628"/>
            <a:ext cx="2590735" cy="1662013"/>
          </a:xfrm>
          <a:prstGeom prst="roundRect">
            <a:avLst>
              <a:gd name="adj" fmla="val 688"/>
            </a:avLst>
          </a:prstGeom>
          <a:noFill/>
          <a:ln w="25399">
            <a:solidFill>
              <a:srgbClr val="4A5B70"/>
            </a:solidFill>
            <a:prstDash val="solid"/>
          </a:ln>
        </p:spPr>
        <p:txBody>
          <a:bodyPr/>
          <a:lstStyle/>
          <a:p>
            <a:endParaRPr lang="en-US"/>
          </a:p>
        </p:txBody>
      </p:sp>
      <p:sp>
        <p:nvSpPr>
          <p:cNvPr id="48" name="Text 10">
            <a:extLst>
              <a:ext uri="{FF2B5EF4-FFF2-40B4-BE49-F238E27FC236}">
                <a16:creationId xmlns:a16="http://schemas.microsoft.com/office/drawing/2014/main" id="{892B91A5-8B55-D3ED-3C30-927F0AE24F77}"/>
              </a:ext>
            </a:extLst>
          </p:cNvPr>
          <p:cNvSpPr/>
          <p:nvPr/>
        </p:nvSpPr>
        <p:spPr>
          <a:xfrm>
            <a:off x="6502237" y="1977628"/>
            <a:ext cx="2082748" cy="640060"/>
          </a:xfrm>
          <a:prstGeom prst="rect">
            <a:avLst/>
          </a:prstGeom>
          <a:noFill/>
          <a:ln/>
        </p:spPr>
        <p:txBody>
          <a:bodyPr wrap="none" lIns="0" tIns="0" rIns="0" bIns="0" rtlCol="0" anchor="t"/>
          <a:lstStyle/>
          <a:p>
            <a:pPr marL="0" indent="0" algn="l">
              <a:lnSpc>
                <a:spcPct val="88000"/>
              </a:lnSpc>
              <a:buNone/>
            </a:pPr>
            <a:r>
              <a:rPr lang="en-US" sz="4800" kern="100" spc="-96" dirty="0">
                <a:solidFill>
                  <a:srgbClr val="1B2638"/>
                </a:solidFill>
                <a:latin typeface="Newsreader Medium" pitchFamily="34" charset="0"/>
                <a:ea typeface="Newsreader Medium" pitchFamily="34" charset="-122"/>
                <a:cs typeface="Newsreader Medium" pitchFamily="34" charset="-120"/>
              </a:rPr>
              <a:t>8</a:t>
            </a:r>
            <a:endParaRPr lang="en-US" sz="4800" dirty="0"/>
          </a:p>
        </p:txBody>
      </p:sp>
      <p:sp>
        <p:nvSpPr>
          <p:cNvPr id="50" name="Text 11">
            <a:extLst>
              <a:ext uri="{FF2B5EF4-FFF2-40B4-BE49-F238E27FC236}">
                <a16:creationId xmlns:a16="http://schemas.microsoft.com/office/drawing/2014/main" id="{F9403935-497B-E847-7FCE-5BD617A52FCF}"/>
              </a:ext>
            </a:extLst>
          </p:cNvPr>
          <p:cNvSpPr/>
          <p:nvPr/>
        </p:nvSpPr>
        <p:spPr>
          <a:xfrm>
            <a:off x="6502237" y="2843113"/>
            <a:ext cx="2336742" cy="288528"/>
          </a:xfrm>
          <a:prstGeom prst="rect">
            <a:avLst/>
          </a:prstGeom>
          <a:noFill/>
          <a:ln/>
        </p:spPr>
        <p:txBody>
          <a:bodyPr wrap="none" lIns="0" tIns="0" rIns="0" bIns="0" rtlCol="0" anchor="t"/>
          <a:lstStyle/>
          <a:p>
            <a:pPr marL="0" indent="0" algn="l">
              <a:lnSpc>
                <a:spcPct val="118000"/>
              </a:lnSpc>
              <a:buNone/>
            </a:pPr>
            <a:r>
              <a:rPr lang="en-US" sz="1600" dirty="0">
                <a:solidFill>
                  <a:srgbClr val="2B3139"/>
                </a:solidFill>
                <a:latin typeface="Geist" pitchFamily="34" charset="0"/>
                <a:ea typeface="Geist" pitchFamily="34" charset="-122"/>
                <a:cs typeface="Geist" pitchFamily="34" charset="-120"/>
              </a:rPr>
              <a:t>Input features</a:t>
            </a:r>
            <a:endParaRPr lang="en-US" sz="1600" dirty="0"/>
          </a:p>
        </p:txBody>
      </p:sp>
      <p:sp>
        <p:nvSpPr>
          <p:cNvPr id="52" name="Shape 12">
            <a:extLst>
              <a:ext uri="{FF2B5EF4-FFF2-40B4-BE49-F238E27FC236}">
                <a16:creationId xmlns:a16="http://schemas.microsoft.com/office/drawing/2014/main" id="{8CF65240-ECA9-8BC5-A649-6449612EA35D}"/>
              </a:ext>
            </a:extLst>
          </p:cNvPr>
          <p:cNvSpPr/>
          <p:nvPr/>
        </p:nvSpPr>
        <p:spPr>
          <a:xfrm>
            <a:off x="9143771" y="1723628"/>
            <a:ext cx="2590735" cy="1662013"/>
          </a:xfrm>
          <a:prstGeom prst="roundRect">
            <a:avLst>
              <a:gd name="adj" fmla="val 688"/>
            </a:avLst>
          </a:prstGeom>
          <a:noFill/>
          <a:ln w="25399">
            <a:solidFill>
              <a:srgbClr val="4A5B70"/>
            </a:solidFill>
            <a:prstDash val="solid"/>
          </a:ln>
        </p:spPr>
        <p:txBody>
          <a:bodyPr/>
          <a:lstStyle/>
          <a:p>
            <a:endParaRPr lang="en-US"/>
          </a:p>
        </p:txBody>
      </p:sp>
      <p:sp>
        <p:nvSpPr>
          <p:cNvPr id="54" name="Text 13">
            <a:extLst>
              <a:ext uri="{FF2B5EF4-FFF2-40B4-BE49-F238E27FC236}">
                <a16:creationId xmlns:a16="http://schemas.microsoft.com/office/drawing/2014/main" id="{DBE662B1-1B8F-0AB7-BDE6-8D09AD6FE8C7}"/>
              </a:ext>
            </a:extLst>
          </p:cNvPr>
          <p:cNvSpPr/>
          <p:nvPr/>
        </p:nvSpPr>
        <p:spPr>
          <a:xfrm>
            <a:off x="9397765" y="1977628"/>
            <a:ext cx="2082748" cy="640060"/>
          </a:xfrm>
          <a:prstGeom prst="rect">
            <a:avLst/>
          </a:prstGeom>
          <a:noFill/>
          <a:ln/>
        </p:spPr>
        <p:txBody>
          <a:bodyPr wrap="none" lIns="0" tIns="0" rIns="0" bIns="0" rtlCol="0" anchor="t"/>
          <a:lstStyle/>
          <a:p>
            <a:pPr marL="0" indent="0" algn="l">
              <a:lnSpc>
                <a:spcPct val="88000"/>
              </a:lnSpc>
              <a:buNone/>
            </a:pPr>
            <a:r>
              <a:rPr lang="en-US" sz="4800" kern="100" spc="-96" dirty="0">
                <a:solidFill>
                  <a:srgbClr val="1B2638"/>
                </a:solidFill>
                <a:latin typeface="Newsreader Medium" pitchFamily="34" charset="0"/>
                <a:ea typeface="Newsreader Medium" pitchFamily="34" charset="-122"/>
                <a:cs typeface="Newsreader Medium" pitchFamily="34" charset="-120"/>
              </a:rPr>
              <a:t>1</a:t>
            </a:r>
            <a:endParaRPr lang="en-US" sz="4800" dirty="0"/>
          </a:p>
        </p:txBody>
      </p:sp>
      <p:sp>
        <p:nvSpPr>
          <p:cNvPr id="56" name="Text 14">
            <a:extLst>
              <a:ext uri="{FF2B5EF4-FFF2-40B4-BE49-F238E27FC236}">
                <a16:creationId xmlns:a16="http://schemas.microsoft.com/office/drawing/2014/main" id="{1DEF23B5-5A10-3514-8ECD-4EF33B831857}"/>
              </a:ext>
            </a:extLst>
          </p:cNvPr>
          <p:cNvSpPr/>
          <p:nvPr/>
        </p:nvSpPr>
        <p:spPr>
          <a:xfrm>
            <a:off x="9397765" y="2843113"/>
            <a:ext cx="2336742" cy="288528"/>
          </a:xfrm>
          <a:prstGeom prst="rect">
            <a:avLst/>
          </a:prstGeom>
          <a:noFill/>
          <a:ln/>
        </p:spPr>
        <p:txBody>
          <a:bodyPr wrap="none" lIns="0" tIns="0" rIns="0" bIns="0" rtlCol="0" anchor="t"/>
          <a:lstStyle/>
          <a:p>
            <a:pPr marL="0" indent="0" algn="l">
              <a:lnSpc>
                <a:spcPct val="118000"/>
              </a:lnSpc>
              <a:buNone/>
            </a:pPr>
            <a:r>
              <a:rPr lang="en-US" sz="1600" dirty="0">
                <a:solidFill>
                  <a:srgbClr val="2B3139"/>
                </a:solidFill>
                <a:latin typeface="Geist" pitchFamily="34" charset="0"/>
                <a:ea typeface="Geist" pitchFamily="34" charset="-122"/>
                <a:cs typeface="Geist" pitchFamily="34" charset="-120"/>
              </a:rPr>
              <a:t>Target</a:t>
            </a:r>
            <a:endParaRPr lang="en-US" sz="1600" dirty="0"/>
          </a:p>
        </p:txBody>
      </p:sp>
      <p:sp>
        <p:nvSpPr>
          <p:cNvPr id="58" name="Text 15">
            <a:extLst>
              <a:ext uri="{FF2B5EF4-FFF2-40B4-BE49-F238E27FC236}">
                <a16:creationId xmlns:a16="http://schemas.microsoft.com/office/drawing/2014/main" id="{0F667AFD-AE32-E826-CF44-0228CC077C20}"/>
              </a:ext>
            </a:extLst>
          </p:cNvPr>
          <p:cNvSpPr/>
          <p:nvPr/>
        </p:nvSpPr>
        <p:spPr>
          <a:xfrm>
            <a:off x="457189" y="4068663"/>
            <a:ext cx="11734506" cy="182563"/>
          </a:xfrm>
          <a:prstGeom prst="rect">
            <a:avLst/>
          </a:prstGeom>
          <a:noFill/>
          <a:ln/>
        </p:spPr>
        <p:txBody>
          <a:bodyPr wrap="none" lIns="0" tIns="0" rIns="0" bIns="0" rtlCol="0" anchor="t"/>
          <a:lstStyle/>
          <a:p>
            <a:pPr marL="0" indent="0" algn="l">
              <a:lnSpc>
                <a:spcPct val="104000"/>
              </a:lnSpc>
              <a:buNone/>
            </a:pPr>
            <a:r>
              <a:rPr lang="en-US" sz="1150" kern="100" spc="92" dirty="0">
                <a:solidFill>
                  <a:srgbClr val="4A5B70"/>
                </a:solidFill>
                <a:latin typeface="Geist SemiBold" pitchFamily="34" charset="0"/>
                <a:ea typeface="Geist SemiBold" pitchFamily="34" charset="-122"/>
                <a:cs typeface="Geist SemiBold" pitchFamily="34" charset="-120"/>
              </a:rPr>
              <a:t>INPUT FEATURES</a:t>
            </a:r>
            <a:endParaRPr lang="en-US" sz="1150" dirty="0"/>
          </a:p>
        </p:txBody>
      </p:sp>
      <p:sp>
        <p:nvSpPr>
          <p:cNvPr id="60" name="Shape 16">
            <a:extLst>
              <a:ext uri="{FF2B5EF4-FFF2-40B4-BE49-F238E27FC236}">
                <a16:creationId xmlns:a16="http://schemas.microsoft.com/office/drawing/2014/main" id="{12321A55-82D6-EEDC-316A-E011453AF079}"/>
              </a:ext>
            </a:extLst>
          </p:cNvPr>
          <p:cNvSpPr/>
          <p:nvPr/>
        </p:nvSpPr>
        <p:spPr>
          <a:xfrm>
            <a:off x="457189" y="4452441"/>
            <a:ext cx="1469591" cy="324941"/>
          </a:xfrm>
          <a:prstGeom prst="roundRect">
            <a:avLst>
              <a:gd name="adj" fmla="val 3517"/>
            </a:avLst>
          </a:prstGeom>
          <a:noFill/>
          <a:ln w="6350">
            <a:solidFill>
              <a:srgbClr val="4A5B70"/>
            </a:solidFill>
            <a:prstDash val="solid"/>
          </a:ln>
        </p:spPr>
        <p:txBody>
          <a:bodyPr/>
          <a:lstStyle/>
          <a:p>
            <a:endParaRPr lang="en-US"/>
          </a:p>
        </p:txBody>
      </p:sp>
      <p:sp>
        <p:nvSpPr>
          <p:cNvPr id="62" name="Text 17">
            <a:extLst>
              <a:ext uri="{FF2B5EF4-FFF2-40B4-BE49-F238E27FC236}">
                <a16:creationId xmlns:a16="http://schemas.microsoft.com/office/drawing/2014/main" id="{5FED6976-FC3C-9AEC-341D-502CB353E038}"/>
              </a:ext>
            </a:extLst>
          </p:cNvPr>
          <p:cNvSpPr/>
          <p:nvPr/>
        </p:nvSpPr>
        <p:spPr>
          <a:xfrm>
            <a:off x="579026" y="4519712"/>
            <a:ext cx="1835501" cy="203101"/>
          </a:xfrm>
          <a:prstGeom prst="rect">
            <a:avLst/>
          </a:prstGeom>
          <a:noFill/>
          <a:ln/>
        </p:spPr>
        <p:txBody>
          <a:bodyPr wrap="none" lIns="0" tIns="0" rIns="0" bIns="0" rtlCol="0" anchor="t"/>
          <a:lstStyle/>
          <a:p>
            <a:pPr marL="0" indent="0" algn="l">
              <a:lnSpc>
                <a:spcPct val="104000"/>
              </a:lnSpc>
              <a:buNone/>
            </a:pPr>
            <a:r>
              <a:rPr lang="en-US" sz="1300" kern="100" spc="51" dirty="0">
                <a:solidFill>
                  <a:srgbClr val="4A5B70"/>
                </a:solidFill>
                <a:latin typeface="Geist SemiBold" pitchFamily="34" charset="0"/>
                <a:ea typeface="Geist SemiBold" pitchFamily="34" charset="-122"/>
                <a:cs typeface="Geist SemiBold" pitchFamily="34" charset="-120"/>
              </a:rPr>
              <a:t>PREGNANCIES</a:t>
            </a:r>
            <a:endParaRPr lang="en-US" sz="1300" dirty="0"/>
          </a:p>
        </p:txBody>
      </p:sp>
      <p:sp>
        <p:nvSpPr>
          <p:cNvPr id="64" name="Shape 18">
            <a:extLst>
              <a:ext uri="{FF2B5EF4-FFF2-40B4-BE49-F238E27FC236}">
                <a16:creationId xmlns:a16="http://schemas.microsoft.com/office/drawing/2014/main" id="{D0126D39-BA3E-4830-7A7B-FC02E719F18A}"/>
              </a:ext>
            </a:extLst>
          </p:cNvPr>
          <p:cNvSpPr/>
          <p:nvPr/>
        </p:nvSpPr>
        <p:spPr>
          <a:xfrm>
            <a:off x="2028377" y="4452441"/>
            <a:ext cx="1060820" cy="324941"/>
          </a:xfrm>
          <a:prstGeom prst="roundRect">
            <a:avLst>
              <a:gd name="adj" fmla="val 3517"/>
            </a:avLst>
          </a:prstGeom>
          <a:noFill/>
          <a:ln w="6350">
            <a:solidFill>
              <a:srgbClr val="4A5B70"/>
            </a:solidFill>
            <a:prstDash val="solid"/>
          </a:ln>
        </p:spPr>
        <p:txBody>
          <a:bodyPr/>
          <a:lstStyle/>
          <a:p>
            <a:endParaRPr lang="en-US"/>
          </a:p>
        </p:txBody>
      </p:sp>
      <p:sp>
        <p:nvSpPr>
          <p:cNvPr id="66" name="Text 19">
            <a:extLst>
              <a:ext uri="{FF2B5EF4-FFF2-40B4-BE49-F238E27FC236}">
                <a16:creationId xmlns:a16="http://schemas.microsoft.com/office/drawing/2014/main" id="{B3E2EDB5-F3BA-61D4-2E00-A1D605F7F9DC}"/>
              </a:ext>
            </a:extLst>
          </p:cNvPr>
          <p:cNvSpPr/>
          <p:nvPr/>
        </p:nvSpPr>
        <p:spPr>
          <a:xfrm>
            <a:off x="2150215" y="4519712"/>
            <a:ext cx="1426730" cy="203101"/>
          </a:xfrm>
          <a:prstGeom prst="rect">
            <a:avLst/>
          </a:prstGeom>
          <a:noFill/>
          <a:ln/>
        </p:spPr>
        <p:txBody>
          <a:bodyPr wrap="none" lIns="0" tIns="0" rIns="0" bIns="0" rtlCol="0" anchor="t"/>
          <a:lstStyle/>
          <a:p>
            <a:pPr marL="0" indent="0" algn="l">
              <a:lnSpc>
                <a:spcPct val="104000"/>
              </a:lnSpc>
              <a:buNone/>
            </a:pPr>
            <a:r>
              <a:rPr lang="en-US" sz="1300" kern="100" spc="51" dirty="0">
                <a:solidFill>
                  <a:srgbClr val="4A5B70"/>
                </a:solidFill>
                <a:latin typeface="Geist SemiBold" pitchFamily="34" charset="0"/>
                <a:ea typeface="Geist SemiBold" pitchFamily="34" charset="-122"/>
                <a:cs typeface="Geist SemiBold" pitchFamily="34" charset="-120"/>
              </a:rPr>
              <a:t>GLUCOSE</a:t>
            </a:r>
            <a:endParaRPr lang="en-US" sz="1300" dirty="0"/>
          </a:p>
        </p:txBody>
      </p:sp>
      <p:sp>
        <p:nvSpPr>
          <p:cNvPr id="68" name="Shape 20">
            <a:extLst>
              <a:ext uri="{FF2B5EF4-FFF2-40B4-BE49-F238E27FC236}">
                <a16:creationId xmlns:a16="http://schemas.microsoft.com/office/drawing/2014/main" id="{5F0F73E9-EDDE-0F09-ADB6-77E7EB7BC267}"/>
              </a:ext>
            </a:extLst>
          </p:cNvPr>
          <p:cNvSpPr/>
          <p:nvPr/>
        </p:nvSpPr>
        <p:spPr>
          <a:xfrm>
            <a:off x="3190795" y="4452441"/>
            <a:ext cx="1756624" cy="324941"/>
          </a:xfrm>
          <a:prstGeom prst="roundRect">
            <a:avLst>
              <a:gd name="adj" fmla="val 3517"/>
            </a:avLst>
          </a:prstGeom>
          <a:noFill/>
          <a:ln w="6350">
            <a:solidFill>
              <a:srgbClr val="4A5B70"/>
            </a:solidFill>
            <a:prstDash val="solid"/>
          </a:ln>
        </p:spPr>
        <p:txBody>
          <a:bodyPr/>
          <a:lstStyle/>
          <a:p>
            <a:endParaRPr lang="en-US"/>
          </a:p>
        </p:txBody>
      </p:sp>
      <p:sp>
        <p:nvSpPr>
          <p:cNvPr id="70" name="Text 21">
            <a:extLst>
              <a:ext uri="{FF2B5EF4-FFF2-40B4-BE49-F238E27FC236}">
                <a16:creationId xmlns:a16="http://schemas.microsoft.com/office/drawing/2014/main" id="{F5B6EA2E-B831-0457-D3F8-27D2566E8EE1}"/>
              </a:ext>
            </a:extLst>
          </p:cNvPr>
          <p:cNvSpPr/>
          <p:nvPr/>
        </p:nvSpPr>
        <p:spPr>
          <a:xfrm>
            <a:off x="3312633" y="4519712"/>
            <a:ext cx="2122534" cy="203101"/>
          </a:xfrm>
          <a:prstGeom prst="rect">
            <a:avLst/>
          </a:prstGeom>
          <a:noFill/>
          <a:ln/>
        </p:spPr>
        <p:txBody>
          <a:bodyPr wrap="none" lIns="0" tIns="0" rIns="0" bIns="0" rtlCol="0" anchor="t"/>
          <a:lstStyle/>
          <a:p>
            <a:pPr marL="0" indent="0" algn="l">
              <a:lnSpc>
                <a:spcPct val="104000"/>
              </a:lnSpc>
              <a:buNone/>
            </a:pPr>
            <a:r>
              <a:rPr lang="en-US" sz="1300" kern="100" spc="51" dirty="0">
                <a:solidFill>
                  <a:srgbClr val="4A5B70"/>
                </a:solidFill>
                <a:latin typeface="Geist SemiBold" pitchFamily="34" charset="0"/>
                <a:ea typeface="Geist SemiBold" pitchFamily="34" charset="-122"/>
                <a:cs typeface="Geist SemiBold" pitchFamily="34" charset="-120"/>
              </a:rPr>
              <a:t>BLOODPRESSURE</a:t>
            </a:r>
            <a:endParaRPr lang="en-US" sz="1300" dirty="0"/>
          </a:p>
        </p:txBody>
      </p:sp>
      <p:sp>
        <p:nvSpPr>
          <p:cNvPr id="72" name="Shape 22">
            <a:extLst>
              <a:ext uri="{FF2B5EF4-FFF2-40B4-BE49-F238E27FC236}">
                <a16:creationId xmlns:a16="http://schemas.microsoft.com/office/drawing/2014/main" id="{65BAA0DA-F931-0816-6A2E-55FCF2EC446B}"/>
              </a:ext>
            </a:extLst>
          </p:cNvPr>
          <p:cNvSpPr/>
          <p:nvPr/>
        </p:nvSpPr>
        <p:spPr>
          <a:xfrm>
            <a:off x="5049017" y="4452441"/>
            <a:ext cx="1613455" cy="324941"/>
          </a:xfrm>
          <a:prstGeom prst="roundRect">
            <a:avLst>
              <a:gd name="adj" fmla="val 3517"/>
            </a:avLst>
          </a:prstGeom>
          <a:noFill/>
          <a:ln w="6350">
            <a:solidFill>
              <a:srgbClr val="4A5B70"/>
            </a:solidFill>
            <a:prstDash val="solid"/>
          </a:ln>
        </p:spPr>
        <p:txBody>
          <a:bodyPr/>
          <a:lstStyle/>
          <a:p>
            <a:endParaRPr lang="en-US"/>
          </a:p>
        </p:txBody>
      </p:sp>
      <p:sp>
        <p:nvSpPr>
          <p:cNvPr id="74" name="Text 23">
            <a:extLst>
              <a:ext uri="{FF2B5EF4-FFF2-40B4-BE49-F238E27FC236}">
                <a16:creationId xmlns:a16="http://schemas.microsoft.com/office/drawing/2014/main" id="{B0D2A852-4640-3E6B-3202-B1CFD519157B}"/>
              </a:ext>
            </a:extLst>
          </p:cNvPr>
          <p:cNvSpPr/>
          <p:nvPr/>
        </p:nvSpPr>
        <p:spPr>
          <a:xfrm>
            <a:off x="5170854" y="4519712"/>
            <a:ext cx="1979365" cy="203101"/>
          </a:xfrm>
          <a:prstGeom prst="rect">
            <a:avLst/>
          </a:prstGeom>
          <a:noFill/>
          <a:ln/>
        </p:spPr>
        <p:txBody>
          <a:bodyPr wrap="none" lIns="0" tIns="0" rIns="0" bIns="0" rtlCol="0" anchor="t"/>
          <a:lstStyle/>
          <a:p>
            <a:pPr marL="0" indent="0" algn="l">
              <a:lnSpc>
                <a:spcPct val="104000"/>
              </a:lnSpc>
              <a:buNone/>
            </a:pPr>
            <a:r>
              <a:rPr lang="en-US" sz="1300" kern="100" spc="51" dirty="0">
                <a:solidFill>
                  <a:srgbClr val="4A5B70"/>
                </a:solidFill>
                <a:latin typeface="Geist SemiBold" pitchFamily="34" charset="0"/>
                <a:ea typeface="Geist SemiBold" pitchFamily="34" charset="-122"/>
                <a:cs typeface="Geist SemiBold" pitchFamily="34" charset="-120"/>
              </a:rPr>
              <a:t>SKINTHICKNESS</a:t>
            </a:r>
            <a:endParaRPr lang="en-US" sz="1300" dirty="0"/>
          </a:p>
        </p:txBody>
      </p:sp>
      <p:sp>
        <p:nvSpPr>
          <p:cNvPr id="76" name="Shape 24">
            <a:extLst>
              <a:ext uri="{FF2B5EF4-FFF2-40B4-BE49-F238E27FC236}">
                <a16:creationId xmlns:a16="http://schemas.microsoft.com/office/drawing/2014/main" id="{ACDDC1D4-C6FF-8AE3-4C4D-C099E778889C}"/>
              </a:ext>
            </a:extLst>
          </p:cNvPr>
          <p:cNvSpPr/>
          <p:nvPr/>
        </p:nvSpPr>
        <p:spPr>
          <a:xfrm>
            <a:off x="6764069" y="4452441"/>
            <a:ext cx="930053" cy="324941"/>
          </a:xfrm>
          <a:prstGeom prst="roundRect">
            <a:avLst>
              <a:gd name="adj" fmla="val 3517"/>
            </a:avLst>
          </a:prstGeom>
          <a:noFill/>
          <a:ln w="6350">
            <a:solidFill>
              <a:srgbClr val="4A5B70"/>
            </a:solidFill>
            <a:prstDash val="solid"/>
          </a:ln>
        </p:spPr>
        <p:txBody>
          <a:bodyPr/>
          <a:lstStyle/>
          <a:p>
            <a:endParaRPr lang="en-US"/>
          </a:p>
        </p:txBody>
      </p:sp>
      <p:sp>
        <p:nvSpPr>
          <p:cNvPr id="78" name="Text 25">
            <a:extLst>
              <a:ext uri="{FF2B5EF4-FFF2-40B4-BE49-F238E27FC236}">
                <a16:creationId xmlns:a16="http://schemas.microsoft.com/office/drawing/2014/main" id="{31EB22C8-7500-18E0-17D6-0C5650C64C09}"/>
              </a:ext>
            </a:extLst>
          </p:cNvPr>
          <p:cNvSpPr/>
          <p:nvPr/>
        </p:nvSpPr>
        <p:spPr>
          <a:xfrm>
            <a:off x="6885907" y="4519712"/>
            <a:ext cx="1295963" cy="203101"/>
          </a:xfrm>
          <a:prstGeom prst="rect">
            <a:avLst/>
          </a:prstGeom>
          <a:noFill/>
          <a:ln/>
        </p:spPr>
        <p:txBody>
          <a:bodyPr wrap="none" lIns="0" tIns="0" rIns="0" bIns="0" rtlCol="0" anchor="t"/>
          <a:lstStyle/>
          <a:p>
            <a:pPr marL="0" indent="0" algn="l">
              <a:lnSpc>
                <a:spcPct val="104000"/>
              </a:lnSpc>
              <a:buNone/>
            </a:pPr>
            <a:r>
              <a:rPr lang="en-US" sz="1300" kern="100" spc="51" dirty="0">
                <a:solidFill>
                  <a:srgbClr val="4A5B70"/>
                </a:solidFill>
                <a:latin typeface="Geist SemiBold" pitchFamily="34" charset="0"/>
                <a:ea typeface="Geist SemiBold" pitchFamily="34" charset="-122"/>
                <a:cs typeface="Geist SemiBold" pitchFamily="34" charset="-120"/>
              </a:rPr>
              <a:t>INSULIN</a:t>
            </a:r>
            <a:endParaRPr lang="en-US" sz="1300" dirty="0"/>
          </a:p>
        </p:txBody>
      </p:sp>
      <p:sp>
        <p:nvSpPr>
          <p:cNvPr id="80" name="Shape 26">
            <a:extLst>
              <a:ext uri="{FF2B5EF4-FFF2-40B4-BE49-F238E27FC236}">
                <a16:creationId xmlns:a16="http://schemas.microsoft.com/office/drawing/2014/main" id="{619A65CE-8E30-7FB7-FDEB-4B552CEF6BC3}"/>
              </a:ext>
            </a:extLst>
          </p:cNvPr>
          <p:cNvSpPr/>
          <p:nvPr/>
        </p:nvSpPr>
        <p:spPr>
          <a:xfrm>
            <a:off x="7795720" y="4452441"/>
            <a:ext cx="2104060" cy="324941"/>
          </a:xfrm>
          <a:prstGeom prst="roundRect">
            <a:avLst>
              <a:gd name="adj" fmla="val 3517"/>
            </a:avLst>
          </a:prstGeom>
          <a:noFill/>
          <a:ln w="6350">
            <a:solidFill>
              <a:srgbClr val="4A5B70"/>
            </a:solidFill>
            <a:prstDash val="solid"/>
          </a:ln>
        </p:spPr>
        <p:txBody>
          <a:bodyPr/>
          <a:lstStyle/>
          <a:p>
            <a:endParaRPr lang="en-US"/>
          </a:p>
        </p:txBody>
      </p:sp>
      <p:sp>
        <p:nvSpPr>
          <p:cNvPr id="82" name="Text 27">
            <a:extLst>
              <a:ext uri="{FF2B5EF4-FFF2-40B4-BE49-F238E27FC236}">
                <a16:creationId xmlns:a16="http://schemas.microsoft.com/office/drawing/2014/main" id="{C7A0327F-2EB9-07D8-889F-2716CE236409}"/>
              </a:ext>
            </a:extLst>
          </p:cNvPr>
          <p:cNvSpPr/>
          <p:nvPr/>
        </p:nvSpPr>
        <p:spPr>
          <a:xfrm>
            <a:off x="7873818" y="4519712"/>
            <a:ext cx="931938" cy="203101"/>
          </a:xfrm>
          <a:prstGeom prst="rect">
            <a:avLst/>
          </a:prstGeom>
          <a:noFill/>
          <a:ln/>
        </p:spPr>
        <p:txBody>
          <a:bodyPr wrap="none" lIns="0" tIns="0" rIns="0" bIns="0" rtlCol="0" anchor="t"/>
          <a:lstStyle/>
          <a:p>
            <a:pPr marL="0" indent="0" algn="l">
              <a:lnSpc>
                <a:spcPct val="104000"/>
              </a:lnSpc>
              <a:buNone/>
            </a:pPr>
            <a:r>
              <a:rPr lang="en-US" sz="1300" kern="100" spc="51" dirty="0">
                <a:solidFill>
                  <a:srgbClr val="4A5B70"/>
                </a:solidFill>
                <a:latin typeface="Geist SemiBold" pitchFamily="34" charset="0"/>
                <a:ea typeface="Geist SemiBold" pitchFamily="34" charset="-122"/>
                <a:cs typeface="Geist SemiBold" pitchFamily="34" charset="-120"/>
              </a:rPr>
              <a:t>(Body Mass Index) BMI</a:t>
            </a:r>
            <a:endParaRPr lang="en-US" sz="1300" dirty="0"/>
          </a:p>
        </p:txBody>
      </p:sp>
      <p:sp>
        <p:nvSpPr>
          <p:cNvPr id="84" name="Shape 28">
            <a:extLst>
              <a:ext uri="{FF2B5EF4-FFF2-40B4-BE49-F238E27FC236}">
                <a16:creationId xmlns:a16="http://schemas.microsoft.com/office/drawing/2014/main" id="{8D39FC01-8423-450D-8A70-E86E519D656F}"/>
              </a:ext>
            </a:extLst>
          </p:cNvPr>
          <p:cNvSpPr/>
          <p:nvPr/>
        </p:nvSpPr>
        <p:spPr>
          <a:xfrm>
            <a:off x="457189" y="4890293"/>
            <a:ext cx="2808912" cy="324941"/>
          </a:xfrm>
          <a:prstGeom prst="roundRect">
            <a:avLst>
              <a:gd name="adj" fmla="val 3517"/>
            </a:avLst>
          </a:prstGeom>
          <a:noFill/>
          <a:ln w="6350">
            <a:solidFill>
              <a:srgbClr val="4A5B70"/>
            </a:solidFill>
            <a:prstDash val="solid"/>
          </a:ln>
        </p:spPr>
        <p:txBody>
          <a:bodyPr/>
          <a:lstStyle/>
          <a:p>
            <a:endParaRPr lang="en-US"/>
          </a:p>
        </p:txBody>
      </p:sp>
      <p:sp>
        <p:nvSpPr>
          <p:cNvPr id="86" name="Text 29">
            <a:extLst>
              <a:ext uri="{FF2B5EF4-FFF2-40B4-BE49-F238E27FC236}">
                <a16:creationId xmlns:a16="http://schemas.microsoft.com/office/drawing/2014/main" id="{2996EFAD-1FF4-6AD9-5564-39EF970053B5}"/>
              </a:ext>
            </a:extLst>
          </p:cNvPr>
          <p:cNvSpPr/>
          <p:nvPr/>
        </p:nvSpPr>
        <p:spPr>
          <a:xfrm>
            <a:off x="579027" y="4957564"/>
            <a:ext cx="3174821" cy="203101"/>
          </a:xfrm>
          <a:prstGeom prst="rect">
            <a:avLst/>
          </a:prstGeom>
          <a:noFill/>
          <a:ln/>
        </p:spPr>
        <p:txBody>
          <a:bodyPr wrap="none" lIns="0" tIns="0" rIns="0" bIns="0" rtlCol="0" anchor="t"/>
          <a:lstStyle/>
          <a:p>
            <a:pPr marL="0" indent="0" algn="l">
              <a:lnSpc>
                <a:spcPct val="104000"/>
              </a:lnSpc>
              <a:buNone/>
            </a:pPr>
            <a:r>
              <a:rPr lang="en-US" sz="1300" kern="100" spc="51" dirty="0">
                <a:solidFill>
                  <a:srgbClr val="4A5B70"/>
                </a:solidFill>
                <a:latin typeface="Geist SemiBold" pitchFamily="34" charset="0"/>
                <a:ea typeface="Geist SemiBold" pitchFamily="34" charset="-122"/>
                <a:cs typeface="Geist SemiBold" pitchFamily="34" charset="-120"/>
              </a:rPr>
              <a:t>DIABETESPEDIGREEFUNCTION</a:t>
            </a:r>
            <a:endParaRPr lang="en-US" sz="1300" dirty="0"/>
          </a:p>
        </p:txBody>
      </p:sp>
      <p:sp>
        <p:nvSpPr>
          <p:cNvPr id="88" name="Shape 30">
            <a:extLst>
              <a:ext uri="{FF2B5EF4-FFF2-40B4-BE49-F238E27FC236}">
                <a16:creationId xmlns:a16="http://schemas.microsoft.com/office/drawing/2014/main" id="{D40D622A-0EE4-1745-7377-428FB55D9691}"/>
              </a:ext>
            </a:extLst>
          </p:cNvPr>
          <p:cNvSpPr/>
          <p:nvPr/>
        </p:nvSpPr>
        <p:spPr>
          <a:xfrm>
            <a:off x="3393033" y="4878983"/>
            <a:ext cx="590238" cy="324941"/>
          </a:xfrm>
          <a:prstGeom prst="roundRect">
            <a:avLst>
              <a:gd name="adj" fmla="val 3517"/>
            </a:avLst>
          </a:prstGeom>
          <a:noFill/>
          <a:ln w="6350">
            <a:solidFill>
              <a:srgbClr val="4A5B70"/>
            </a:solidFill>
            <a:prstDash val="solid"/>
          </a:ln>
        </p:spPr>
        <p:txBody>
          <a:bodyPr/>
          <a:lstStyle/>
          <a:p>
            <a:endParaRPr lang="en-US"/>
          </a:p>
        </p:txBody>
      </p:sp>
      <p:sp>
        <p:nvSpPr>
          <p:cNvPr id="90" name="Text 31">
            <a:extLst>
              <a:ext uri="{FF2B5EF4-FFF2-40B4-BE49-F238E27FC236}">
                <a16:creationId xmlns:a16="http://schemas.microsoft.com/office/drawing/2014/main" id="{877D389E-2A4D-1C37-7CF2-DB595A61F520}"/>
              </a:ext>
            </a:extLst>
          </p:cNvPr>
          <p:cNvSpPr/>
          <p:nvPr/>
        </p:nvSpPr>
        <p:spPr>
          <a:xfrm>
            <a:off x="3514870" y="4946253"/>
            <a:ext cx="956147" cy="203101"/>
          </a:xfrm>
          <a:prstGeom prst="rect">
            <a:avLst/>
          </a:prstGeom>
          <a:noFill/>
          <a:ln/>
        </p:spPr>
        <p:txBody>
          <a:bodyPr wrap="none" lIns="0" tIns="0" rIns="0" bIns="0" rtlCol="0" anchor="t"/>
          <a:lstStyle/>
          <a:p>
            <a:pPr marL="0" indent="0" algn="l">
              <a:lnSpc>
                <a:spcPct val="104000"/>
              </a:lnSpc>
              <a:buNone/>
            </a:pPr>
            <a:r>
              <a:rPr lang="en-US" sz="1300" kern="100" spc="51" dirty="0">
                <a:solidFill>
                  <a:srgbClr val="4A5B70"/>
                </a:solidFill>
                <a:latin typeface="Geist SemiBold" pitchFamily="34" charset="0"/>
                <a:ea typeface="Geist SemiBold" pitchFamily="34" charset="-122"/>
                <a:cs typeface="Geist SemiBold" pitchFamily="34" charset="-120"/>
              </a:rPr>
              <a:t>AGE</a:t>
            </a:r>
            <a:endParaRPr lang="en-US" sz="1300" dirty="0"/>
          </a:p>
        </p:txBody>
      </p:sp>
      <p:sp>
        <p:nvSpPr>
          <p:cNvPr id="92" name="Shape 32">
            <a:extLst>
              <a:ext uri="{FF2B5EF4-FFF2-40B4-BE49-F238E27FC236}">
                <a16:creationId xmlns:a16="http://schemas.microsoft.com/office/drawing/2014/main" id="{D1314320-1305-6B16-0EDE-F4F170BA24C9}"/>
              </a:ext>
            </a:extLst>
          </p:cNvPr>
          <p:cNvSpPr/>
          <p:nvPr/>
        </p:nvSpPr>
        <p:spPr>
          <a:xfrm>
            <a:off x="457189" y="5407124"/>
            <a:ext cx="11277318" cy="593328"/>
          </a:xfrm>
          <a:prstGeom prst="rect">
            <a:avLst/>
          </a:prstGeom>
          <a:solidFill>
            <a:srgbClr val="EAF4F5"/>
          </a:solidFill>
          <a:ln/>
        </p:spPr>
        <p:txBody>
          <a:bodyPr/>
          <a:lstStyle/>
          <a:p>
            <a:endParaRPr lang="en-US"/>
          </a:p>
        </p:txBody>
      </p:sp>
      <p:sp>
        <p:nvSpPr>
          <p:cNvPr id="94" name="Shape 33">
            <a:extLst>
              <a:ext uri="{FF2B5EF4-FFF2-40B4-BE49-F238E27FC236}">
                <a16:creationId xmlns:a16="http://schemas.microsoft.com/office/drawing/2014/main" id="{D01C4CEB-94B4-4E08-A629-DD572D0D5F21}"/>
              </a:ext>
            </a:extLst>
          </p:cNvPr>
          <p:cNvSpPr/>
          <p:nvPr/>
        </p:nvSpPr>
        <p:spPr>
          <a:xfrm>
            <a:off x="457189" y="5407124"/>
            <a:ext cx="25399" cy="593328"/>
          </a:xfrm>
          <a:prstGeom prst="rect">
            <a:avLst/>
          </a:prstGeom>
          <a:solidFill>
            <a:srgbClr val="397B88"/>
          </a:solidFill>
          <a:ln/>
        </p:spPr>
        <p:txBody>
          <a:bodyPr/>
          <a:lstStyle/>
          <a:p>
            <a:endParaRPr lang="en-US"/>
          </a:p>
        </p:txBody>
      </p:sp>
      <p:sp>
        <p:nvSpPr>
          <p:cNvPr id="96" name="Text 34">
            <a:extLst>
              <a:ext uri="{FF2B5EF4-FFF2-40B4-BE49-F238E27FC236}">
                <a16:creationId xmlns:a16="http://schemas.microsoft.com/office/drawing/2014/main" id="{EC6EBEFE-D10C-EB7E-AA1F-1EA686948F3A}"/>
              </a:ext>
            </a:extLst>
          </p:cNvPr>
          <p:cNvSpPr/>
          <p:nvPr/>
        </p:nvSpPr>
        <p:spPr>
          <a:xfrm>
            <a:off x="711182" y="5559524"/>
            <a:ext cx="11023324" cy="288528"/>
          </a:xfrm>
          <a:prstGeom prst="rect">
            <a:avLst/>
          </a:prstGeom>
          <a:noFill/>
          <a:ln/>
        </p:spPr>
        <p:txBody>
          <a:bodyPr wrap="none" lIns="0" tIns="0" rIns="0" bIns="0" rtlCol="0" anchor="t"/>
          <a:lstStyle/>
          <a:p>
            <a:pPr marL="0" indent="0" algn="l">
              <a:lnSpc>
                <a:spcPct val="118000"/>
              </a:lnSpc>
              <a:buNone/>
            </a:pPr>
            <a:r>
              <a:rPr lang="en-US" sz="1600" b="1" dirty="0">
                <a:solidFill>
                  <a:srgbClr val="000000"/>
                </a:solidFill>
                <a:latin typeface="Geist Bold" pitchFamily="34" charset="0"/>
                <a:ea typeface="Geist Bold" pitchFamily="34" charset="-122"/>
                <a:cs typeface="Geist Bold" pitchFamily="34" charset="-120"/>
              </a:rPr>
              <a:t>Outcome</a:t>
            </a:r>
            <a:r>
              <a:rPr lang="en-US" sz="1600" dirty="0">
                <a:solidFill>
                  <a:srgbClr val="000000"/>
                </a:solidFill>
                <a:latin typeface="Geist" pitchFamily="34" charset="0"/>
                <a:ea typeface="Geist" pitchFamily="34" charset="-122"/>
                <a:cs typeface="Geist" pitchFamily="34" charset="-120"/>
              </a:rPr>
              <a:t> is the target column: 0 = No diabetes, 1 = Diabetes.</a:t>
            </a:r>
            <a:endParaRPr lang="en-US" sz="1600" dirty="0"/>
          </a:p>
        </p:txBody>
      </p:sp>
      <p:sp>
        <p:nvSpPr>
          <p:cNvPr id="98" name="Text 35">
            <a:extLst>
              <a:ext uri="{FF2B5EF4-FFF2-40B4-BE49-F238E27FC236}">
                <a16:creationId xmlns:a16="http://schemas.microsoft.com/office/drawing/2014/main" id="{5C7D84C8-42F4-DE22-E2F7-5D329EF3B608}"/>
              </a:ext>
            </a:extLst>
          </p:cNvPr>
          <p:cNvSpPr/>
          <p:nvPr/>
        </p:nvSpPr>
        <p:spPr>
          <a:xfrm>
            <a:off x="457189" y="6203652"/>
            <a:ext cx="11734506" cy="197148"/>
          </a:xfrm>
          <a:prstGeom prst="rect">
            <a:avLst/>
          </a:prstGeom>
          <a:noFill/>
          <a:ln/>
        </p:spPr>
        <p:txBody>
          <a:bodyPr wrap="none" lIns="0" tIns="0" rIns="0" bIns="0" rtlCol="0" anchor="t"/>
          <a:lstStyle/>
          <a:p>
            <a:pPr marL="0" indent="0" algn="l">
              <a:lnSpc>
                <a:spcPct val="113000"/>
              </a:lnSpc>
              <a:buNone/>
            </a:pPr>
            <a:r>
              <a:rPr lang="en-US" sz="1150" kern="100" spc="23" dirty="0">
                <a:solidFill>
                  <a:srgbClr val="000000"/>
                </a:solidFill>
                <a:latin typeface="Geist" pitchFamily="34" charset="0"/>
                <a:ea typeface="Geist" pitchFamily="34" charset="-122"/>
                <a:cs typeface="Geist" pitchFamily="34" charset="-120"/>
              </a:rPr>
              <a:t>Source: Diabetes Dataset, Kaggle: </a:t>
            </a:r>
            <a:r>
              <a:rPr lang="en-US" sz="1150" b="1" u="sng" kern="100" spc="23" dirty="0">
                <a:solidFill>
                  <a:srgbClr val="4A5B70"/>
                </a:solidFill>
                <a:latin typeface="Geist Bold" pitchFamily="34" charset="0"/>
                <a:ea typeface="Geist Bold" pitchFamily="34" charset="-122"/>
                <a:cs typeface="Geist Bold" pitchFamily="34" charset="-120"/>
                <a:hlinkClick r:id="rId3">
                  <a:extLst>
                    <a:ext uri="{A12FA001-AC4F-418D-AE19-62706E023703}">
                      <ahyp:hlinkClr xmlns:ahyp="http://schemas.microsoft.com/office/drawing/2018/hyperlinkcolor" val="tx"/>
                    </a:ext>
                  </a:extLst>
                </a:hlinkClick>
              </a:rPr>
              <a:t>https://www.kaggle.com/datasets/salihacur/diabetes</a:t>
            </a:r>
            <a:endParaRPr lang="en-US" sz="1150" dirty="0"/>
          </a:p>
        </p:txBody>
      </p:sp>
      <p:sp>
        <p:nvSpPr>
          <p:cNvPr id="100" name="Rectangle 99">
            <a:extLst>
              <a:ext uri="{FF2B5EF4-FFF2-40B4-BE49-F238E27FC236}">
                <a16:creationId xmlns:a16="http://schemas.microsoft.com/office/drawing/2014/main" id="{08231B82-29A0-B661-727D-69A15EFD569E}"/>
              </a:ext>
            </a:extLst>
          </p:cNvPr>
          <p:cNvSpPr/>
          <p:nvPr/>
        </p:nvSpPr>
        <p:spPr>
          <a:xfrm>
            <a:off x="10982131" y="6447453"/>
            <a:ext cx="1209869" cy="4105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189" y="457200"/>
            <a:ext cx="11277318" cy="432991"/>
          </a:xfrm>
          <a:prstGeom prst="rect">
            <a:avLst/>
          </a:prstGeom>
          <a:noFill/>
          <a:ln/>
        </p:spPr>
        <p:txBody>
          <a:bodyPr wrap="none" lIns="0" tIns="0" rIns="0" bIns="0" rtlCol="0" anchor="t"/>
          <a:lstStyle/>
          <a:p>
            <a:pPr marL="0" indent="0" algn="l">
              <a:lnSpc>
                <a:spcPct val="92000"/>
              </a:lnSpc>
              <a:buNone/>
            </a:pPr>
            <a:r>
              <a:rPr lang="en-US" sz="3100" kern="100" spc="-31" dirty="0">
                <a:solidFill>
                  <a:srgbClr val="1B2638"/>
                </a:solidFill>
                <a:latin typeface="Newsreader Medium" pitchFamily="34" charset="0"/>
                <a:ea typeface="Newsreader Medium" pitchFamily="34" charset="-122"/>
                <a:cs typeface="Newsreader Medium" pitchFamily="34" charset="-120"/>
              </a:rPr>
              <a:t>Zero values hide missing measurements</a:t>
            </a:r>
            <a:endParaRPr lang="en-US" sz="3100" dirty="0"/>
          </a:p>
        </p:txBody>
      </p:sp>
      <p:sp>
        <p:nvSpPr>
          <p:cNvPr id="3" name="Shape 1"/>
          <p:cNvSpPr/>
          <p:nvPr/>
        </p:nvSpPr>
        <p:spPr>
          <a:xfrm>
            <a:off x="457189" y="1164828"/>
            <a:ext cx="11277318" cy="31651"/>
          </a:xfrm>
          <a:prstGeom prst="roundRect">
            <a:avLst>
              <a:gd name="adj" fmla="val 49998"/>
            </a:avLst>
          </a:prstGeom>
          <a:solidFill>
            <a:srgbClr val="4A5B70"/>
          </a:solidFill>
          <a:ln/>
        </p:spPr>
        <p:txBody>
          <a:bodyPr/>
          <a:lstStyle/>
          <a:p>
            <a:endParaRPr lang="en-US"/>
          </a:p>
        </p:txBody>
      </p:sp>
      <p:sp>
        <p:nvSpPr>
          <p:cNvPr id="4" name="Text 2"/>
          <p:cNvSpPr/>
          <p:nvPr/>
        </p:nvSpPr>
        <p:spPr>
          <a:xfrm>
            <a:off x="457189" y="2740287"/>
            <a:ext cx="3967361" cy="1370409"/>
          </a:xfrm>
          <a:prstGeom prst="rect">
            <a:avLst/>
          </a:prstGeom>
          <a:noFill/>
          <a:ln/>
        </p:spPr>
        <p:txBody>
          <a:bodyPr wrap="square" lIns="0" tIns="0" rIns="0" bIns="0" rtlCol="0" anchor="t">
            <a:normAutofit/>
          </a:bodyPr>
          <a:lstStyle/>
          <a:p>
            <a:pPr marL="0" indent="0" algn="l">
              <a:lnSpc>
                <a:spcPct val="118000"/>
              </a:lnSpc>
              <a:buNone/>
            </a:pPr>
            <a:r>
              <a:rPr lang="en-US" sz="1900" dirty="0">
                <a:solidFill>
                  <a:srgbClr val="2B3139"/>
                </a:solidFill>
                <a:latin typeface="Geist" pitchFamily="34" charset="0"/>
                <a:ea typeface="Geist" pitchFamily="34" charset="-122"/>
                <a:cs typeface="Geist" pitchFamily="34" charset="-120"/>
              </a:rPr>
              <a:t>Dataset checked for shape, data types, descriptive statistics, class balance, missing values and duplicates</a:t>
            </a:r>
            <a:endParaRPr lang="en-US" sz="1900" dirty="0"/>
          </a:p>
        </p:txBody>
      </p:sp>
      <p:sp>
        <p:nvSpPr>
          <p:cNvPr id="5" name="Text 3"/>
          <p:cNvSpPr/>
          <p:nvPr/>
        </p:nvSpPr>
        <p:spPr>
          <a:xfrm>
            <a:off x="457189" y="4243983"/>
            <a:ext cx="3967361" cy="865584"/>
          </a:xfrm>
          <a:prstGeom prst="rect">
            <a:avLst/>
          </a:prstGeom>
          <a:noFill/>
          <a:ln/>
        </p:spPr>
        <p:txBody>
          <a:bodyPr wrap="square" lIns="0" tIns="0" rIns="0" bIns="0" rtlCol="0" anchor="t">
            <a:normAutofit/>
          </a:bodyPr>
          <a:lstStyle/>
          <a:p>
            <a:pPr marL="0" indent="0" algn="l">
              <a:lnSpc>
                <a:spcPct val="118000"/>
              </a:lnSpc>
              <a:buNone/>
            </a:pPr>
            <a:r>
              <a:rPr lang="en-US" sz="1600" b="1" dirty="0">
                <a:solidFill>
                  <a:srgbClr val="2B3139"/>
                </a:solidFill>
                <a:latin typeface="Geist Bold" pitchFamily="34" charset="0"/>
                <a:ea typeface="Geist Bold" pitchFamily="34" charset="-122"/>
                <a:cs typeface="Geist Bold" pitchFamily="34" charset="-120"/>
              </a:rPr>
              <a:t>Invalid zeros:</a:t>
            </a:r>
            <a:r>
              <a:rPr lang="en-US" sz="1600" dirty="0">
                <a:solidFill>
                  <a:srgbClr val="2B3139"/>
                </a:solidFill>
                <a:latin typeface="Geist" pitchFamily="34" charset="0"/>
                <a:ea typeface="Geist" pitchFamily="34" charset="-122"/>
                <a:cs typeface="Geist" pitchFamily="34" charset="-120"/>
              </a:rPr>
              <a:t> Glucose 5, Blood Pressure 35, Skin Thickness 227, Insulin 374, BMI 11</a:t>
            </a:r>
            <a:endParaRPr lang="en-US" sz="1600" dirty="0"/>
          </a:p>
        </p:txBody>
      </p:sp>
      <p:pic>
        <p:nvPicPr>
          <p:cNvPr id="6" name="Image 0" descr="preencoded.png"/>
          <p:cNvPicPr>
            <a:picLocks noChangeAspect="1"/>
          </p:cNvPicPr>
          <p:nvPr/>
        </p:nvPicPr>
        <p:blipFill>
          <a:blip r:embed="rId3"/>
          <a:stretch>
            <a:fillRect/>
          </a:stretch>
        </p:blipFill>
        <p:spPr>
          <a:xfrm>
            <a:off x="4881639" y="1829395"/>
            <a:ext cx="6603835" cy="4191000"/>
          </a:xfrm>
          <a:prstGeom prst="rect">
            <a:avLst/>
          </a:prstGeom>
        </p:spPr>
      </p:pic>
      <p:sp>
        <p:nvSpPr>
          <p:cNvPr id="8" name="Rectangle 7">
            <a:extLst>
              <a:ext uri="{FF2B5EF4-FFF2-40B4-BE49-F238E27FC236}">
                <a16:creationId xmlns:a16="http://schemas.microsoft.com/office/drawing/2014/main" id="{1C790ED3-D96C-05CB-8D4A-02917EA543B0}"/>
              </a:ext>
            </a:extLst>
          </p:cNvPr>
          <p:cNvSpPr/>
          <p:nvPr/>
        </p:nvSpPr>
        <p:spPr>
          <a:xfrm>
            <a:off x="11038114" y="6475446"/>
            <a:ext cx="1073021" cy="3079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7ABFD2-D969-BC68-69F5-C467142F1018}"/>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A7257483-BED3-1EC4-EA01-1D232E85513C}"/>
              </a:ext>
            </a:extLst>
          </p:cNvPr>
          <p:cNvSpPr/>
          <p:nvPr/>
        </p:nvSpPr>
        <p:spPr>
          <a:xfrm>
            <a:off x="457189" y="459184"/>
            <a:ext cx="11734506" cy="182563"/>
          </a:xfrm>
          <a:prstGeom prst="rect">
            <a:avLst/>
          </a:prstGeom>
          <a:noFill/>
          <a:ln/>
        </p:spPr>
        <p:txBody>
          <a:bodyPr wrap="none" lIns="0" tIns="0" rIns="0" bIns="0" rtlCol="0" anchor="t"/>
          <a:lstStyle/>
          <a:p>
            <a:pPr marL="0" indent="0" algn="l">
              <a:lnSpc>
                <a:spcPct val="104000"/>
              </a:lnSpc>
              <a:buNone/>
            </a:pPr>
            <a:r>
              <a:rPr lang="en-US" sz="1150" kern="100" spc="92" dirty="0">
                <a:solidFill>
                  <a:srgbClr val="4A5B70"/>
                </a:solidFill>
                <a:latin typeface="Geist SemiBold" pitchFamily="34" charset="0"/>
                <a:ea typeface="Geist SemiBold" pitchFamily="34" charset="-122"/>
                <a:cs typeface="Geist SemiBold" pitchFamily="34" charset="-120"/>
              </a:rPr>
              <a:t>PREPROCESSING · OUTLIERS</a:t>
            </a:r>
            <a:endParaRPr lang="en-US" sz="1150" dirty="0"/>
          </a:p>
        </p:txBody>
      </p:sp>
      <p:sp>
        <p:nvSpPr>
          <p:cNvPr id="11" name="Text 1">
            <a:extLst>
              <a:ext uri="{FF2B5EF4-FFF2-40B4-BE49-F238E27FC236}">
                <a16:creationId xmlns:a16="http://schemas.microsoft.com/office/drawing/2014/main" id="{8472A40E-9FD0-512C-6BB1-3C72A3082935}"/>
              </a:ext>
            </a:extLst>
          </p:cNvPr>
          <p:cNvSpPr/>
          <p:nvPr/>
        </p:nvSpPr>
        <p:spPr>
          <a:xfrm>
            <a:off x="457189" y="731837"/>
            <a:ext cx="11277318" cy="432991"/>
          </a:xfrm>
          <a:prstGeom prst="rect">
            <a:avLst/>
          </a:prstGeom>
          <a:noFill/>
          <a:ln/>
        </p:spPr>
        <p:txBody>
          <a:bodyPr wrap="none" lIns="0" tIns="0" rIns="0" bIns="0" rtlCol="0" anchor="t"/>
          <a:lstStyle/>
          <a:p>
            <a:pPr marL="0" indent="0" algn="l">
              <a:lnSpc>
                <a:spcPct val="92000"/>
              </a:lnSpc>
              <a:buNone/>
            </a:pPr>
            <a:r>
              <a:rPr lang="en-US" sz="3100" kern="100" spc="-31" dirty="0">
                <a:solidFill>
                  <a:srgbClr val="1B2638"/>
                </a:solidFill>
                <a:latin typeface="Newsreader Medium" pitchFamily="34" charset="0"/>
                <a:ea typeface="Newsreader Medium" pitchFamily="34" charset="-122"/>
                <a:cs typeface="Newsreader Medium" pitchFamily="34" charset="-120"/>
              </a:rPr>
              <a:t>Outliers were capped with the IQR method, not removed</a:t>
            </a:r>
            <a:endParaRPr lang="en-US" sz="3100" dirty="0"/>
          </a:p>
        </p:txBody>
      </p:sp>
      <p:sp>
        <p:nvSpPr>
          <p:cNvPr id="13" name="Shape 2">
            <a:extLst>
              <a:ext uri="{FF2B5EF4-FFF2-40B4-BE49-F238E27FC236}">
                <a16:creationId xmlns:a16="http://schemas.microsoft.com/office/drawing/2014/main" id="{40F82D6E-BB33-7A93-77D4-D9FA687BB03B}"/>
              </a:ext>
            </a:extLst>
          </p:cNvPr>
          <p:cNvSpPr/>
          <p:nvPr/>
        </p:nvSpPr>
        <p:spPr>
          <a:xfrm>
            <a:off x="457189" y="1439466"/>
            <a:ext cx="11277318" cy="31651"/>
          </a:xfrm>
          <a:prstGeom prst="roundRect">
            <a:avLst>
              <a:gd name="adj" fmla="val 49998"/>
            </a:avLst>
          </a:prstGeom>
          <a:solidFill>
            <a:srgbClr val="397B88"/>
          </a:solidFill>
          <a:ln/>
        </p:spPr>
        <p:txBody>
          <a:bodyPr/>
          <a:lstStyle/>
          <a:p>
            <a:endParaRPr lang="en-US"/>
          </a:p>
        </p:txBody>
      </p:sp>
      <p:sp>
        <p:nvSpPr>
          <p:cNvPr id="15" name="Text 3">
            <a:extLst>
              <a:ext uri="{FF2B5EF4-FFF2-40B4-BE49-F238E27FC236}">
                <a16:creationId xmlns:a16="http://schemas.microsoft.com/office/drawing/2014/main" id="{C725BAB6-5BD8-8A75-7E58-4089FF50950F}"/>
              </a:ext>
            </a:extLst>
          </p:cNvPr>
          <p:cNvSpPr/>
          <p:nvPr/>
        </p:nvSpPr>
        <p:spPr>
          <a:xfrm>
            <a:off x="457189" y="1723628"/>
            <a:ext cx="11277318" cy="577056"/>
          </a:xfrm>
          <a:prstGeom prst="rect">
            <a:avLst/>
          </a:prstGeom>
          <a:noFill/>
          <a:ln/>
        </p:spPr>
        <p:txBody>
          <a:bodyPr wrap="square" lIns="0" tIns="0" rIns="0" bIns="0" rtlCol="0" anchor="t">
            <a:normAutofit/>
          </a:bodyPr>
          <a:lstStyle/>
          <a:p>
            <a:pPr marL="0" indent="0" algn="l">
              <a:lnSpc>
                <a:spcPct val="118000"/>
              </a:lnSpc>
              <a:buNone/>
            </a:pPr>
            <a:r>
              <a:rPr lang="en-US" sz="1600" dirty="0">
                <a:solidFill>
                  <a:srgbClr val="2B3139"/>
                </a:solidFill>
                <a:latin typeface="Geist" pitchFamily="34" charset="0"/>
                <a:ea typeface="Geist" pitchFamily="34" charset="-122"/>
                <a:cs typeface="Geist" pitchFamily="34" charset="-120"/>
              </a:rPr>
              <a:t>The dataset's structure, dimensions, numerical variables and target were inspected. Plots such as boxplots helped identify extreme values.</a:t>
            </a:r>
            <a:endParaRPr lang="en-US" sz="1600" dirty="0"/>
          </a:p>
        </p:txBody>
      </p:sp>
      <p:pic>
        <p:nvPicPr>
          <p:cNvPr id="17" name="Image 0" descr="preencoded.png">
            <a:extLst>
              <a:ext uri="{FF2B5EF4-FFF2-40B4-BE49-F238E27FC236}">
                <a16:creationId xmlns:a16="http://schemas.microsoft.com/office/drawing/2014/main" id="{3C4397FB-045A-7702-AE7D-DC716E533A2F}"/>
              </a:ext>
            </a:extLst>
          </p:cNvPr>
          <p:cNvPicPr>
            <a:picLocks noChangeAspect="1"/>
          </p:cNvPicPr>
          <p:nvPr/>
        </p:nvPicPr>
        <p:blipFill>
          <a:blip r:embed="rId3"/>
          <a:stretch>
            <a:fillRect/>
          </a:stretch>
        </p:blipFill>
        <p:spPr>
          <a:xfrm>
            <a:off x="457189" y="2503884"/>
            <a:ext cx="11277318" cy="344587"/>
          </a:xfrm>
          <a:prstGeom prst="rect">
            <a:avLst/>
          </a:prstGeom>
        </p:spPr>
      </p:pic>
      <p:sp>
        <p:nvSpPr>
          <p:cNvPr id="19" name="Shape 4">
            <a:extLst>
              <a:ext uri="{FF2B5EF4-FFF2-40B4-BE49-F238E27FC236}">
                <a16:creationId xmlns:a16="http://schemas.microsoft.com/office/drawing/2014/main" id="{CDF7B247-A7F8-1FFC-F412-329CB9ECB72E}"/>
              </a:ext>
            </a:extLst>
          </p:cNvPr>
          <p:cNvSpPr/>
          <p:nvPr/>
        </p:nvSpPr>
        <p:spPr>
          <a:xfrm>
            <a:off x="457189" y="3051671"/>
            <a:ext cx="5486263" cy="2857401"/>
          </a:xfrm>
          <a:prstGeom prst="roundRect">
            <a:avLst>
              <a:gd name="adj" fmla="val 400"/>
            </a:avLst>
          </a:prstGeom>
          <a:noFill/>
          <a:ln w="25399">
            <a:solidFill>
              <a:srgbClr val="4A5B70"/>
            </a:solidFill>
            <a:prstDash val="solid"/>
          </a:ln>
        </p:spPr>
        <p:txBody>
          <a:bodyPr/>
          <a:lstStyle/>
          <a:p>
            <a:endParaRPr lang="en-US"/>
          </a:p>
        </p:txBody>
      </p:sp>
      <p:sp>
        <p:nvSpPr>
          <p:cNvPr id="21" name="Text 5">
            <a:extLst>
              <a:ext uri="{FF2B5EF4-FFF2-40B4-BE49-F238E27FC236}">
                <a16:creationId xmlns:a16="http://schemas.microsoft.com/office/drawing/2014/main" id="{BA3C600B-4201-0E32-5C8F-27FB1D870C62}"/>
              </a:ext>
            </a:extLst>
          </p:cNvPr>
          <p:cNvSpPr/>
          <p:nvPr/>
        </p:nvSpPr>
        <p:spPr>
          <a:xfrm>
            <a:off x="711182" y="3307655"/>
            <a:ext cx="5232269" cy="182563"/>
          </a:xfrm>
          <a:prstGeom prst="rect">
            <a:avLst/>
          </a:prstGeom>
          <a:noFill/>
          <a:ln/>
        </p:spPr>
        <p:txBody>
          <a:bodyPr wrap="none" lIns="0" tIns="0" rIns="0" bIns="0" rtlCol="0" anchor="t"/>
          <a:lstStyle/>
          <a:p>
            <a:pPr marL="0" indent="0" algn="l">
              <a:lnSpc>
                <a:spcPct val="104000"/>
              </a:lnSpc>
              <a:buNone/>
            </a:pPr>
            <a:r>
              <a:rPr lang="en-US" sz="1150" kern="100" spc="92" dirty="0">
                <a:solidFill>
                  <a:srgbClr val="4A5B70"/>
                </a:solidFill>
                <a:latin typeface="Geist SemiBold" pitchFamily="34" charset="0"/>
                <a:ea typeface="Geist SemiBold" pitchFamily="34" charset="-122"/>
                <a:cs typeface="Geist SemiBold" pitchFamily="34" charset="-120"/>
              </a:rPr>
              <a:t>BELOW THE LOWER BOUND</a:t>
            </a:r>
            <a:endParaRPr lang="en-US" sz="1150" dirty="0"/>
          </a:p>
        </p:txBody>
      </p:sp>
      <p:pic>
        <p:nvPicPr>
          <p:cNvPr id="23" name="Image 1" descr="preencoded.png">
            <a:extLst>
              <a:ext uri="{FF2B5EF4-FFF2-40B4-BE49-F238E27FC236}">
                <a16:creationId xmlns:a16="http://schemas.microsoft.com/office/drawing/2014/main" id="{2E84C0DA-D575-9FB5-53F2-A9C4CB37B2CD}"/>
              </a:ext>
            </a:extLst>
          </p:cNvPr>
          <p:cNvPicPr>
            <a:picLocks noChangeAspect="1"/>
          </p:cNvPicPr>
          <p:nvPr/>
        </p:nvPicPr>
        <p:blipFill>
          <a:blip r:embed="rId4"/>
          <a:stretch>
            <a:fillRect/>
          </a:stretch>
        </p:blipFill>
        <p:spPr>
          <a:xfrm>
            <a:off x="711182" y="3621584"/>
            <a:ext cx="4978275" cy="344587"/>
          </a:xfrm>
          <a:prstGeom prst="rect">
            <a:avLst/>
          </a:prstGeom>
        </p:spPr>
      </p:pic>
      <p:sp>
        <p:nvSpPr>
          <p:cNvPr id="25" name="Text 6">
            <a:extLst>
              <a:ext uri="{FF2B5EF4-FFF2-40B4-BE49-F238E27FC236}">
                <a16:creationId xmlns:a16="http://schemas.microsoft.com/office/drawing/2014/main" id="{DD619193-2382-FC15-C168-7BB677BE35E9}"/>
              </a:ext>
            </a:extLst>
          </p:cNvPr>
          <p:cNvSpPr/>
          <p:nvPr/>
        </p:nvSpPr>
        <p:spPr>
          <a:xfrm>
            <a:off x="711182" y="4180483"/>
            <a:ext cx="4978275" cy="317500"/>
          </a:xfrm>
          <a:prstGeom prst="rect">
            <a:avLst/>
          </a:prstGeom>
          <a:noFill/>
          <a:ln/>
        </p:spPr>
        <p:txBody>
          <a:bodyPr wrap="none" lIns="0" tIns="0" rIns="0" bIns="0" rtlCol="0" anchor="t"/>
          <a:lstStyle/>
          <a:p>
            <a:pPr marL="0" indent="0" algn="l">
              <a:lnSpc>
                <a:spcPct val="104000"/>
              </a:lnSpc>
              <a:buNone/>
            </a:pPr>
            <a:r>
              <a:rPr lang="en-US" sz="2000" dirty="0">
                <a:solidFill>
                  <a:srgbClr val="4A5B70"/>
                </a:solidFill>
                <a:latin typeface="Geist SemiBold" pitchFamily="34" charset="0"/>
                <a:ea typeface="Geist SemiBold" pitchFamily="34" charset="-122"/>
                <a:cs typeface="Geist SemiBold" pitchFamily="34" charset="-120"/>
              </a:rPr>
              <a:t>Cap at the lower bound</a:t>
            </a:r>
            <a:endParaRPr lang="en-US" sz="2000" dirty="0"/>
          </a:p>
        </p:txBody>
      </p:sp>
      <p:pic>
        <p:nvPicPr>
          <p:cNvPr id="27" name="Image 2" descr="preencoded.png">
            <a:extLst>
              <a:ext uri="{FF2B5EF4-FFF2-40B4-BE49-F238E27FC236}">
                <a16:creationId xmlns:a16="http://schemas.microsoft.com/office/drawing/2014/main" id="{C7BDB969-F9B5-94A0-53A8-BF11D2B5FE1A}"/>
              </a:ext>
            </a:extLst>
          </p:cNvPr>
          <p:cNvPicPr>
            <a:picLocks noChangeAspect="1"/>
          </p:cNvPicPr>
          <p:nvPr/>
        </p:nvPicPr>
        <p:blipFill>
          <a:blip r:embed="rId5"/>
          <a:stretch>
            <a:fillRect/>
          </a:stretch>
        </p:blipFill>
        <p:spPr>
          <a:xfrm>
            <a:off x="711182" y="4620220"/>
            <a:ext cx="4978275" cy="344587"/>
          </a:xfrm>
          <a:prstGeom prst="rect">
            <a:avLst/>
          </a:prstGeom>
        </p:spPr>
      </p:pic>
      <p:sp>
        <p:nvSpPr>
          <p:cNvPr id="29" name="Shape 7">
            <a:extLst>
              <a:ext uri="{FF2B5EF4-FFF2-40B4-BE49-F238E27FC236}">
                <a16:creationId xmlns:a16="http://schemas.microsoft.com/office/drawing/2014/main" id="{CB803365-B2EE-00ED-390D-339551092F15}"/>
              </a:ext>
            </a:extLst>
          </p:cNvPr>
          <p:cNvSpPr/>
          <p:nvPr/>
        </p:nvSpPr>
        <p:spPr>
          <a:xfrm>
            <a:off x="6248244" y="3051671"/>
            <a:ext cx="5486263" cy="2857401"/>
          </a:xfrm>
          <a:prstGeom prst="roundRect">
            <a:avLst>
              <a:gd name="adj" fmla="val 400"/>
            </a:avLst>
          </a:prstGeom>
          <a:noFill/>
          <a:ln w="25399">
            <a:solidFill>
              <a:srgbClr val="4A5B70"/>
            </a:solidFill>
            <a:prstDash val="solid"/>
          </a:ln>
        </p:spPr>
        <p:txBody>
          <a:bodyPr/>
          <a:lstStyle/>
          <a:p>
            <a:endParaRPr lang="en-US"/>
          </a:p>
        </p:txBody>
      </p:sp>
      <p:sp>
        <p:nvSpPr>
          <p:cNvPr id="31" name="Text 8">
            <a:extLst>
              <a:ext uri="{FF2B5EF4-FFF2-40B4-BE49-F238E27FC236}">
                <a16:creationId xmlns:a16="http://schemas.microsoft.com/office/drawing/2014/main" id="{0C2B0AD7-292E-37F5-2D18-397E6A14DA69}"/>
              </a:ext>
            </a:extLst>
          </p:cNvPr>
          <p:cNvSpPr/>
          <p:nvPr/>
        </p:nvSpPr>
        <p:spPr>
          <a:xfrm>
            <a:off x="6502237" y="3307655"/>
            <a:ext cx="5232269" cy="182563"/>
          </a:xfrm>
          <a:prstGeom prst="rect">
            <a:avLst/>
          </a:prstGeom>
          <a:noFill/>
          <a:ln/>
        </p:spPr>
        <p:txBody>
          <a:bodyPr wrap="none" lIns="0" tIns="0" rIns="0" bIns="0" rtlCol="0" anchor="t"/>
          <a:lstStyle/>
          <a:p>
            <a:pPr marL="0" indent="0" algn="l">
              <a:lnSpc>
                <a:spcPct val="104000"/>
              </a:lnSpc>
              <a:buNone/>
            </a:pPr>
            <a:r>
              <a:rPr lang="en-US" sz="1150" kern="100" spc="92" dirty="0">
                <a:solidFill>
                  <a:srgbClr val="4A5B70"/>
                </a:solidFill>
                <a:latin typeface="Geist SemiBold" pitchFamily="34" charset="0"/>
                <a:ea typeface="Geist SemiBold" pitchFamily="34" charset="-122"/>
                <a:cs typeface="Geist SemiBold" pitchFamily="34" charset="-120"/>
              </a:rPr>
              <a:t>ABOVE THE UPPER BOUND</a:t>
            </a:r>
            <a:endParaRPr lang="en-US" sz="1150" dirty="0"/>
          </a:p>
        </p:txBody>
      </p:sp>
      <p:pic>
        <p:nvPicPr>
          <p:cNvPr id="33" name="Image 3" descr="preencoded.png">
            <a:extLst>
              <a:ext uri="{FF2B5EF4-FFF2-40B4-BE49-F238E27FC236}">
                <a16:creationId xmlns:a16="http://schemas.microsoft.com/office/drawing/2014/main" id="{7EEBD700-D4EE-9A8D-2114-8C9C56AE3903}"/>
              </a:ext>
            </a:extLst>
          </p:cNvPr>
          <p:cNvPicPr>
            <a:picLocks noChangeAspect="1"/>
          </p:cNvPicPr>
          <p:nvPr/>
        </p:nvPicPr>
        <p:blipFill>
          <a:blip r:embed="rId6"/>
          <a:stretch>
            <a:fillRect/>
          </a:stretch>
        </p:blipFill>
        <p:spPr>
          <a:xfrm>
            <a:off x="6502237" y="3621584"/>
            <a:ext cx="4978275" cy="344587"/>
          </a:xfrm>
          <a:prstGeom prst="rect">
            <a:avLst/>
          </a:prstGeom>
        </p:spPr>
      </p:pic>
      <p:sp>
        <p:nvSpPr>
          <p:cNvPr id="35" name="Text 9">
            <a:extLst>
              <a:ext uri="{FF2B5EF4-FFF2-40B4-BE49-F238E27FC236}">
                <a16:creationId xmlns:a16="http://schemas.microsoft.com/office/drawing/2014/main" id="{7952A4B3-B138-81BA-DB3E-F06ABEE47A07}"/>
              </a:ext>
            </a:extLst>
          </p:cNvPr>
          <p:cNvSpPr/>
          <p:nvPr/>
        </p:nvSpPr>
        <p:spPr>
          <a:xfrm>
            <a:off x="6502237" y="4180483"/>
            <a:ext cx="4978275" cy="317500"/>
          </a:xfrm>
          <a:prstGeom prst="rect">
            <a:avLst/>
          </a:prstGeom>
          <a:noFill/>
          <a:ln/>
        </p:spPr>
        <p:txBody>
          <a:bodyPr wrap="none" lIns="0" tIns="0" rIns="0" bIns="0" rtlCol="0" anchor="t"/>
          <a:lstStyle/>
          <a:p>
            <a:pPr marL="0" indent="0" algn="l">
              <a:lnSpc>
                <a:spcPct val="104000"/>
              </a:lnSpc>
              <a:buNone/>
            </a:pPr>
            <a:r>
              <a:rPr lang="en-US" sz="2000" dirty="0">
                <a:solidFill>
                  <a:srgbClr val="4A5B70"/>
                </a:solidFill>
                <a:latin typeface="Geist SemiBold" pitchFamily="34" charset="0"/>
                <a:ea typeface="Geist SemiBold" pitchFamily="34" charset="-122"/>
                <a:cs typeface="Geist SemiBold" pitchFamily="34" charset="-120"/>
              </a:rPr>
              <a:t>Cap at the upper bound</a:t>
            </a:r>
            <a:endParaRPr lang="en-US" sz="2000" dirty="0"/>
          </a:p>
        </p:txBody>
      </p:sp>
      <p:pic>
        <p:nvPicPr>
          <p:cNvPr id="37" name="Image 4" descr="preencoded.png">
            <a:extLst>
              <a:ext uri="{FF2B5EF4-FFF2-40B4-BE49-F238E27FC236}">
                <a16:creationId xmlns:a16="http://schemas.microsoft.com/office/drawing/2014/main" id="{6CFD8EE0-AA0B-8174-DF53-7F76261D8ECB}"/>
              </a:ext>
            </a:extLst>
          </p:cNvPr>
          <p:cNvPicPr>
            <a:picLocks noChangeAspect="1"/>
          </p:cNvPicPr>
          <p:nvPr/>
        </p:nvPicPr>
        <p:blipFill>
          <a:blip r:embed="rId7"/>
          <a:stretch>
            <a:fillRect/>
          </a:stretch>
        </p:blipFill>
        <p:spPr>
          <a:xfrm>
            <a:off x="6502237" y="4620220"/>
            <a:ext cx="4978275" cy="344587"/>
          </a:xfrm>
          <a:prstGeom prst="rect">
            <a:avLst/>
          </a:prstGeom>
        </p:spPr>
      </p:pic>
      <p:sp>
        <p:nvSpPr>
          <p:cNvPr id="39" name="Rectangle 38">
            <a:extLst>
              <a:ext uri="{FF2B5EF4-FFF2-40B4-BE49-F238E27FC236}">
                <a16:creationId xmlns:a16="http://schemas.microsoft.com/office/drawing/2014/main" id="{3D40374C-068C-B58C-A56E-182E45671EE8}"/>
              </a:ext>
            </a:extLst>
          </p:cNvPr>
          <p:cNvSpPr/>
          <p:nvPr/>
        </p:nvSpPr>
        <p:spPr>
          <a:xfrm>
            <a:off x="10982131" y="6447453"/>
            <a:ext cx="1209869" cy="4105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049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7" name="Text 0">
            <a:extLst>
              <a:ext uri="{FF2B5EF4-FFF2-40B4-BE49-F238E27FC236}">
                <a16:creationId xmlns:a16="http://schemas.microsoft.com/office/drawing/2014/main" id="{AD67964D-ED8E-F569-1761-22CF5305ACFB}"/>
              </a:ext>
            </a:extLst>
          </p:cNvPr>
          <p:cNvSpPr/>
          <p:nvPr/>
        </p:nvSpPr>
        <p:spPr>
          <a:xfrm>
            <a:off x="457189" y="459184"/>
            <a:ext cx="11734506" cy="182563"/>
          </a:xfrm>
          <a:prstGeom prst="rect">
            <a:avLst/>
          </a:prstGeom>
          <a:noFill/>
          <a:ln/>
        </p:spPr>
        <p:txBody>
          <a:bodyPr wrap="none" lIns="0" tIns="0" rIns="0" bIns="0" rtlCol="0" anchor="t"/>
          <a:lstStyle/>
          <a:p>
            <a:pPr marL="0" indent="0" algn="l">
              <a:lnSpc>
                <a:spcPct val="104000"/>
              </a:lnSpc>
              <a:buNone/>
            </a:pPr>
            <a:r>
              <a:rPr lang="en-US" sz="1150" kern="100" spc="92" dirty="0">
                <a:solidFill>
                  <a:srgbClr val="4A5B70"/>
                </a:solidFill>
                <a:latin typeface="Geist SemiBold" pitchFamily="34" charset="0"/>
                <a:ea typeface="Geist SemiBold" pitchFamily="34" charset="-122"/>
                <a:cs typeface="Geist SemiBold" pitchFamily="34" charset="-120"/>
              </a:rPr>
              <a:t>PROJECT WORKFLOW</a:t>
            </a:r>
            <a:endParaRPr lang="en-US" sz="1150" dirty="0"/>
          </a:p>
        </p:txBody>
      </p:sp>
      <p:sp>
        <p:nvSpPr>
          <p:cNvPr id="29" name="Text 1">
            <a:extLst>
              <a:ext uri="{FF2B5EF4-FFF2-40B4-BE49-F238E27FC236}">
                <a16:creationId xmlns:a16="http://schemas.microsoft.com/office/drawing/2014/main" id="{2F3E1379-ED68-4E6F-CA6B-2B20FBF8E9B7}"/>
              </a:ext>
            </a:extLst>
          </p:cNvPr>
          <p:cNvSpPr/>
          <p:nvPr/>
        </p:nvSpPr>
        <p:spPr>
          <a:xfrm>
            <a:off x="457189" y="731837"/>
            <a:ext cx="11277318" cy="432991"/>
          </a:xfrm>
          <a:prstGeom prst="rect">
            <a:avLst/>
          </a:prstGeom>
          <a:noFill/>
          <a:ln/>
        </p:spPr>
        <p:txBody>
          <a:bodyPr wrap="none" lIns="0" tIns="0" rIns="0" bIns="0" rtlCol="0" anchor="t"/>
          <a:lstStyle/>
          <a:p>
            <a:pPr marL="0" indent="0" algn="l">
              <a:lnSpc>
                <a:spcPct val="92000"/>
              </a:lnSpc>
              <a:buNone/>
            </a:pPr>
            <a:r>
              <a:rPr lang="en-US" sz="3100" kern="100" spc="-31" dirty="0">
                <a:solidFill>
                  <a:srgbClr val="1B2638"/>
                </a:solidFill>
                <a:latin typeface="Newsreader Medium" pitchFamily="34" charset="0"/>
                <a:ea typeface="Newsreader Medium" pitchFamily="34" charset="-122"/>
                <a:cs typeface="Newsreader Medium" pitchFamily="34" charset="-120"/>
              </a:rPr>
              <a:t>Scaling was applied before training the distance-based models</a:t>
            </a:r>
            <a:endParaRPr lang="en-US" sz="3100" dirty="0"/>
          </a:p>
        </p:txBody>
      </p:sp>
      <p:sp>
        <p:nvSpPr>
          <p:cNvPr id="31" name="Shape 2">
            <a:extLst>
              <a:ext uri="{FF2B5EF4-FFF2-40B4-BE49-F238E27FC236}">
                <a16:creationId xmlns:a16="http://schemas.microsoft.com/office/drawing/2014/main" id="{B77431E8-86F4-0146-38A9-0FDD316D2565}"/>
              </a:ext>
            </a:extLst>
          </p:cNvPr>
          <p:cNvSpPr/>
          <p:nvPr/>
        </p:nvSpPr>
        <p:spPr>
          <a:xfrm>
            <a:off x="457189" y="1439466"/>
            <a:ext cx="11277318" cy="31651"/>
          </a:xfrm>
          <a:prstGeom prst="roundRect">
            <a:avLst>
              <a:gd name="adj" fmla="val 49998"/>
            </a:avLst>
          </a:prstGeom>
          <a:solidFill>
            <a:srgbClr val="397B88"/>
          </a:solidFill>
          <a:ln/>
        </p:spPr>
        <p:txBody>
          <a:bodyPr/>
          <a:lstStyle/>
          <a:p>
            <a:endParaRPr lang="en-US"/>
          </a:p>
        </p:txBody>
      </p:sp>
      <p:sp>
        <p:nvSpPr>
          <p:cNvPr id="33" name="Shape 3">
            <a:extLst>
              <a:ext uri="{FF2B5EF4-FFF2-40B4-BE49-F238E27FC236}">
                <a16:creationId xmlns:a16="http://schemas.microsoft.com/office/drawing/2014/main" id="{E22CF49D-7379-6B45-DBA4-8F5472E1A28D}"/>
              </a:ext>
            </a:extLst>
          </p:cNvPr>
          <p:cNvSpPr/>
          <p:nvPr/>
        </p:nvSpPr>
        <p:spPr>
          <a:xfrm>
            <a:off x="457189" y="2401292"/>
            <a:ext cx="1503623" cy="812800"/>
          </a:xfrm>
          <a:prstGeom prst="rect">
            <a:avLst/>
          </a:prstGeom>
          <a:solidFill>
            <a:srgbClr val="4A5B70"/>
          </a:solidFill>
          <a:ln/>
        </p:spPr>
        <p:txBody>
          <a:bodyPr/>
          <a:lstStyle/>
          <a:p>
            <a:endParaRPr lang="en-US"/>
          </a:p>
        </p:txBody>
      </p:sp>
      <p:sp>
        <p:nvSpPr>
          <p:cNvPr id="35" name="Shape 4">
            <a:extLst>
              <a:ext uri="{FF2B5EF4-FFF2-40B4-BE49-F238E27FC236}">
                <a16:creationId xmlns:a16="http://schemas.microsoft.com/office/drawing/2014/main" id="{B3E5F293-B211-C5B7-1FBE-D88272609111}"/>
              </a:ext>
            </a:extLst>
          </p:cNvPr>
          <p:cNvSpPr/>
          <p:nvPr/>
        </p:nvSpPr>
        <p:spPr>
          <a:xfrm>
            <a:off x="469789" y="2413893"/>
            <a:ext cx="1478223" cy="787400"/>
          </a:xfrm>
          <a:prstGeom prst="rect">
            <a:avLst/>
          </a:prstGeom>
          <a:solidFill>
            <a:srgbClr val="FFFFFF"/>
          </a:solidFill>
          <a:ln/>
        </p:spPr>
        <p:txBody>
          <a:bodyPr/>
          <a:lstStyle/>
          <a:p>
            <a:endParaRPr lang="en-US"/>
          </a:p>
        </p:txBody>
      </p:sp>
      <p:sp>
        <p:nvSpPr>
          <p:cNvPr id="37" name="Text 5">
            <a:extLst>
              <a:ext uri="{FF2B5EF4-FFF2-40B4-BE49-F238E27FC236}">
                <a16:creationId xmlns:a16="http://schemas.microsoft.com/office/drawing/2014/main" id="{FA92A5BC-DE45-D09B-5893-DC842BD53F80}"/>
              </a:ext>
            </a:extLst>
          </p:cNvPr>
          <p:cNvSpPr/>
          <p:nvPr/>
        </p:nvSpPr>
        <p:spPr>
          <a:xfrm>
            <a:off x="1113901" y="2655292"/>
            <a:ext cx="799782" cy="304800"/>
          </a:xfrm>
          <a:prstGeom prst="rect">
            <a:avLst/>
          </a:prstGeom>
          <a:noFill/>
          <a:ln/>
        </p:spPr>
        <p:txBody>
          <a:bodyPr wrap="none" lIns="0" tIns="0" rIns="0" bIns="0" rtlCol="0" anchor="t"/>
          <a:lstStyle/>
          <a:p>
            <a:pPr marL="0" indent="0" algn="l">
              <a:lnSpc>
                <a:spcPct val="83000"/>
              </a:lnSpc>
              <a:buNone/>
            </a:pPr>
            <a:r>
              <a:rPr lang="en-US" sz="2400" dirty="0">
                <a:solidFill>
                  <a:srgbClr val="2B3139"/>
                </a:solidFill>
                <a:latin typeface="Geist SemiBold" pitchFamily="34" charset="0"/>
                <a:ea typeface="Geist SemiBold" pitchFamily="34" charset="-122"/>
                <a:cs typeface="Geist SemiBold" pitchFamily="34" charset="-120"/>
              </a:rPr>
              <a:t>1</a:t>
            </a:r>
            <a:endParaRPr lang="en-US" sz="2400" dirty="0"/>
          </a:p>
        </p:txBody>
      </p:sp>
      <p:sp>
        <p:nvSpPr>
          <p:cNvPr id="39" name="Text 6">
            <a:extLst>
              <a:ext uri="{FF2B5EF4-FFF2-40B4-BE49-F238E27FC236}">
                <a16:creationId xmlns:a16="http://schemas.microsoft.com/office/drawing/2014/main" id="{5BD33E60-974B-4DBC-028E-B66D43185834}"/>
              </a:ext>
            </a:extLst>
          </p:cNvPr>
          <p:cNvSpPr/>
          <p:nvPr/>
        </p:nvSpPr>
        <p:spPr>
          <a:xfrm>
            <a:off x="660383" y="3314899"/>
            <a:ext cx="1097233" cy="809625"/>
          </a:xfrm>
          <a:prstGeom prst="rect">
            <a:avLst/>
          </a:prstGeom>
          <a:noFill/>
          <a:ln/>
        </p:spPr>
        <p:txBody>
          <a:bodyPr wrap="square" lIns="0" tIns="0" rIns="0" bIns="0" rtlCol="0" anchor="t">
            <a:normAutofit/>
          </a:bodyPr>
          <a:lstStyle/>
          <a:p>
            <a:pPr marL="0" indent="0" algn="l">
              <a:lnSpc>
                <a:spcPct val="104000"/>
              </a:lnSpc>
              <a:buNone/>
            </a:pPr>
            <a:r>
              <a:rPr lang="en-US" sz="1700" dirty="0">
                <a:solidFill>
                  <a:srgbClr val="4A5B70"/>
                </a:solidFill>
                <a:latin typeface="Geist SemiBold" pitchFamily="34" charset="0"/>
                <a:ea typeface="Geist SemiBold" pitchFamily="34" charset="-122"/>
                <a:cs typeface="Geist SemiBold" pitchFamily="34" charset="-120"/>
              </a:rPr>
              <a:t>Import Libraries &amp; Dataset</a:t>
            </a:r>
            <a:endParaRPr lang="en-US" sz="1700" dirty="0"/>
          </a:p>
        </p:txBody>
      </p:sp>
      <p:sp>
        <p:nvSpPr>
          <p:cNvPr id="41" name="Shape 7">
            <a:extLst>
              <a:ext uri="{FF2B5EF4-FFF2-40B4-BE49-F238E27FC236}">
                <a16:creationId xmlns:a16="http://schemas.microsoft.com/office/drawing/2014/main" id="{ADCF3DDA-077F-6316-BBAC-F5980509CC30}"/>
              </a:ext>
            </a:extLst>
          </p:cNvPr>
          <p:cNvSpPr/>
          <p:nvPr/>
        </p:nvSpPr>
        <p:spPr>
          <a:xfrm>
            <a:off x="1960811" y="2401292"/>
            <a:ext cx="1917156" cy="812800"/>
          </a:xfrm>
          <a:prstGeom prst="rect">
            <a:avLst/>
          </a:prstGeom>
          <a:solidFill>
            <a:srgbClr val="4A5B70"/>
          </a:solidFill>
          <a:ln/>
        </p:spPr>
        <p:txBody>
          <a:bodyPr/>
          <a:lstStyle/>
          <a:p>
            <a:endParaRPr lang="en-US"/>
          </a:p>
        </p:txBody>
      </p:sp>
      <p:sp>
        <p:nvSpPr>
          <p:cNvPr id="43" name="Shape 8">
            <a:extLst>
              <a:ext uri="{FF2B5EF4-FFF2-40B4-BE49-F238E27FC236}">
                <a16:creationId xmlns:a16="http://schemas.microsoft.com/office/drawing/2014/main" id="{B5098C12-9B08-4B0A-B207-AA2DABB3D28A}"/>
              </a:ext>
            </a:extLst>
          </p:cNvPr>
          <p:cNvSpPr/>
          <p:nvPr/>
        </p:nvSpPr>
        <p:spPr>
          <a:xfrm>
            <a:off x="1973412" y="2413893"/>
            <a:ext cx="1891757" cy="787400"/>
          </a:xfrm>
          <a:prstGeom prst="rect">
            <a:avLst/>
          </a:prstGeom>
          <a:solidFill>
            <a:srgbClr val="FFFFFF"/>
          </a:solidFill>
          <a:ln/>
        </p:spPr>
        <p:txBody>
          <a:bodyPr/>
          <a:lstStyle/>
          <a:p>
            <a:endParaRPr lang="en-US"/>
          </a:p>
        </p:txBody>
      </p:sp>
      <p:sp>
        <p:nvSpPr>
          <p:cNvPr id="45" name="Text 9">
            <a:extLst>
              <a:ext uri="{FF2B5EF4-FFF2-40B4-BE49-F238E27FC236}">
                <a16:creationId xmlns:a16="http://schemas.microsoft.com/office/drawing/2014/main" id="{37919A91-33B2-5902-B959-3F02EFF8E01C}"/>
              </a:ext>
            </a:extLst>
          </p:cNvPr>
          <p:cNvSpPr/>
          <p:nvPr/>
        </p:nvSpPr>
        <p:spPr>
          <a:xfrm>
            <a:off x="2824290" y="2655292"/>
            <a:ext cx="799782" cy="304800"/>
          </a:xfrm>
          <a:prstGeom prst="rect">
            <a:avLst/>
          </a:prstGeom>
          <a:noFill/>
          <a:ln/>
        </p:spPr>
        <p:txBody>
          <a:bodyPr wrap="none" lIns="0" tIns="0" rIns="0" bIns="0" rtlCol="0" anchor="t"/>
          <a:lstStyle/>
          <a:p>
            <a:pPr marL="0" indent="0" algn="l">
              <a:lnSpc>
                <a:spcPct val="83000"/>
              </a:lnSpc>
              <a:buNone/>
            </a:pPr>
            <a:r>
              <a:rPr lang="en-US" sz="2400" dirty="0">
                <a:solidFill>
                  <a:srgbClr val="2B3139"/>
                </a:solidFill>
                <a:latin typeface="Geist SemiBold" pitchFamily="34" charset="0"/>
                <a:ea typeface="Geist SemiBold" pitchFamily="34" charset="-122"/>
                <a:cs typeface="Geist SemiBold" pitchFamily="34" charset="-120"/>
              </a:rPr>
              <a:t>2</a:t>
            </a:r>
            <a:endParaRPr lang="en-US" sz="2400" dirty="0"/>
          </a:p>
        </p:txBody>
      </p:sp>
      <p:sp>
        <p:nvSpPr>
          <p:cNvPr id="47" name="Text 10">
            <a:extLst>
              <a:ext uri="{FF2B5EF4-FFF2-40B4-BE49-F238E27FC236}">
                <a16:creationId xmlns:a16="http://schemas.microsoft.com/office/drawing/2014/main" id="{8161EC83-C0A1-0B5D-2952-26D19081A838}"/>
              </a:ext>
            </a:extLst>
          </p:cNvPr>
          <p:cNvSpPr/>
          <p:nvPr/>
        </p:nvSpPr>
        <p:spPr>
          <a:xfrm>
            <a:off x="2164006" y="3314899"/>
            <a:ext cx="1510766" cy="269875"/>
          </a:xfrm>
          <a:prstGeom prst="rect">
            <a:avLst/>
          </a:prstGeom>
          <a:noFill/>
          <a:ln/>
        </p:spPr>
        <p:txBody>
          <a:bodyPr wrap="none" lIns="0" tIns="0" rIns="0" bIns="0" rtlCol="0" anchor="t"/>
          <a:lstStyle/>
          <a:p>
            <a:pPr marL="0" indent="0" algn="l">
              <a:lnSpc>
                <a:spcPct val="104000"/>
              </a:lnSpc>
              <a:buNone/>
            </a:pPr>
            <a:r>
              <a:rPr lang="en-US" sz="1700" dirty="0">
                <a:solidFill>
                  <a:srgbClr val="4A5B70"/>
                </a:solidFill>
                <a:latin typeface="Geist SemiBold" pitchFamily="34" charset="0"/>
                <a:ea typeface="Geist SemiBold" pitchFamily="34" charset="-122"/>
                <a:cs typeface="Geist SemiBold" pitchFamily="34" charset="-120"/>
              </a:rPr>
              <a:t>Preprocessing</a:t>
            </a:r>
            <a:endParaRPr lang="en-US" sz="1700" dirty="0"/>
          </a:p>
        </p:txBody>
      </p:sp>
      <p:sp>
        <p:nvSpPr>
          <p:cNvPr id="49" name="Shape 11">
            <a:extLst>
              <a:ext uri="{FF2B5EF4-FFF2-40B4-BE49-F238E27FC236}">
                <a16:creationId xmlns:a16="http://schemas.microsoft.com/office/drawing/2014/main" id="{370C9BC4-E358-2B63-088B-85BE947E77EF}"/>
              </a:ext>
            </a:extLst>
          </p:cNvPr>
          <p:cNvSpPr/>
          <p:nvPr/>
        </p:nvSpPr>
        <p:spPr>
          <a:xfrm>
            <a:off x="3877967" y="2401292"/>
            <a:ext cx="2048717" cy="812800"/>
          </a:xfrm>
          <a:prstGeom prst="rect">
            <a:avLst/>
          </a:prstGeom>
          <a:solidFill>
            <a:srgbClr val="4A5B70"/>
          </a:solidFill>
          <a:ln/>
        </p:spPr>
        <p:txBody>
          <a:bodyPr/>
          <a:lstStyle/>
          <a:p>
            <a:endParaRPr lang="en-US"/>
          </a:p>
        </p:txBody>
      </p:sp>
      <p:sp>
        <p:nvSpPr>
          <p:cNvPr id="51" name="Shape 12">
            <a:extLst>
              <a:ext uri="{FF2B5EF4-FFF2-40B4-BE49-F238E27FC236}">
                <a16:creationId xmlns:a16="http://schemas.microsoft.com/office/drawing/2014/main" id="{753A0BF8-7DEC-24A6-FD67-1293B4145FC1}"/>
              </a:ext>
            </a:extLst>
          </p:cNvPr>
          <p:cNvSpPr/>
          <p:nvPr/>
        </p:nvSpPr>
        <p:spPr>
          <a:xfrm>
            <a:off x="3890568" y="2413893"/>
            <a:ext cx="2023218" cy="787400"/>
          </a:xfrm>
          <a:prstGeom prst="rect">
            <a:avLst/>
          </a:prstGeom>
          <a:solidFill>
            <a:srgbClr val="FFFFFF"/>
          </a:solidFill>
          <a:ln/>
        </p:spPr>
        <p:txBody>
          <a:bodyPr/>
          <a:lstStyle/>
          <a:p>
            <a:endParaRPr lang="en-US"/>
          </a:p>
        </p:txBody>
      </p:sp>
      <p:sp>
        <p:nvSpPr>
          <p:cNvPr id="53" name="Text 13">
            <a:extLst>
              <a:ext uri="{FF2B5EF4-FFF2-40B4-BE49-F238E27FC236}">
                <a16:creationId xmlns:a16="http://schemas.microsoft.com/office/drawing/2014/main" id="{FCCB5F1A-2BCB-6F5F-5677-B7205D68139D}"/>
              </a:ext>
            </a:extLst>
          </p:cNvPr>
          <p:cNvSpPr/>
          <p:nvPr/>
        </p:nvSpPr>
        <p:spPr>
          <a:xfrm>
            <a:off x="4807227" y="2655292"/>
            <a:ext cx="799782" cy="304800"/>
          </a:xfrm>
          <a:prstGeom prst="rect">
            <a:avLst/>
          </a:prstGeom>
          <a:noFill/>
          <a:ln/>
        </p:spPr>
        <p:txBody>
          <a:bodyPr wrap="none" lIns="0" tIns="0" rIns="0" bIns="0" rtlCol="0" anchor="t"/>
          <a:lstStyle/>
          <a:p>
            <a:pPr marL="0" indent="0" algn="l">
              <a:lnSpc>
                <a:spcPct val="83000"/>
              </a:lnSpc>
              <a:buNone/>
            </a:pPr>
            <a:r>
              <a:rPr lang="en-US" sz="2400" dirty="0">
                <a:solidFill>
                  <a:srgbClr val="2B3139"/>
                </a:solidFill>
                <a:latin typeface="Geist SemiBold" pitchFamily="34" charset="0"/>
                <a:ea typeface="Geist SemiBold" pitchFamily="34" charset="-122"/>
                <a:cs typeface="Geist SemiBold" pitchFamily="34" charset="-120"/>
              </a:rPr>
              <a:t>3</a:t>
            </a:r>
            <a:endParaRPr lang="en-US" sz="2400" dirty="0"/>
          </a:p>
        </p:txBody>
      </p:sp>
      <p:sp>
        <p:nvSpPr>
          <p:cNvPr id="55" name="Text 14">
            <a:extLst>
              <a:ext uri="{FF2B5EF4-FFF2-40B4-BE49-F238E27FC236}">
                <a16:creationId xmlns:a16="http://schemas.microsoft.com/office/drawing/2014/main" id="{4C2007D2-F1F7-3D5C-BE64-A00A5B71EE0A}"/>
              </a:ext>
            </a:extLst>
          </p:cNvPr>
          <p:cNvSpPr/>
          <p:nvPr/>
        </p:nvSpPr>
        <p:spPr>
          <a:xfrm>
            <a:off x="4081162" y="3314899"/>
            <a:ext cx="1642327" cy="269875"/>
          </a:xfrm>
          <a:prstGeom prst="rect">
            <a:avLst/>
          </a:prstGeom>
          <a:noFill/>
          <a:ln/>
        </p:spPr>
        <p:txBody>
          <a:bodyPr wrap="none" lIns="0" tIns="0" rIns="0" bIns="0" rtlCol="0" anchor="t"/>
          <a:lstStyle/>
          <a:p>
            <a:pPr marL="0" indent="0" algn="l">
              <a:lnSpc>
                <a:spcPct val="104000"/>
              </a:lnSpc>
              <a:buNone/>
            </a:pPr>
            <a:r>
              <a:rPr lang="en-US" sz="1700" dirty="0">
                <a:solidFill>
                  <a:srgbClr val="4A5B70"/>
                </a:solidFill>
                <a:latin typeface="Geist SemiBold" pitchFamily="34" charset="0"/>
                <a:ea typeface="Geist SemiBold" pitchFamily="34" charset="-122"/>
                <a:cs typeface="Geist SemiBold" pitchFamily="34" charset="-120"/>
              </a:rPr>
              <a:t>Train/Test Split</a:t>
            </a:r>
            <a:endParaRPr lang="en-US" sz="1700" dirty="0"/>
          </a:p>
        </p:txBody>
      </p:sp>
      <p:sp>
        <p:nvSpPr>
          <p:cNvPr id="57" name="Shape 15">
            <a:extLst>
              <a:ext uri="{FF2B5EF4-FFF2-40B4-BE49-F238E27FC236}">
                <a16:creationId xmlns:a16="http://schemas.microsoft.com/office/drawing/2014/main" id="{2F1720E9-18C4-B182-2256-0734BB0C3F6E}"/>
              </a:ext>
            </a:extLst>
          </p:cNvPr>
          <p:cNvSpPr/>
          <p:nvPr/>
        </p:nvSpPr>
        <p:spPr>
          <a:xfrm>
            <a:off x="5926684" y="2401292"/>
            <a:ext cx="1503623" cy="812800"/>
          </a:xfrm>
          <a:prstGeom prst="rect">
            <a:avLst/>
          </a:prstGeom>
          <a:solidFill>
            <a:srgbClr val="4A5B70"/>
          </a:solidFill>
          <a:ln/>
        </p:spPr>
        <p:txBody>
          <a:bodyPr/>
          <a:lstStyle/>
          <a:p>
            <a:endParaRPr lang="en-US"/>
          </a:p>
        </p:txBody>
      </p:sp>
      <p:sp>
        <p:nvSpPr>
          <p:cNvPr id="59" name="Shape 16">
            <a:extLst>
              <a:ext uri="{FF2B5EF4-FFF2-40B4-BE49-F238E27FC236}">
                <a16:creationId xmlns:a16="http://schemas.microsoft.com/office/drawing/2014/main" id="{22FF9F72-5A02-7482-AFF6-34548E2030A5}"/>
              </a:ext>
            </a:extLst>
          </p:cNvPr>
          <p:cNvSpPr/>
          <p:nvPr/>
        </p:nvSpPr>
        <p:spPr>
          <a:xfrm>
            <a:off x="5939284" y="2413893"/>
            <a:ext cx="1478223" cy="787400"/>
          </a:xfrm>
          <a:prstGeom prst="rect">
            <a:avLst/>
          </a:prstGeom>
          <a:solidFill>
            <a:srgbClr val="FFFFFF"/>
          </a:solidFill>
          <a:ln/>
        </p:spPr>
        <p:txBody>
          <a:bodyPr/>
          <a:lstStyle/>
          <a:p>
            <a:endParaRPr lang="en-US"/>
          </a:p>
        </p:txBody>
      </p:sp>
      <p:sp>
        <p:nvSpPr>
          <p:cNvPr id="61" name="Text 17">
            <a:extLst>
              <a:ext uri="{FF2B5EF4-FFF2-40B4-BE49-F238E27FC236}">
                <a16:creationId xmlns:a16="http://schemas.microsoft.com/office/drawing/2014/main" id="{0C40AD22-CC0B-596E-D24E-13F92022956E}"/>
              </a:ext>
            </a:extLst>
          </p:cNvPr>
          <p:cNvSpPr/>
          <p:nvPr/>
        </p:nvSpPr>
        <p:spPr>
          <a:xfrm>
            <a:off x="6583396" y="2655292"/>
            <a:ext cx="799782" cy="304800"/>
          </a:xfrm>
          <a:prstGeom prst="rect">
            <a:avLst/>
          </a:prstGeom>
          <a:noFill/>
          <a:ln/>
        </p:spPr>
        <p:txBody>
          <a:bodyPr wrap="none" lIns="0" tIns="0" rIns="0" bIns="0" rtlCol="0" anchor="t"/>
          <a:lstStyle/>
          <a:p>
            <a:pPr marL="0" indent="0" algn="l">
              <a:lnSpc>
                <a:spcPct val="83000"/>
              </a:lnSpc>
              <a:buNone/>
            </a:pPr>
            <a:r>
              <a:rPr lang="en-US" sz="2400" dirty="0">
                <a:solidFill>
                  <a:srgbClr val="2B3139"/>
                </a:solidFill>
                <a:latin typeface="Geist SemiBold" pitchFamily="34" charset="0"/>
                <a:ea typeface="Geist SemiBold" pitchFamily="34" charset="-122"/>
                <a:cs typeface="Geist SemiBold" pitchFamily="34" charset="-120"/>
              </a:rPr>
              <a:t>4</a:t>
            </a:r>
            <a:endParaRPr lang="en-US" sz="2400" dirty="0"/>
          </a:p>
        </p:txBody>
      </p:sp>
      <p:sp>
        <p:nvSpPr>
          <p:cNvPr id="63" name="Text 18">
            <a:extLst>
              <a:ext uri="{FF2B5EF4-FFF2-40B4-BE49-F238E27FC236}">
                <a16:creationId xmlns:a16="http://schemas.microsoft.com/office/drawing/2014/main" id="{F630BCB4-35B9-B0ED-52FE-FC8DEB115045}"/>
              </a:ext>
            </a:extLst>
          </p:cNvPr>
          <p:cNvSpPr/>
          <p:nvPr/>
        </p:nvSpPr>
        <p:spPr>
          <a:xfrm>
            <a:off x="6129879" y="3314899"/>
            <a:ext cx="1097233" cy="539750"/>
          </a:xfrm>
          <a:prstGeom prst="rect">
            <a:avLst/>
          </a:prstGeom>
          <a:noFill/>
          <a:ln/>
        </p:spPr>
        <p:txBody>
          <a:bodyPr wrap="square" lIns="0" tIns="0" rIns="0" bIns="0" rtlCol="0" anchor="t">
            <a:normAutofit/>
          </a:bodyPr>
          <a:lstStyle/>
          <a:p>
            <a:pPr marL="0" indent="0" algn="l">
              <a:lnSpc>
                <a:spcPct val="104000"/>
              </a:lnSpc>
              <a:buNone/>
            </a:pPr>
            <a:r>
              <a:rPr lang="en-US" sz="1700" dirty="0">
                <a:solidFill>
                  <a:srgbClr val="4A5B70"/>
                </a:solidFill>
                <a:latin typeface="Geist SemiBold" pitchFamily="34" charset="0"/>
                <a:ea typeface="Geist SemiBold" pitchFamily="34" charset="-122"/>
                <a:cs typeface="Geist SemiBold" pitchFamily="34" charset="-120"/>
              </a:rPr>
              <a:t>Feature Scaling</a:t>
            </a:r>
            <a:endParaRPr lang="en-US" sz="1700" dirty="0"/>
          </a:p>
        </p:txBody>
      </p:sp>
      <p:sp>
        <p:nvSpPr>
          <p:cNvPr id="65" name="Shape 19">
            <a:extLst>
              <a:ext uri="{FF2B5EF4-FFF2-40B4-BE49-F238E27FC236}">
                <a16:creationId xmlns:a16="http://schemas.microsoft.com/office/drawing/2014/main" id="{C20BF14B-8CA4-694C-C6AB-ED09971E067B}"/>
              </a:ext>
            </a:extLst>
          </p:cNvPr>
          <p:cNvSpPr/>
          <p:nvPr/>
        </p:nvSpPr>
        <p:spPr>
          <a:xfrm>
            <a:off x="7430306" y="2401292"/>
            <a:ext cx="1259253" cy="812800"/>
          </a:xfrm>
          <a:prstGeom prst="rect">
            <a:avLst/>
          </a:prstGeom>
          <a:solidFill>
            <a:srgbClr val="4A5B70"/>
          </a:solidFill>
          <a:ln/>
        </p:spPr>
        <p:txBody>
          <a:bodyPr/>
          <a:lstStyle/>
          <a:p>
            <a:endParaRPr lang="en-US"/>
          </a:p>
        </p:txBody>
      </p:sp>
      <p:sp>
        <p:nvSpPr>
          <p:cNvPr id="67" name="Shape 20">
            <a:extLst>
              <a:ext uri="{FF2B5EF4-FFF2-40B4-BE49-F238E27FC236}">
                <a16:creationId xmlns:a16="http://schemas.microsoft.com/office/drawing/2014/main" id="{29F26ED9-3C60-DD67-F678-4EB40C9CD8DF}"/>
              </a:ext>
            </a:extLst>
          </p:cNvPr>
          <p:cNvSpPr/>
          <p:nvPr/>
        </p:nvSpPr>
        <p:spPr>
          <a:xfrm>
            <a:off x="7442907" y="2413893"/>
            <a:ext cx="1233854" cy="787400"/>
          </a:xfrm>
          <a:prstGeom prst="rect">
            <a:avLst/>
          </a:prstGeom>
          <a:solidFill>
            <a:srgbClr val="FFFFFF"/>
          </a:solidFill>
          <a:ln/>
        </p:spPr>
        <p:txBody>
          <a:bodyPr/>
          <a:lstStyle/>
          <a:p>
            <a:endParaRPr lang="en-US"/>
          </a:p>
        </p:txBody>
      </p:sp>
      <p:sp>
        <p:nvSpPr>
          <p:cNvPr id="69" name="Text 21">
            <a:extLst>
              <a:ext uri="{FF2B5EF4-FFF2-40B4-BE49-F238E27FC236}">
                <a16:creationId xmlns:a16="http://schemas.microsoft.com/office/drawing/2014/main" id="{3BD1B6DF-B2F2-3B3F-26C1-E147C382B037}"/>
              </a:ext>
            </a:extLst>
          </p:cNvPr>
          <p:cNvSpPr/>
          <p:nvPr/>
        </p:nvSpPr>
        <p:spPr>
          <a:xfrm>
            <a:off x="7964784" y="2655292"/>
            <a:ext cx="724775" cy="304800"/>
          </a:xfrm>
          <a:prstGeom prst="rect">
            <a:avLst/>
          </a:prstGeom>
          <a:noFill/>
          <a:ln/>
        </p:spPr>
        <p:txBody>
          <a:bodyPr wrap="none" lIns="0" tIns="0" rIns="0" bIns="0" rtlCol="0" anchor="t"/>
          <a:lstStyle/>
          <a:p>
            <a:pPr marL="0" indent="0" algn="l">
              <a:lnSpc>
                <a:spcPct val="83000"/>
              </a:lnSpc>
              <a:buNone/>
            </a:pPr>
            <a:r>
              <a:rPr lang="en-US" sz="2400" dirty="0">
                <a:solidFill>
                  <a:srgbClr val="2B3139"/>
                </a:solidFill>
                <a:latin typeface="Geist SemiBold" pitchFamily="34" charset="0"/>
                <a:ea typeface="Geist SemiBold" pitchFamily="34" charset="-122"/>
                <a:cs typeface="Geist SemiBold" pitchFamily="34" charset="-120"/>
              </a:rPr>
              <a:t>5</a:t>
            </a:r>
            <a:endParaRPr lang="en-US" sz="2400" dirty="0"/>
          </a:p>
        </p:txBody>
      </p:sp>
      <p:sp>
        <p:nvSpPr>
          <p:cNvPr id="71" name="Text 22">
            <a:extLst>
              <a:ext uri="{FF2B5EF4-FFF2-40B4-BE49-F238E27FC236}">
                <a16:creationId xmlns:a16="http://schemas.microsoft.com/office/drawing/2014/main" id="{C7608578-B038-38A3-3C98-54413EB09DD5}"/>
              </a:ext>
            </a:extLst>
          </p:cNvPr>
          <p:cNvSpPr/>
          <p:nvPr/>
        </p:nvSpPr>
        <p:spPr>
          <a:xfrm>
            <a:off x="7633501" y="3314899"/>
            <a:ext cx="852863" cy="539750"/>
          </a:xfrm>
          <a:prstGeom prst="rect">
            <a:avLst/>
          </a:prstGeom>
          <a:noFill/>
          <a:ln/>
        </p:spPr>
        <p:txBody>
          <a:bodyPr wrap="square" lIns="0" tIns="0" rIns="0" bIns="0" rtlCol="0" anchor="t">
            <a:normAutofit/>
          </a:bodyPr>
          <a:lstStyle/>
          <a:p>
            <a:pPr marL="0" indent="0" algn="l">
              <a:lnSpc>
                <a:spcPct val="104000"/>
              </a:lnSpc>
              <a:buNone/>
            </a:pPr>
            <a:r>
              <a:rPr lang="en-US" sz="1700" dirty="0">
                <a:solidFill>
                  <a:srgbClr val="4A5B70"/>
                </a:solidFill>
                <a:latin typeface="Geist SemiBold" pitchFamily="34" charset="0"/>
                <a:ea typeface="Geist SemiBold" pitchFamily="34" charset="-122"/>
                <a:cs typeface="Geist SemiBold" pitchFamily="34" charset="-120"/>
              </a:rPr>
              <a:t>Model Training</a:t>
            </a:r>
            <a:endParaRPr lang="en-US" sz="1700" dirty="0"/>
          </a:p>
        </p:txBody>
      </p:sp>
      <p:sp>
        <p:nvSpPr>
          <p:cNvPr id="73" name="Shape 23">
            <a:extLst>
              <a:ext uri="{FF2B5EF4-FFF2-40B4-BE49-F238E27FC236}">
                <a16:creationId xmlns:a16="http://schemas.microsoft.com/office/drawing/2014/main" id="{8CDFEE74-95D8-E04B-7440-69C4BABC789B}"/>
              </a:ext>
            </a:extLst>
          </p:cNvPr>
          <p:cNvSpPr/>
          <p:nvPr/>
        </p:nvSpPr>
        <p:spPr>
          <a:xfrm>
            <a:off x="8689559" y="2401292"/>
            <a:ext cx="1503623" cy="812800"/>
          </a:xfrm>
          <a:prstGeom prst="rect">
            <a:avLst/>
          </a:prstGeom>
          <a:solidFill>
            <a:srgbClr val="4A5B70"/>
          </a:solidFill>
          <a:ln/>
        </p:spPr>
        <p:txBody>
          <a:bodyPr/>
          <a:lstStyle/>
          <a:p>
            <a:endParaRPr lang="en-US"/>
          </a:p>
        </p:txBody>
      </p:sp>
      <p:sp>
        <p:nvSpPr>
          <p:cNvPr id="75" name="Shape 24">
            <a:extLst>
              <a:ext uri="{FF2B5EF4-FFF2-40B4-BE49-F238E27FC236}">
                <a16:creationId xmlns:a16="http://schemas.microsoft.com/office/drawing/2014/main" id="{50DF108D-1D83-FAF5-D1BF-BB263FCDA755}"/>
              </a:ext>
            </a:extLst>
          </p:cNvPr>
          <p:cNvSpPr/>
          <p:nvPr/>
        </p:nvSpPr>
        <p:spPr>
          <a:xfrm>
            <a:off x="8702160" y="2413893"/>
            <a:ext cx="1478223" cy="787400"/>
          </a:xfrm>
          <a:prstGeom prst="rect">
            <a:avLst/>
          </a:prstGeom>
          <a:solidFill>
            <a:srgbClr val="FFFFFF"/>
          </a:solidFill>
          <a:ln/>
        </p:spPr>
        <p:txBody>
          <a:bodyPr/>
          <a:lstStyle/>
          <a:p>
            <a:endParaRPr lang="en-US"/>
          </a:p>
        </p:txBody>
      </p:sp>
      <p:sp>
        <p:nvSpPr>
          <p:cNvPr id="77" name="Text 25">
            <a:extLst>
              <a:ext uri="{FF2B5EF4-FFF2-40B4-BE49-F238E27FC236}">
                <a16:creationId xmlns:a16="http://schemas.microsoft.com/office/drawing/2014/main" id="{9C588F81-4D52-2BBF-52DB-EE726609D911}"/>
              </a:ext>
            </a:extLst>
          </p:cNvPr>
          <p:cNvSpPr/>
          <p:nvPr/>
        </p:nvSpPr>
        <p:spPr>
          <a:xfrm>
            <a:off x="9346272" y="2655292"/>
            <a:ext cx="799782" cy="304800"/>
          </a:xfrm>
          <a:prstGeom prst="rect">
            <a:avLst/>
          </a:prstGeom>
          <a:noFill/>
          <a:ln/>
        </p:spPr>
        <p:txBody>
          <a:bodyPr wrap="none" lIns="0" tIns="0" rIns="0" bIns="0" rtlCol="0" anchor="t"/>
          <a:lstStyle/>
          <a:p>
            <a:pPr marL="0" indent="0" algn="l">
              <a:lnSpc>
                <a:spcPct val="83000"/>
              </a:lnSpc>
              <a:buNone/>
            </a:pPr>
            <a:r>
              <a:rPr lang="en-US" sz="2400" dirty="0">
                <a:solidFill>
                  <a:srgbClr val="2B3139"/>
                </a:solidFill>
                <a:latin typeface="Geist SemiBold" pitchFamily="34" charset="0"/>
                <a:ea typeface="Geist SemiBold" pitchFamily="34" charset="-122"/>
                <a:cs typeface="Geist SemiBold" pitchFamily="34" charset="-120"/>
              </a:rPr>
              <a:t>6</a:t>
            </a:r>
            <a:endParaRPr lang="en-US" sz="2400" dirty="0"/>
          </a:p>
        </p:txBody>
      </p:sp>
      <p:sp>
        <p:nvSpPr>
          <p:cNvPr id="79" name="Text 26">
            <a:extLst>
              <a:ext uri="{FF2B5EF4-FFF2-40B4-BE49-F238E27FC236}">
                <a16:creationId xmlns:a16="http://schemas.microsoft.com/office/drawing/2014/main" id="{F67B58B7-2319-5D6C-0080-2AD08617D6B8}"/>
              </a:ext>
            </a:extLst>
          </p:cNvPr>
          <p:cNvSpPr/>
          <p:nvPr/>
        </p:nvSpPr>
        <p:spPr>
          <a:xfrm>
            <a:off x="8892754" y="3314899"/>
            <a:ext cx="1097233" cy="539750"/>
          </a:xfrm>
          <a:prstGeom prst="rect">
            <a:avLst/>
          </a:prstGeom>
          <a:noFill/>
          <a:ln/>
        </p:spPr>
        <p:txBody>
          <a:bodyPr wrap="square" lIns="0" tIns="0" rIns="0" bIns="0" rtlCol="0" anchor="t">
            <a:normAutofit/>
          </a:bodyPr>
          <a:lstStyle/>
          <a:p>
            <a:pPr marL="0" indent="0" algn="l">
              <a:lnSpc>
                <a:spcPct val="104000"/>
              </a:lnSpc>
              <a:buNone/>
            </a:pPr>
            <a:r>
              <a:rPr lang="en-US" sz="1700" dirty="0">
                <a:solidFill>
                  <a:srgbClr val="4A5B70"/>
                </a:solidFill>
                <a:latin typeface="Geist SemiBold" pitchFamily="34" charset="0"/>
                <a:ea typeface="Geist SemiBold" pitchFamily="34" charset="-122"/>
                <a:cs typeface="Geist SemiBold" pitchFamily="34" charset="-120"/>
              </a:rPr>
              <a:t>Cross-Validation</a:t>
            </a:r>
            <a:endParaRPr lang="en-US" sz="1700" dirty="0"/>
          </a:p>
        </p:txBody>
      </p:sp>
      <p:sp>
        <p:nvSpPr>
          <p:cNvPr id="81" name="Shape 27">
            <a:extLst>
              <a:ext uri="{FF2B5EF4-FFF2-40B4-BE49-F238E27FC236}">
                <a16:creationId xmlns:a16="http://schemas.microsoft.com/office/drawing/2014/main" id="{C0090C9E-B2BA-AEB6-EDE9-0D78C756C651}"/>
              </a:ext>
            </a:extLst>
          </p:cNvPr>
          <p:cNvSpPr/>
          <p:nvPr/>
        </p:nvSpPr>
        <p:spPr>
          <a:xfrm>
            <a:off x="10193182" y="2401292"/>
            <a:ext cx="1541325" cy="812800"/>
          </a:xfrm>
          <a:prstGeom prst="rect">
            <a:avLst/>
          </a:prstGeom>
          <a:solidFill>
            <a:srgbClr val="4A5B70"/>
          </a:solidFill>
          <a:ln/>
        </p:spPr>
        <p:txBody>
          <a:bodyPr/>
          <a:lstStyle/>
          <a:p>
            <a:endParaRPr lang="en-US"/>
          </a:p>
        </p:txBody>
      </p:sp>
      <p:sp>
        <p:nvSpPr>
          <p:cNvPr id="83" name="Shape 28">
            <a:extLst>
              <a:ext uri="{FF2B5EF4-FFF2-40B4-BE49-F238E27FC236}">
                <a16:creationId xmlns:a16="http://schemas.microsoft.com/office/drawing/2014/main" id="{11AE5FF6-2246-BD6E-C5D5-BB91C3F8C27A}"/>
              </a:ext>
            </a:extLst>
          </p:cNvPr>
          <p:cNvSpPr/>
          <p:nvPr/>
        </p:nvSpPr>
        <p:spPr>
          <a:xfrm>
            <a:off x="10205782" y="2413893"/>
            <a:ext cx="1515826" cy="787400"/>
          </a:xfrm>
          <a:prstGeom prst="rect">
            <a:avLst/>
          </a:prstGeom>
          <a:solidFill>
            <a:srgbClr val="FFFFFF"/>
          </a:solidFill>
          <a:ln/>
        </p:spPr>
        <p:txBody>
          <a:bodyPr/>
          <a:lstStyle/>
          <a:p>
            <a:endParaRPr lang="en-US"/>
          </a:p>
        </p:txBody>
      </p:sp>
      <p:sp>
        <p:nvSpPr>
          <p:cNvPr id="85" name="Text 29">
            <a:extLst>
              <a:ext uri="{FF2B5EF4-FFF2-40B4-BE49-F238E27FC236}">
                <a16:creationId xmlns:a16="http://schemas.microsoft.com/office/drawing/2014/main" id="{4FAD643E-D53B-FB94-0EF5-DA32AA696D54}"/>
              </a:ext>
            </a:extLst>
          </p:cNvPr>
          <p:cNvSpPr/>
          <p:nvPr/>
        </p:nvSpPr>
        <p:spPr>
          <a:xfrm>
            <a:off x="10868745" y="2655292"/>
            <a:ext cx="799782" cy="304800"/>
          </a:xfrm>
          <a:prstGeom prst="rect">
            <a:avLst/>
          </a:prstGeom>
          <a:noFill/>
          <a:ln/>
        </p:spPr>
        <p:txBody>
          <a:bodyPr wrap="none" lIns="0" tIns="0" rIns="0" bIns="0" rtlCol="0" anchor="t"/>
          <a:lstStyle/>
          <a:p>
            <a:pPr marL="0" indent="0" algn="l">
              <a:lnSpc>
                <a:spcPct val="83000"/>
              </a:lnSpc>
              <a:buNone/>
            </a:pPr>
            <a:r>
              <a:rPr lang="en-US" sz="2400" dirty="0">
                <a:solidFill>
                  <a:srgbClr val="2B3139"/>
                </a:solidFill>
                <a:latin typeface="Geist SemiBold" pitchFamily="34" charset="0"/>
                <a:ea typeface="Geist SemiBold" pitchFamily="34" charset="-122"/>
                <a:cs typeface="Geist SemiBold" pitchFamily="34" charset="-120"/>
              </a:rPr>
              <a:t>7</a:t>
            </a:r>
            <a:endParaRPr lang="en-US" sz="2400" dirty="0"/>
          </a:p>
        </p:txBody>
      </p:sp>
      <p:sp>
        <p:nvSpPr>
          <p:cNvPr id="87" name="Text 30">
            <a:extLst>
              <a:ext uri="{FF2B5EF4-FFF2-40B4-BE49-F238E27FC236}">
                <a16:creationId xmlns:a16="http://schemas.microsoft.com/office/drawing/2014/main" id="{4266272F-47B1-D7D6-B305-C91F8944DD22}"/>
              </a:ext>
            </a:extLst>
          </p:cNvPr>
          <p:cNvSpPr/>
          <p:nvPr/>
        </p:nvSpPr>
        <p:spPr>
          <a:xfrm>
            <a:off x="10396377" y="3314899"/>
            <a:ext cx="1134935" cy="539750"/>
          </a:xfrm>
          <a:prstGeom prst="rect">
            <a:avLst/>
          </a:prstGeom>
          <a:noFill/>
          <a:ln/>
        </p:spPr>
        <p:txBody>
          <a:bodyPr wrap="square" lIns="0" tIns="0" rIns="0" bIns="0" rtlCol="0" anchor="t">
            <a:normAutofit fontScale="92500"/>
          </a:bodyPr>
          <a:lstStyle/>
          <a:p>
            <a:pPr marL="0" indent="0" algn="l">
              <a:lnSpc>
                <a:spcPct val="104000"/>
              </a:lnSpc>
              <a:buNone/>
            </a:pPr>
            <a:r>
              <a:rPr lang="en-US" sz="1700" dirty="0">
                <a:solidFill>
                  <a:srgbClr val="4A5B70"/>
                </a:solidFill>
                <a:latin typeface="Geist SemiBold" pitchFamily="34" charset="0"/>
                <a:ea typeface="Geist SemiBold" pitchFamily="34" charset="-122"/>
                <a:cs typeface="Geist SemiBold" pitchFamily="34" charset="-120"/>
              </a:rPr>
              <a:t>Comparing all Models</a:t>
            </a:r>
            <a:endParaRPr lang="en-US" sz="1700" dirty="0"/>
          </a:p>
        </p:txBody>
      </p:sp>
      <p:sp>
        <p:nvSpPr>
          <p:cNvPr id="89" name="Text 31">
            <a:extLst>
              <a:ext uri="{FF2B5EF4-FFF2-40B4-BE49-F238E27FC236}">
                <a16:creationId xmlns:a16="http://schemas.microsoft.com/office/drawing/2014/main" id="{B2298A6A-1F84-5230-DE41-8E23AA8FEE34}"/>
              </a:ext>
            </a:extLst>
          </p:cNvPr>
          <p:cNvSpPr/>
          <p:nvPr/>
        </p:nvSpPr>
        <p:spPr>
          <a:xfrm>
            <a:off x="457189" y="5355431"/>
            <a:ext cx="5410065" cy="317500"/>
          </a:xfrm>
          <a:prstGeom prst="rect">
            <a:avLst/>
          </a:prstGeom>
          <a:noFill/>
          <a:ln/>
        </p:spPr>
        <p:txBody>
          <a:bodyPr wrap="none" lIns="0" tIns="0" rIns="0" bIns="0" rtlCol="0" anchor="t"/>
          <a:lstStyle/>
          <a:p>
            <a:pPr marL="0" indent="0" algn="l">
              <a:lnSpc>
                <a:spcPct val="104000"/>
              </a:lnSpc>
              <a:buNone/>
            </a:pPr>
            <a:r>
              <a:rPr lang="en-US" sz="2000" dirty="0">
                <a:solidFill>
                  <a:srgbClr val="4A5B70"/>
                </a:solidFill>
                <a:latin typeface="Geist SemiBold" pitchFamily="34" charset="0"/>
                <a:ea typeface="Geist SemiBold" pitchFamily="34" charset="-122"/>
                <a:cs typeface="Geist SemiBold" pitchFamily="34" charset="-120"/>
              </a:rPr>
              <a:t>Scaled training data</a:t>
            </a:r>
            <a:endParaRPr lang="en-US" sz="2000" dirty="0"/>
          </a:p>
        </p:txBody>
      </p:sp>
      <p:sp>
        <p:nvSpPr>
          <p:cNvPr id="91" name="Text 32">
            <a:extLst>
              <a:ext uri="{FF2B5EF4-FFF2-40B4-BE49-F238E27FC236}">
                <a16:creationId xmlns:a16="http://schemas.microsoft.com/office/drawing/2014/main" id="{ACA80D85-0991-B03B-6803-09B6AAAB945B}"/>
              </a:ext>
            </a:extLst>
          </p:cNvPr>
          <p:cNvSpPr/>
          <p:nvPr/>
        </p:nvSpPr>
        <p:spPr>
          <a:xfrm>
            <a:off x="457189" y="5823744"/>
            <a:ext cx="5410065" cy="577056"/>
          </a:xfrm>
          <a:prstGeom prst="rect">
            <a:avLst/>
          </a:prstGeom>
          <a:noFill/>
          <a:ln/>
        </p:spPr>
        <p:txBody>
          <a:bodyPr wrap="square" lIns="0" tIns="0" rIns="0" bIns="0" rtlCol="0" anchor="t">
            <a:normAutofit/>
          </a:bodyPr>
          <a:lstStyle/>
          <a:p>
            <a:pPr marL="0" indent="0" algn="l">
              <a:lnSpc>
                <a:spcPct val="118000"/>
              </a:lnSpc>
              <a:buNone/>
            </a:pPr>
            <a:r>
              <a:rPr lang="en-US" sz="1600" dirty="0">
                <a:solidFill>
                  <a:srgbClr val="2B3139"/>
                </a:solidFill>
                <a:latin typeface="Geist" pitchFamily="34" charset="0"/>
                <a:ea typeface="Geist" pitchFamily="34" charset="-122"/>
                <a:cs typeface="Geist" pitchFamily="34" charset="-120"/>
              </a:rPr>
              <a:t>Scaling was for Logistic Regression, KNN, SVM and Kernel SVM.</a:t>
            </a:r>
            <a:endParaRPr lang="en-US" sz="1600" dirty="0"/>
          </a:p>
        </p:txBody>
      </p:sp>
      <p:sp>
        <p:nvSpPr>
          <p:cNvPr id="93" name="Text 33">
            <a:extLst>
              <a:ext uri="{FF2B5EF4-FFF2-40B4-BE49-F238E27FC236}">
                <a16:creationId xmlns:a16="http://schemas.microsoft.com/office/drawing/2014/main" id="{D2E5FBE2-D93C-1B2E-5E39-1E0F6ACA3898}"/>
              </a:ext>
            </a:extLst>
          </p:cNvPr>
          <p:cNvSpPr/>
          <p:nvPr/>
        </p:nvSpPr>
        <p:spPr>
          <a:xfrm>
            <a:off x="6324442" y="5355431"/>
            <a:ext cx="5410065" cy="317500"/>
          </a:xfrm>
          <a:prstGeom prst="rect">
            <a:avLst/>
          </a:prstGeom>
          <a:noFill/>
          <a:ln/>
        </p:spPr>
        <p:txBody>
          <a:bodyPr wrap="none" lIns="0" tIns="0" rIns="0" bIns="0" rtlCol="0" anchor="t"/>
          <a:lstStyle/>
          <a:p>
            <a:pPr marL="0" indent="0" algn="l">
              <a:lnSpc>
                <a:spcPct val="104000"/>
              </a:lnSpc>
              <a:buNone/>
            </a:pPr>
            <a:r>
              <a:rPr lang="en-US" sz="2000" dirty="0">
                <a:solidFill>
                  <a:srgbClr val="4A5B70"/>
                </a:solidFill>
                <a:latin typeface="Geist SemiBold" pitchFamily="34" charset="0"/>
                <a:ea typeface="Geist SemiBold" pitchFamily="34" charset="-122"/>
                <a:cs typeface="Geist SemiBold" pitchFamily="34" charset="-120"/>
              </a:rPr>
              <a:t>Unscaled training data</a:t>
            </a:r>
            <a:endParaRPr lang="en-US" sz="2000" dirty="0"/>
          </a:p>
        </p:txBody>
      </p:sp>
      <p:sp>
        <p:nvSpPr>
          <p:cNvPr id="95" name="Text 34">
            <a:extLst>
              <a:ext uri="{FF2B5EF4-FFF2-40B4-BE49-F238E27FC236}">
                <a16:creationId xmlns:a16="http://schemas.microsoft.com/office/drawing/2014/main" id="{917BB319-2691-A5CA-9DD5-BF9067BE6951}"/>
              </a:ext>
            </a:extLst>
          </p:cNvPr>
          <p:cNvSpPr/>
          <p:nvPr/>
        </p:nvSpPr>
        <p:spPr>
          <a:xfrm>
            <a:off x="6324442" y="5823744"/>
            <a:ext cx="5410065" cy="577056"/>
          </a:xfrm>
          <a:prstGeom prst="rect">
            <a:avLst/>
          </a:prstGeom>
          <a:noFill/>
          <a:ln/>
        </p:spPr>
        <p:txBody>
          <a:bodyPr wrap="square" lIns="0" tIns="0" rIns="0" bIns="0" rtlCol="0" anchor="t">
            <a:normAutofit/>
          </a:bodyPr>
          <a:lstStyle/>
          <a:p>
            <a:pPr marL="0" indent="0" algn="l">
              <a:lnSpc>
                <a:spcPct val="118000"/>
              </a:lnSpc>
              <a:buNone/>
            </a:pPr>
            <a:r>
              <a:rPr lang="en-US" sz="1600" dirty="0">
                <a:solidFill>
                  <a:srgbClr val="2B3139"/>
                </a:solidFill>
                <a:latin typeface="Geist" pitchFamily="34" charset="0"/>
                <a:ea typeface="Geist" pitchFamily="34" charset="-122"/>
                <a:cs typeface="Geist" pitchFamily="34" charset="-120"/>
              </a:rPr>
              <a:t>Tree-based models and Naive Bayes were evaluated without the scaled training data.</a:t>
            </a:r>
            <a:endParaRPr lang="en-US" sz="1600" dirty="0"/>
          </a:p>
        </p:txBody>
      </p:sp>
      <p:sp>
        <p:nvSpPr>
          <p:cNvPr id="97" name="Shape 35">
            <a:extLst>
              <a:ext uri="{FF2B5EF4-FFF2-40B4-BE49-F238E27FC236}">
                <a16:creationId xmlns:a16="http://schemas.microsoft.com/office/drawing/2014/main" id="{2F835A3C-5ED7-7101-BABA-075373D18862}"/>
              </a:ext>
            </a:extLst>
          </p:cNvPr>
          <p:cNvSpPr/>
          <p:nvPr/>
        </p:nvSpPr>
        <p:spPr>
          <a:xfrm>
            <a:off x="6089498" y="5344319"/>
            <a:ext cx="12700" cy="1056481"/>
          </a:xfrm>
          <a:prstGeom prst="rect">
            <a:avLst/>
          </a:prstGeom>
          <a:solidFill>
            <a:srgbClr val="D8D1C4"/>
          </a:solidFill>
          <a:ln/>
        </p:spPr>
        <p:txBody>
          <a:bodyPr/>
          <a:lstStyle/>
          <a:p>
            <a:endParaRPr lang="en-US"/>
          </a:p>
        </p:txBody>
      </p:sp>
      <p:sp>
        <p:nvSpPr>
          <p:cNvPr id="99" name="Rectangle 98">
            <a:extLst>
              <a:ext uri="{FF2B5EF4-FFF2-40B4-BE49-F238E27FC236}">
                <a16:creationId xmlns:a16="http://schemas.microsoft.com/office/drawing/2014/main" id="{7BBB6961-6BDE-594E-D525-7EF6B97324A2}"/>
              </a:ext>
            </a:extLst>
          </p:cNvPr>
          <p:cNvSpPr/>
          <p:nvPr/>
        </p:nvSpPr>
        <p:spPr>
          <a:xfrm>
            <a:off x="10982131" y="6447453"/>
            <a:ext cx="1209869" cy="4105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189" y="457200"/>
            <a:ext cx="11277318" cy="432991"/>
          </a:xfrm>
          <a:prstGeom prst="rect">
            <a:avLst/>
          </a:prstGeom>
          <a:noFill/>
          <a:ln/>
        </p:spPr>
        <p:txBody>
          <a:bodyPr wrap="none" lIns="0" tIns="0" rIns="0" bIns="0" rtlCol="0" anchor="t"/>
          <a:lstStyle/>
          <a:p>
            <a:pPr marL="0" indent="0" algn="l">
              <a:lnSpc>
                <a:spcPct val="92000"/>
              </a:lnSpc>
              <a:buNone/>
            </a:pPr>
            <a:r>
              <a:rPr lang="en-US" sz="3100" kern="100" spc="-31" dirty="0">
                <a:solidFill>
                  <a:srgbClr val="1B2638"/>
                </a:solidFill>
                <a:latin typeface="Newsreader Medium" pitchFamily="34" charset="0"/>
                <a:ea typeface="Newsreader Medium" pitchFamily="34" charset="-122"/>
                <a:cs typeface="Newsreader Medium" pitchFamily="34" charset="-120"/>
              </a:rPr>
              <a:t>Initial test accuracy is closely clustered between 71% and 73%</a:t>
            </a:r>
            <a:endParaRPr lang="en-US" sz="3100" dirty="0"/>
          </a:p>
        </p:txBody>
      </p:sp>
      <p:sp>
        <p:nvSpPr>
          <p:cNvPr id="3" name="Shape 1"/>
          <p:cNvSpPr/>
          <p:nvPr/>
        </p:nvSpPr>
        <p:spPr>
          <a:xfrm>
            <a:off x="457189" y="1164828"/>
            <a:ext cx="11277318" cy="31651"/>
          </a:xfrm>
          <a:prstGeom prst="roundRect">
            <a:avLst>
              <a:gd name="adj" fmla="val 49998"/>
            </a:avLst>
          </a:prstGeom>
          <a:solidFill>
            <a:srgbClr val="4A5B70"/>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189" y="1828502"/>
            <a:ext cx="7111822" cy="4192786"/>
          </a:xfrm>
          <a:prstGeom prst="rect">
            <a:avLst/>
          </a:prstGeom>
        </p:spPr>
      </p:pic>
      <p:sp>
        <p:nvSpPr>
          <p:cNvPr id="5" name="Text 2"/>
          <p:cNvSpPr/>
          <p:nvPr/>
        </p:nvSpPr>
        <p:spPr>
          <a:xfrm>
            <a:off x="8849000" y="3261023"/>
            <a:ext cx="2885507" cy="182563"/>
          </a:xfrm>
          <a:prstGeom prst="rect">
            <a:avLst/>
          </a:prstGeom>
          <a:noFill/>
          <a:ln/>
        </p:spPr>
        <p:txBody>
          <a:bodyPr wrap="none" lIns="0" tIns="0" rIns="0" bIns="0" rtlCol="0" anchor="t"/>
          <a:lstStyle/>
          <a:p>
            <a:pPr marL="0" indent="0" algn="l">
              <a:lnSpc>
                <a:spcPct val="104000"/>
              </a:lnSpc>
              <a:buNone/>
            </a:pPr>
            <a:r>
              <a:rPr lang="en-US" sz="1150" kern="100" spc="92" dirty="0">
                <a:solidFill>
                  <a:srgbClr val="4A5B70"/>
                </a:solidFill>
                <a:latin typeface="Geist SemiBold" pitchFamily="34" charset="0"/>
                <a:ea typeface="Geist SemiBold" pitchFamily="34" charset="-122"/>
                <a:cs typeface="Geist SemiBold" pitchFamily="34" charset="-120"/>
              </a:rPr>
              <a:t>TEST ACCURACY</a:t>
            </a:r>
            <a:endParaRPr lang="en-US" sz="1150" dirty="0"/>
          </a:p>
        </p:txBody>
      </p:sp>
      <p:sp>
        <p:nvSpPr>
          <p:cNvPr id="6" name="Text 3"/>
          <p:cNvSpPr/>
          <p:nvPr/>
        </p:nvSpPr>
        <p:spPr>
          <a:xfrm>
            <a:off x="8849000" y="3575014"/>
            <a:ext cx="2885507" cy="685205"/>
          </a:xfrm>
          <a:prstGeom prst="rect">
            <a:avLst/>
          </a:prstGeom>
          <a:noFill/>
          <a:ln/>
        </p:spPr>
        <p:txBody>
          <a:bodyPr wrap="square" lIns="0" tIns="0" rIns="0" bIns="0" rtlCol="0" anchor="t">
            <a:normAutofit/>
          </a:bodyPr>
          <a:lstStyle/>
          <a:p>
            <a:pPr marL="0" indent="0" algn="l">
              <a:lnSpc>
                <a:spcPct val="118000"/>
              </a:lnSpc>
              <a:buNone/>
            </a:pPr>
            <a:r>
              <a:rPr lang="en-US" sz="1900" dirty="0">
                <a:solidFill>
                  <a:srgbClr val="2B3139"/>
                </a:solidFill>
                <a:latin typeface="Geist" pitchFamily="34" charset="0"/>
                <a:ea typeface="Geist" pitchFamily="34" charset="-122"/>
                <a:cs typeface="Geist" pitchFamily="34" charset="-120"/>
              </a:rPr>
              <a:t>Naive Bayes and Random Forest lead at 73.44%.</a:t>
            </a:r>
            <a:endParaRPr lang="en-US" sz="1900" dirty="0"/>
          </a:p>
        </p:txBody>
      </p:sp>
      <p:sp>
        <p:nvSpPr>
          <p:cNvPr id="7" name="Text 4"/>
          <p:cNvSpPr/>
          <p:nvPr/>
        </p:nvSpPr>
        <p:spPr>
          <a:xfrm>
            <a:off x="8849000" y="4393505"/>
            <a:ext cx="2885507" cy="197148"/>
          </a:xfrm>
          <a:prstGeom prst="rect">
            <a:avLst/>
          </a:prstGeom>
          <a:noFill/>
          <a:ln/>
        </p:spPr>
        <p:txBody>
          <a:bodyPr wrap="none" lIns="0" tIns="0" rIns="0" bIns="0" rtlCol="0" anchor="t"/>
          <a:lstStyle/>
          <a:p>
            <a:pPr marL="0" indent="0" algn="l">
              <a:lnSpc>
                <a:spcPct val="113000"/>
              </a:lnSpc>
              <a:buNone/>
            </a:pPr>
            <a:r>
              <a:rPr lang="en-US" sz="1150" dirty="0">
                <a:solidFill>
                  <a:srgbClr val="5B6676"/>
                </a:solidFill>
                <a:latin typeface="Geist" pitchFamily="34" charset="0"/>
                <a:ea typeface="Geist" pitchFamily="34" charset="-122"/>
                <a:cs typeface="Geist" pitchFamily="34" charset="-120"/>
              </a:rPr>
              <a:t>Evaluated on the 192 test records.</a:t>
            </a:r>
            <a:endParaRPr lang="en-US" sz="1150" dirty="0"/>
          </a:p>
        </p:txBody>
      </p:sp>
      <p:sp>
        <p:nvSpPr>
          <p:cNvPr id="9" name="Rectangle 8">
            <a:extLst>
              <a:ext uri="{FF2B5EF4-FFF2-40B4-BE49-F238E27FC236}">
                <a16:creationId xmlns:a16="http://schemas.microsoft.com/office/drawing/2014/main" id="{A8EC3F41-90E8-01ED-0CCE-9A0721B288AD}"/>
              </a:ext>
            </a:extLst>
          </p:cNvPr>
          <p:cNvSpPr/>
          <p:nvPr/>
        </p:nvSpPr>
        <p:spPr>
          <a:xfrm>
            <a:off x="11038114" y="6475446"/>
            <a:ext cx="1073021" cy="3079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189" y="457200"/>
            <a:ext cx="11277318" cy="432991"/>
          </a:xfrm>
          <a:prstGeom prst="rect">
            <a:avLst/>
          </a:prstGeom>
          <a:noFill/>
          <a:ln/>
        </p:spPr>
        <p:txBody>
          <a:bodyPr wrap="none" lIns="0" tIns="0" rIns="0" bIns="0" rtlCol="0" anchor="t"/>
          <a:lstStyle/>
          <a:p>
            <a:pPr marL="0" indent="0" algn="l">
              <a:lnSpc>
                <a:spcPct val="92000"/>
              </a:lnSpc>
              <a:buNone/>
            </a:pPr>
            <a:r>
              <a:rPr lang="en-US" sz="3100" kern="100" spc="-31" dirty="0">
                <a:solidFill>
                  <a:srgbClr val="1B2638"/>
                </a:solidFill>
                <a:latin typeface="Newsreader Medium" pitchFamily="34" charset="0"/>
                <a:ea typeface="Newsreader Medium" pitchFamily="34" charset="-122"/>
                <a:cs typeface="Newsreader Medium" pitchFamily="34" charset="-120"/>
              </a:rPr>
              <a:t>5-fold cross-validation ranks Logistic Regression first</a:t>
            </a:r>
            <a:endParaRPr lang="en-US" sz="3100" dirty="0"/>
          </a:p>
        </p:txBody>
      </p:sp>
      <p:sp>
        <p:nvSpPr>
          <p:cNvPr id="3" name="Shape 1"/>
          <p:cNvSpPr/>
          <p:nvPr/>
        </p:nvSpPr>
        <p:spPr>
          <a:xfrm>
            <a:off x="457189" y="1164828"/>
            <a:ext cx="11277318" cy="31651"/>
          </a:xfrm>
          <a:prstGeom prst="roundRect">
            <a:avLst>
              <a:gd name="adj" fmla="val 49998"/>
            </a:avLst>
          </a:prstGeom>
          <a:solidFill>
            <a:srgbClr val="4A5B70"/>
          </a:solidFill>
          <a:ln/>
        </p:spPr>
        <p:txBody>
          <a:bodyPr/>
          <a:lstStyle/>
          <a:p>
            <a:endParaRPr lang="en-US"/>
          </a:p>
        </p:txBody>
      </p:sp>
      <p:sp>
        <p:nvSpPr>
          <p:cNvPr id="4" name="Text 2"/>
          <p:cNvSpPr/>
          <p:nvPr/>
        </p:nvSpPr>
        <p:spPr>
          <a:xfrm>
            <a:off x="457189" y="1672729"/>
            <a:ext cx="11277318" cy="182563"/>
          </a:xfrm>
          <a:prstGeom prst="rect">
            <a:avLst/>
          </a:prstGeom>
          <a:noFill/>
          <a:ln/>
        </p:spPr>
        <p:txBody>
          <a:bodyPr wrap="none" lIns="0" tIns="0" rIns="0" bIns="0" rtlCol="0" anchor="t"/>
          <a:lstStyle/>
          <a:p>
            <a:pPr marL="0" indent="0" algn="l">
              <a:lnSpc>
                <a:spcPct val="104000"/>
              </a:lnSpc>
              <a:buNone/>
            </a:pPr>
            <a:r>
              <a:rPr lang="en-US" sz="1150" kern="100" spc="92" dirty="0">
                <a:solidFill>
                  <a:srgbClr val="4A5B70"/>
                </a:solidFill>
                <a:latin typeface="Geist SemiBold" pitchFamily="34" charset="0"/>
                <a:ea typeface="Geist SemiBold" pitchFamily="34" charset="-122"/>
                <a:cs typeface="Geist SemiBold" pitchFamily="34" charset="-120"/>
              </a:rPr>
              <a:t>FIVE-FOLD CROSS-VALIDATION ACCURACY (%), HIGHEST TO LOWEST</a:t>
            </a:r>
            <a:endParaRPr lang="en-US" sz="1150" dirty="0"/>
          </a:p>
        </p:txBody>
      </p:sp>
      <p:pic>
        <p:nvPicPr>
          <p:cNvPr id="5" name="Image 0" descr="preencoded.png"/>
          <p:cNvPicPr>
            <a:picLocks noChangeAspect="1"/>
          </p:cNvPicPr>
          <p:nvPr/>
        </p:nvPicPr>
        <p:blipFill>
          <a:blip r:embed="rId3"/>
          <a:stretch>
            <a:fillRect/>
          </a:stretch>
        </p:blipFill>
        <p:spPr>
          <a:xfrm>
            <a:off x="457189" y="1986657"/>
            <a:ext cx="10159746" cy="4192290"/>
          </a:xfrm>
          <a:prstGeom prst="rect">
            <a:avLst/>
          </a:prstGeom>
        </p:spPr>
      </p:pic>
      <p:sp>
        <p:nvSpPr>
          <p:cNvPr id="7" name="Rectangle 6">
            <a:extLst>
              <a:ext uri="{FF2B5EF4-FFF2-40B4-BE49-F238E27FC236}">
                <a16:creationId xmlns:a16="http://schemas.microsoft.com/office/drawing/2014/main" id="{57F90E26-B382-F433-2CBC-C47C4859AF6C}"/>
              </a:ext>
            </a:extLst>
          </p:cNvPr>
          <p:cNvSpPr/>
          <p:nvPr/>
        </p:nvSpPr>
        <p:spPr>
          <a:xfrm>
            <a:off x="11038114" y="6475446"/>
            <a:ext cx="1073021" cy="3079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189" y="457200"/>
            <a:ext cx="11277318" cy="432991"/>
          </a:xfrm>
          <a:prstGeom prst="rect">
            <a:avLst/>
          </a:prstGeom>
          <a:noFill/>
          <a:ln/>
        </p:spPr>
        <p:txBody>
          <a:bodyPr wrap="none" lIns="0" tIns="0" rIns="0" bIns="0" rtlCol="0" anchor="t"/>
          <a:lstStyle/>
          <a:p>
            <a:pPr marL="0" indent="0" algn="l">
              <a:lnSpc>
                <a:spcPct val="92000"/>
              </a:lnSpc>
              <a:buNone/>
            </a:pPr>
            <a:r>
              <a:rPr lang="en-US" sz="3100" kern="100" spc="-31" dirty="0">
                <a:solidFill>
                  <a:srgbClr val="1B2638"/>
                </a:solidFill>
                <a:latin typeface="Newsreader Medium" pitchFamily="34" charset="0"/>
                <a:ea typeface="Newsreader Medium" pitchFamily="34" charset="-122"/>
                <a:cs typeface="Newsreader Medium" pitchFamily="34" charset="-120"/>
              </a:rPr>
              <a:t>Logistic Regression is the best model by cross-validation</a:t>
            </a:r>
            <a:endParaRPr lang="en-US" sz="3100" dirty="0"/>
          </a:p>
        </p:txBody>
      </p:sp>
      <p:sp>
        <p:nvSpPr>
          <p:cNvPr id="3" name="Shape 1"/>
          <p:cNvSpPr/>
          <p:nvPr/>
        </p:nvSpPr>
        <p:spPr>
          <a:xfrm>
            <a:off x="457189" y="1164828"/>
            <a:ext cx="11277318" cy="31651"/>
          </a:xfrm>
          <a:prstGeom prst="roundRect">
            <a:avLst>
              <a:gd name="adj" fmla="val 49998"/>
            </a:avLst>
          </a:prstGeom>
          <a:solidFill>
            <a:srgbClr val="4A5B70"/>
          </a:solidFill>
          <a:ln/>
        </p:spPr>
        <p:txBody>
          <a:bodyPr/>
          <a:lstStyle/>
          <a:p>
            <a:endParaRPr lang="en-US"/>
          </a:p>
        </p:txBody>
      </p:sp>
      <p:sp>
        <p:nvSpPr>
          <p:cNvPr id="4" name="Shape 2"/>
          <p:cNvSpPr/>
          <p:nvPr/>
        </p:nvSpPr>
        <p:spPr>
          <a:xfrm>
            <a:off x="457189" y="1448991"/>
            <a:ext cx="5410065" cy="4951809"/>
          </a:xfrm>
          <a:prstGeom prst="rect">
            <a:avLst/>
          </a:prstGeom>
          <a:solidFill>
            <a:schemeClr val="bg1"/>
          </a:solidFill>
          <a:ln w="28575">
            <a:solidFill>
              <a:srgbClr val="4A5B70"/>
            </a:solidFill>
          </a:ln>
        </p:spPr>
        <p:txBody>
          <a:bodyPr/>
          <a:lstStyle/>
          <a:p>
            <a:endParaRPr lang="en-US"/>
          </a:p>
        </p:txBody>
      </p:sp>
      <p:sp>
        <p:nvSpPr>
          <p:cNvPr id="5" name="Text 3"/>
          <p:cNvSpPr/>
          <p:nvPr/>
        </p:nvSpPr>
        <p:spPr>
          <a:xfrm>
            <a:off x="812780" y="2895401"/>
            <a:ext cx="5054474" cy="182563"/>
          </a:xfrm>
          <a:prstGeom prst="rect">
            <a:avLst/>
          </a:prstGeom>
          <a:noFill/>
          <a:ln/>
        </p:spPr>
        <p:txBody>
          <a:bodyPr wrap="none" lIns="0" tIns="0" rIns="0" bIns="0" rtlCol="0" anchor="t"/>
          <a:lstStyle/>
          <a:p>
            <a:pPr marL="0" indent="0" algn="l">
              <a:lnSpc>
                <a:spcPct val="104000"/>
              </a:lnSpc>
              <a:buNone/>
            </a:pPr>
            <a:r>
              <a:rPr lang="en-US" sz="1150" kern="100" spc="92" dirty="0">
                <a:solidFill>
                  <a:srgbClr val="000000"/>
                </a:solidFill>
                <a:latin typeface="Geist SemiBold" pitchFamily="34" charset="0"/>
                <a:ea typeface="Geist SemiBold" pitchFamily="34" charset="-122"/>
                <a:cs typeface="Geist SemiBold" pitchFamily="34" charset="-120"/>
              </a:rPr>
              <a:t>MEAN CV ACCURACY</a:t>
            </a:r>
            <a:endParaRPr lang="en-US" sz="1150" dirty="0"/>
          </a:p>
        </p:txBody>
      </p:sp>
      <p:sp>
        <p:nvSpPr>
          <p:cNvPr id="6" name="Text 4"/>
          <p:cNvSpPr/>
          <p:nvPr/>
        </p:nvSpPr>
        <p:spPr>
          <a:xfrm>
            <a:off x="812780" y="3168055"/>
            <a:ext cx="4698882" cy="640060"/>
          </a:xfrm>
          <a:prstGeom prst="rect">
            <a:avLst/>
          </a:prstGeom>
          <a:noFill/>
          <a:ln/>
        </p:spPr>
        <p:txBody>
          <a:bodyPr wrap="none" lIns="0" tIns="0" rIns="0" bIns="0" rtlCol="0" anchor="t"/>
          <a:lstStyle/>
          <a:p>
            <a:pPr marL="0" indent="0" algn="l">
              <a:lnSpc>
                <a:spcPct val="88000"/>
              </a:lnSpc>
              <a:buNone/>
            </a:pPr>
            <a:r>
              <a:rPr lang="en-US" sz="4800" kern="100" spc="-96" dirty="0">
                <a:solidFill>
                  <a:srgbClr val="1B2638"/>
                </a:solidFill>
                <a:latin typeface="Newsreader Medium" pitchFamily="34" charset="0"/>
                <a:ea typeface="Newsreader Medium" pitchFamily="34" charset="-122"/>
                <a:cs typeface="Newsreader Medium" pitchFamily="34" charset="-120"/>
              </a:rPr>
              <a:t>77.59%</a:t>
            </a:r>
            <a:endParaRPr lang="en-US" sz="4800" dirty="0"/>
          </a:p>
        </p:txBody>
      </p:sp>
      <p:sp>
        <p:nvSpPr>
          <p:cNvPr id="7" name="Text 5"/>
          <p:cNvSpPr/>
          <p:nvPr/>
        </p:nvSpPr>
        <p:spPr>
          <a:xfrm>
            <a:off x="812780" y="4033540"/>
            <a:ext cx="4698882" cy="922734"/>
          </a:xfrm>
          <a:prstGeom prst="rect">
            <a:avLst/>
          </a:prstGeom>
          <a:noFill/>
          <a:ln/>
        </p:spPr>
        <p:txBody>
          <a:bodyPr wrap="square" lIns="0" tIns="0" rIns="0" bIns="0" rtlCol="0" anchor="t">
            <a:normAutofit/>
          </a:bodyPr>
          <a:lstStyle/>
          <a:p>
            <a:pPr marL="325120" indent="-325120" algn="l">
              <a:lnSpc>
                <a:spcPct val="118000"/>
              </a:lnSpc>
              <a:buSzPct val="100000"/>
              <a:buChar char="•"/>
            </a:pPr>
            <a:r>
              <a:rPr lang="en-US" sz="1600" b="1" dirty="0">
                <a:solidFill>
                  <a:srgbClr val="000000"/>
                </a:solidFill>
                <a:latin typeface="Geist Bold" pitchFamily="34" charset="0"/>
                <a:ea typeface="Geist Bold" pitchFamily="34" charset="-122"/>
                <a:cs typeface="Geist Bold" pitchFamily="34" charset="-120"/>
              </a:rPr>
              <a:t>Test accuracy:</a:t>
            </a:r>
            <a:r>
              <a:rPr lang="en-US" sz="1600" dirty="0">
                <a:solidFill>
                  <a:srgbClr val="000000"/>
                </a:solidFill>
                <a:latin typeface="Geist" pitchFamily="34" charset="0"/>
                <a:ea typeface="Geist" pitchFamily="34" charset="-122"/>
                <a:cs typeface="Geist" pitchFamily="34" charset="-120"/>
              </a:rPr>
              <a:t> 72.92%</a:t>
            </a:r>
            <a:endParaRPr lang="en-US" sz="1600" dirty="0"/>
          </a:p>
          <a:p>
            <a:pPr marL="325120" indent="-325120" algn="l">
              <a:lnSpc>
                <a:spcPct val="118000"/>
              </a:lnSpc>
              <a:buSzPct val="100000"/>
              <a:buChar char="•"/>
            </a:pPr>
            <a:r>
              <a:rPr lang="en-US" sz="1600" dirty="0">
                <a:solidFill>
                  <a:srgbClr val="000000"/>
                </a:solidFill>
                <a:latin typeface="Geist" pitchFamily="34" charset="0"/>
                <a:ea typeface="Geist" pitchFamily="34" charset="-122"/>
                <a:cs typeface="Geist" pitchFamily="34" charset="-120"/>
              </a:rPr>
              <a:t>Essentially tied with Random Forest on cross-validation</a:t>
            </a:r>
            <a:endParaRPr lang="en-US" sz="1600" dirty="0"/>
          </a:p>
        </p:txBody>
      </p:sp>
      <p:sp>
        <p:nvSpPr>
          <p:cNvPr id="8" name="Text 6"/>
          <p:cNvSpPr/>
          <p:nvPr/>
        </p:nvSpPr>
        <p:spPr>
          <a:xfrm>
            <a:off x="6324442" y="2215852"/>
            <a:ext cx="5410065" cy="182563"/>
          </a:xfrm>
          <a:prstGeom prst="rect">
            <a:avLst/>
          </a:prstGeom>
          <a:noFill/>
          <a:ln/>
        </p:spPr>
        <p:txBody>
          <a:bodyPr wrap="none" lIns="0" tIns="0" rIns="0" bIns="0" rtlCol="0" anchor="t"/>
          <a:lstStyle/>
          <a:p>
            <a:pPr marL="0" indent="0" algn="l">
              <a:lnSpc>
                <a:spcPct val="104000"/>
              </a:lnSpc>
              <a:buNone/>
            </a:pPr>
            <a:r>
              <a:rPr lang="en-US" sz="1150" kern="100" spc="92" dirty="0">
                <a:solidFill>
                  <a:srgbClr val="4A5B70"/>
                </a:solidFill>
                <a:latin typeface="Geist SemiBold" pitchFamily="34" charset="0"/>
                <a:ea typeface="Geist SemiBold" pitchFamily="34" charset="-122"/>
                <a:cs typeface="Geist SemiBold" pitchFamily="34" charset="-120"/>
              </a:rPr>
              <a:t>CONFUSION MATRIX, TEST SET</a:t>
            </a:r>
            <a:endParaRPr lang="en-US" sz="1150" dirty="0"/>
          </a:p>
        </p:txBody>
      </p:sp>
      <p:sp>
        <p:nvSpPr>
          <p:cNvPr id="9" name="Shape 7"/>
          <p:cNvSpPr/>
          <p:nvPr/>
        </p:nvSpPr>
        <p:spPr>
          <a:xfrm>
            <a:off x="6324442" y="2529780"/>
            <a:ext cx="2628834" cy="1311573"/>
          </a:xfrm>
          <a:prstGeom prst="roundRect">
            <a:avLst>
              <a:gd name="adj" fmla="val 871"/>
            </a:avLst>
          </a:prstGeom>
          <a:noFill/>
          <a:ln w="25399">
            <a:solidFill>
              <a:srgbClr val="4A5B70"/>
            </a:solidFill>
            <a:prstDash val="solid"/>
          </a:ln>
        </p:spPr>
        <p:txBody>
          <a:bodyPr/>
          <a:lstStyle/>
          <a:p>
            <a:endParaRPr lang="en-US"/>
          </a:p>
        </p:txBody>
      </p:sp>
      <p:sp>
        <p:nvSpPr>
          <p:cNvPr id="10" name="Text 8"/>
          <p:cNvSpPr/>
          <p:nvPr/>
        </p:nvSpPr>
        <p:spPr>
          <a:xfrm>
            <a:off x="6527637" y="2707580"/>
            <a:ext cx="2222444" cy="533400"/>
          </a:xfrm>
          <a:prstGeom prst="rect">
            <a:avLst/>
          </a:prstGeom>
          <a:noFill/>
          <a:ln/>
        </p:spPr>
        <p:txBody>
          <a:bodyPr wrap="none" lIns="0" tIns="0" rIns="0" bIns="0" rtlCol="0" anchor="t"/>
          <a:lstStyle/>
          <a:p>
            <a:pPr marL="0" indent="0" algn="l">
              <a:lnSpc>
                <a:spcPct val="88000"/>
              </a:lnSpc>
              <a:buNone/>
            </a:pPr>
            <a:r>
              <a:rPr lang="en-US" sz="4000" kern="100" spc="-80" dirty="0">
                <a:solidFill>
                  <a:srgbClr val="1B2638"/>
                </a:solidFill>
                <a:latin typeface="Newsreader Medium" pitchFamily="34" charset="0"/>
                <a:ea typeface="Newsreader Medium" pitchFamily="34" charset="-122"/>
                <a:cs typeface="Newsreader Medium" pitchFamily="34" charset="-120"/>
              </a:rPr>
              <a:t>95</a:t>
            </a:r>
            <a:endParaRPr lang="en-US" sz="4000" dirty="0"/>
          </a:p>
        </p:txBody>
      </p:sp>
      <p:sp>
        <p:nvSpPr>
          <p:cNvPr id="11" name="Text 9"/>
          <p:cNvSpPr/>
          <p:nvPr/>
        </p:nvSpPr>
        <p:spPr>
          <a:xfrm>
            <a:off x="6527637" y="3466405"/>
            <a:ext cx="2425639" cy="197148"/>
          </a:xfrm>
          <a:prstGeom prst="rect">
            <a:avLst/>
          </a:prstGeom>
          <a:noFill/>
          <a:ln/>
        </p:spPr>
        <p:txBody>
          <a:bodyPr wrap="none" lIns="0" tIns="0" rIns="0" bIns="0" rtlCol="0" anchor="t"/>
          <a:lstStyle/>
          <a:p>
            <a:pPr marL="0" indent="0" algn="l">
              <a:lnSpc>
                <a:spcPct val="113000"/>
              </a:lnSpc>
              <a:buNone/>
            </a:pPr>
            <a:r>
              <a:rPr lang="en-US" sz="1150" dirty="0">
                <a:solidFill>
                  <a:srgbClr val="5B6676"/>
                </a:solidFill>
                <a:latin typeface="Geist" pitchFamily="34" charset="0"/>
                <a:ea typeface="Geist" pitchFamily="34" charset="-122"/>
                <a:cs typeface="Geist" pitchFamily="34" charset="-120"/>
              </a:rPr>
              <a:t>True negatives</a:t>
            </a:r>
            <a:endParaRPr lang="en-US" sz="1150" dirty="0"/>
          </a:p>
        </p:txBody>
      </p:sp>
      <p:sp>
        <p:nvSpPr>
          <p:cNvPr id="12" name="Shape 10"/>
          <p:cNvSpPr/>
          <p:nvPr/>
        </p:nvSpPr>
        <p:spPr>
          <a:xfrm>
            <a:off x="9105672" y="2529780"/>
            <a:ext cx="2628834" cy="1311573"/>
          </a:xfrm>
          <a:prstGeom prst="roundRect">
            <a:avLst>
              <a:gd name="adj" fmla="val 871"/>
            </a:avLst>
          </a:prstGeom>
          <a:noFill/>
          <a:ln w="25399">
            <a:solidFill>
              <a:srgbClr val="4A5B70"/>
            </a:solidFill>
            <a:prstDash val="solid"/>
          </a:ln>
        </p:spPr>
        <p:txBody>
          <a:bodyPr/>
          <a:lstStyle/>
          <a:p>
            <a:endParaRPr lang="en-US"/>
          </a:p>
        </p:txBody>
      </p:sp>
      <p:sp>
        <p:nvSpPr>
          <p:cNvPr id="13" name="Text 11"/>
          <p:cNvSpPr/>
          <p:nvPr/>
        </p:nvSpPr>
        <p:spPr>
          <a:xfrm>
            <a:off x="9308867" y="2707580"/>
            <a:ext cx="2222444" cy="533400"/>
          </a:xfrm>
          <a:prstGeom prst="rect">
            <a:avLst/>
          </a:prstGeom>
          <a:noFill/>
          <a:ln/>
        </p:spPr>
        <p:txBody>
          <a:bodyPr wrap="none" lIns="0" tIns="0" rIns="0" bIns="0" rtlCol="0" anchor="t"/>
          <a:lstStyle/>
          <a:p>
            <a:pPr marL="0" indent="0" algn="l">
              <a:lnSpc>
                <a:spcPct val="88000"/>
              </a:lnSpc>
              <a:buNone/>
            </a:pPr>
            <a:r>
              <a:rPr lang="en-US" sz="4000" kern="100" spc="-80" dirty="0">
                <a:solidFill>
                  <a:srgbClr val="1B2638"/>
                </a:solidFill>
                <a:latin typeface="Newsreader Medium" pitchFamily="34" charset="0"/>
                <a:ea typeface="Newsreader Medium" pitchFamily="34" charset="-122"/>
                <a:cs typeface="Newsreader Medium" pitchFamily="34" charset="-120"/>
              </a:rPr>
              <a:t>28</a:t>
            </a:r>
            <a:endParaRPr lang="en-US" sz="4000" dirty="0"/>
          </a:p>
        </p:txBody>
      </p:sp>
      <p:sp>
        <p:nvSpPr>
          <p:cNvPr id="14" name="Text 12"/>
          <p:cNvSpPr/>
          <p:nvPr/>
        </p:nvSpPr>
        <p:spPr>
          <a:xfrm>
            <a:off x="9308867" y="3466405"/>
            <a:ext cx="2425639" cy="197148"/>
          </a:xfrm>
          <a:prstGeom prst="rect">
            <a:avLst/>
          </a:prstGeom>
          <a:noFill/>
          <a:ln/>
        </p:spPr>
        <p:txBody>
          <a:bodyPr wrap="none" lIns="0" tIns="0" rIns="0" bIns="0" rtlCol="0" anchor="t"/>
          <a:lstStyle/>
          <a:p>
            <a:pPr marL="0" indent="0" algn="l">
              <a:lnSpc>
                <a:spcPct val="113000"/>
              </a:lnSpc>
              <a:buNone/>
            </a:pPr>
            <a:r>
              <a:rPr lang="en-US" sz="1150" dirty="0">
                <a:solidFill>
                  <a:srgbClr val="5B6676"/>
                </a:solidFill>
                <a:latin typeface="Geist" pitchFamily="34" charset="0"/>
                <a:ea typeface="Geist" pitchFamily="34" charset="-122"/>
                <a:cs typeface="Geist" pitchFamily="34" charset="-120"/>
              </a:rPr>
              <a:t>False positives (False Alarm)</a:t>
            </a:r>
            <a:endParaRPr lang="en-US" sz="1150" dirty="0"/>
          </a:p>
        </p:txBody>
      </p:sp>
      <p:sp>
        <p:nvSpPr>
          <p:cNvPr id="15" name="Shape 13"/>
          <p:cNvSpPr/>
          <p:nvPr/>
        </p:nvSpPr>
        <p:spPr>
          <a:xfrm>
            <a:off x="6324442" y="3993753"/>
            <a:ext cx="2628834" cy="1311573"/>
          </a:xfrm>
          <a:prstGeom prst="roundRect">
            <a:avLst>
              <a:gd name="adj" fmla="val 871"/>
            </a:avLst>
          </a:prstGeom>
          <a:noFill/>
          <a:ln w="25399">
            <a:solidFill>
              <a:srgbClr val="4A5B70"/>
            </a:solidFill>
            <a:prstDash val="solid"/>
          </a:ln>
        </p:spPr>
        <p:txBody>
          <a:bodyPr/>
          <a:lstStyle/>
          <a:p>
            <a:endParaRPr lang="en-US"/>
          </a:p>
        </p:txBody>
      </p:sp>
      <p:sp>
        <p:nvSpPr>
          <p:cNvPr id="16" name="Text 14"/>
          <p:cNvSpPr/>
          <p:nvPr/>
        </p:nvSpPr>
        <p:spPr>
          <a:xfrm>
            <a:off x="6527637" y="4171553"/>
            <a:ext cx="2222444" cy="533400"/>
          </a:xfrm>
          <a:prstGeom prst="rect">
            <a:avLst/>
          </a:prstGeom>
          <a:noFill/>
          <a:ln/>
        </p:spPr>
        <p:txBody>
          <a:bodyPr wrap="none" lIns="0" tIns="0" rIns="0" bIns="0" rtlCol="0" anchor="t"/>
          <a:lstStyle/>
          <a:p>
            <a:pPr marL="0" indent="0" algn="l">
              <a:lnSpc>
                <a:spcPct val="88000"/>
              </a:lnSpc>
              <a:buNone/>
            </a:pPr>
            <a:r>
              <a:rPr lang="en-US" sz="4000" kern="100" spc="-80" dirty="0">
                <a:solidFill>
                  <a:srgbClr val="1B2638"/>
                </a:solidFill>
                <a:latin typeface="Newsreader Medium" pitchFamily="34" charset="0"/>
                <a:ea typeface="Newsreader Medium" pitchFamily="34" charset="-122"/>
                <a:cs typeface="Newsreader Medium" pitchFamily="34" charset="-120"/>
              </a:rPr>
              <a:t>24</a:t>
            </a:r>
            <a:endParaRPr lang="en-US" sz="4000" dirty="0"/>
          </a:p>
        </p:txBody>
      </p:sp>
      <p:sp>
        <p:nvSpPr>
          <p:cNvPr id="17" name="Text 15"/>
          <p:cNvSpPr/>
          <p:nvPr/>
        </p:nvSpPr>
        <p:spPr>
          <a:xfrm>
            <a:off x="6527637" y="4930378"/>
            <a:ext cx="2425639" cy="197148"/>
          </a:xfrm>
          <a:prstGeom prst="rect">
            <a:avLst/>
          </a:prstGeom>
          <a:noFill/>
          <a:ln/>
        </p:spPr>
        <p:txBody>
          <a:bodyPr wrap="none" lIns="0" tIns="0" rIns="0" bIns="0" rtlCol="0" anchor="t"/>
          <a:lstStyle/>
          <a:p>
            <a:pPr marL="0" indent="0" algn="l">
              <a:lnSpc>
                <a:spcPct val="113000"/>
              </a:lnSpc>
              <a:buNone/>
            </a:pPr>
            <a:r>
              <a:rPr lang="en-US" sz="1150" dirty="0">
                <a:solidFill>
                  <a:srgbClr val="5B6676"/>
                </a:solidFill>
                <a:latin typeface="Geist" pitchFamily="34" charset="0"/>
                <a:ea typeface="Geist" pitchFamily="34" charset="-122"/>
                <a:cs typeface="Geist" pitchFamily="34" charset="-120"/>
              </a:rPr>
              <a:t>False negatives (Missed Target)</a:t>
            </a:r>
            <a:endParaRPr lang="en-US" sz="1150" dirty="0"/>
          </a:p>
        </p:txBody>
      </p:sp>
      <p:sp>
        <p:nvSpPr>
          <p:cNvPr id="18" name="Shape 16"/>
          <p:cNvSpPr/>
          <p:nvPr/>
        </p:nvSpPr>
        <p:spPr>
          <a:xfrm>
            <a:off x="9105672" y="3993753"/>
            <a:ext cx="2628834" cy="1311573"/>
          </a:xfrm>
          <a:prstGeom prst="rect">
            <a:avLst/>
          </a:prstGeom>
          <a:solidFill>
            <a:schemeClr val="bg1"/>
          </a:solidFill>
          <a:ln w="28575">
            <a:solidFill>
              <a:srgbClr val="4A5B70"/>
            </a:solidFill>
          </a:ln>
        </p:spPr>
        <p:txBody>
          <a:bodyPr/>
          <a:lstStyle/>
          <a:p>
            <a:endParaRPr lang="en-US"/>
          </a:p>
        </p:txBody>
      </p:sp>
      <p:sp>
        <p:nvSpPr>
          <p:cNvPr id="19" name="Text 17"/>
          <p:cNvSpPr/>
          <p:nvPr/>
        </p:nvSpPr>
        <p:spPr>
          <a:xfrm>
            <a:off x="9283468" y="4146153"/>
            <a:ext cx="2273243" cy="533400"/>
          </a:xfrm>
          <a:prstGeom prst="rect">
            <a:avLst/>
          </a:prstGeom>
          <a:noFill/>
          <a:ln/>
        </p:spPr>
        <p:txBody>
          <a:bodyPr wrap="none" lIns="0" tIns="0" rIns="0" bIns="0" rtlCol="0" anchor="t"/>
          <a:lstStyle/>
          <a:p>
            <a:pPr marL="0" indent="0" algn="l">
              <a:lnSpc>
                <a:spcPct val="88000"/>
              </a:lnSpc>
              <a:buNone/>
            </a:pPr>
            <a:r>
              <a:rPr lang="en-US" sz="4000" kern="100" spc="-80" dirty="0">
                <a:solidFill>
                  <a:srgbClr val="1B2638"/>
                </a:solidFill>
                <a:latin typeface="Newsreader Medium" pitchFamily="34" charset="0"/>
                <a:ea typeface="Newsreader Medium" pitchFamily="34" charset="-122"/>
                <a:cs typeface="Newsreader Medium" pitchFamily="34" charset="-120"/>
              </a:rPr>
              <a:t>45</a:t>
            </a:r>
            <a:endParaRPr lang="en-US" sz="4000" dirty="0"/>
          </a:p>
        </p:txBody>
      </p:sp>
      <p:sp>
        <p:nvSpPr>
          <p:cNvPr id="20" name="Text 18"/>
          <p:cNvSpPr/>
          <p:nvPr/>
        </p:nvSpPr>
        <p:spPr>
          <a:xfrm>
            <a:off x="9283468" y="4904978"/>
            <a:ext cx="2451039" cy="197148"/>
          </a:xfrm>
          <a:prstGeom prst="rect">
            <a:avLst/>
          </a:prstGeom>
          <a:noFill/>
          <a:ln/>
        </p:spPr>
        <p:txBody>
          <a:bodyPr wrap="none" lIns="0" tIns="0" rIns="0" bIns="0" rtlCol="0" anchor="t"/>
          <a:lstStyle/>
          <a:p>
            <a:pPr marL="0" indent="0" algn="l">
              <a:lnSpc>
                <a:spcPct val="113000"/>
              </a:lnSpc>
              <a:buNone/>
            </a:pPr>
            <a:r>
              <a:rPr lang="en-US" sz="1150" dirty="0">
                <a:solidFill>
                  <a:srgbClr val="000000"/>
                </a:solidFill>
                <a:latin typeface="Geist" pitchFamily="34" charset="0"/>
                <a:ea typeface="Geist" pitchFamily="34" charset="-122"/>
                <a:cs typeface="Geist" pitchFamily="34" charset="-120"/>
              </a:rPr>
              <a:t>True positives</a:t>
            </a:r>
            <a:endParaRPr lang="en-US" sz="1150" dirty="0"/>
          </a:p>
        </p:txBody>
      </p:sp>
      <p:sp>
        <p:nvSpPr>
          <p:cNvPr id="23" name="Rectangle 22">
            <a:extLst>
              <a:ext uri="{FF2B5EF4-FFF2-40B4-BE49-F238E27FC236}">
                <a16:creationId xmlns:a16="http://schemas.microsoft.com/office/drawing/2014/main" id="{64205F82-D12C-1707-54AF-7F5871F0014B}"/>
              </a:ext>
            </a:extLst>
          </p:cNvPr>
          <p:cNvSpPr/>
          <p:nvPr/>
        </p:nvSpPr>
        <p:spPr>
          <a:xfrm>
            <a:off x="11038114" y="6475446"/>
            <a:ext cx="1073021" cy="3079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655</Words>
  <Application>Microsoft Office PowerPoint</Application>
  <PresentationFormat>Widescreen</PresentationFormat>
  <Paragraphs>102</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Geist Bold</vt:lpstr>
      <vt:lpstr>Newsreader Medium</vt:lpstr>
      <vt:lpstr>Arial</vt:lpstr>
      <vt:lpstr>Geist</vt:lpstr>
      <vt:lpstr>Geist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Hazem Wael</cp:lastModifiedBy>
  <cp:revision>5</cp:revision>
  <dcterms:created xsi:type="dcterms:W3CDTF">2026-10-08T18:30:36Z</dcterms:created>
  <dcterms:modified xsi:type="dcterms:W3CDTF">2026-10-08T19:27:52Z</dcterms:modified>
</cp:coreProperties>
</file>