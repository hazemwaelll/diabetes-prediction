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14"/>
  </p:notesMasterIdLst>
  <p:sldIdLst>
    <p:sldId id="256" r:id="rId2"/>
    <p:sldId id="257" r:id="rId3"/>
    <p:sldId id="258" r:id="rId4"/>
    <p:sldId id="259" r:id="rId5"/>
    <p:sldId id="260" r:id="rId6"/>
    <p:sldId id="261" r:id="rId7"/>
    <p:sldId id="262" r:id="rId8"/>
    <p:sldId id="263" r:id="rId9"/>
    <p:sldId id="264" r:id="rId10"/>
    <p:sldId id="265" r:id="rId11"/>
    <p:sldId id="267" r:id="rId12"/>
    <p:sldId id="268" r:id="rId13"/>
  </p:sldIdLst>
  <p:sldSz cx="12192000" cy="6858000"/>
  <p:notesSz cx="6858000" cy="12192000"/>
  <p:embeddedFontLst>
    <p:embeddedFont>
      <p:font typeface="Consolas" panose="020B0609020204030204" pitchFamily="49" charset="0"/>
      <p:regular r:id="rId15"/>
      <p:bold r:id="rId16"/>
      <p:italic r:id="rId17"/>
      <p:boldItalic r:id="rId18"/>
    </p:embeddedFont>
    <p:embeddedFont>
      <p:font typeface="Geist" panose="020B0604020202020204" charset="0"/>
      <p:regular r:id="rId19"/>
    </p:embeddedFont>
    <p:embeddedFont>
      <p:font typeface="Geist Bold" panose="020B0604020202020204" charset="0"/>
      <p:regular r:id="rId20"/>
    </p:embeddedFont>
    <p:embeddedFont>
      <p:font typeface="Geist SemiBold" panose="020B0604020202020204" charset="0"/>
      <p:regular r:id="rId21"/>
    </p:embeddedFont>
    <p:embeddedFont>
      <p:font typeface="Newsreader Medium" panose="020B0604020202020204" charset="0"/>
      <p:regular r:id="rId2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CEEE4"/>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82" d="100"/>
          <a:sy n="82" d="100"/>
        </p:scale>
        <p:origin x="691" y="7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font" Target="fonts/font4.fntdata"/><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font" Target="fonts/font7.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font" Target="fonts/font3.fntdata"/><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font" Target="fonts/font2.fntdata"/><Relationship Id="rId20" Type="http://schemas.openxmlformats.org/officeDocument/2006/relationships/font" Target="fonts/font6.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font" Target="fonts/font1.fntdata"/><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font" Target="fonts/font5.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 Id="rId22" Type="http://schemas.openxmlformats.org/officeDocument/2006/relationships/font" Target="fonts/font8.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00718263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the order of operations. Fit scaling parameters on training data and apply the same transformation to test data to avoid leakage. This is methodological guidance, not an additional reported project result.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60C624-EBA3-2CB8-6B31-32E9F5A513C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A068CBC-4C75-A001-1EF6-FA5FCB31C31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12CE458-0FDC-335F-8163-79D7AC9AFBF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E238390-89EB-92DF-9EB7-108BEF430E52}"/>
              </a:ext>
            </a:extLst>
          </p:cNvPr>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76423168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6D1FC9-09FF-7C30-18F7-7D8EB6F89D8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604EE9D-F3A0-7BC9-4D36-AAF4FFDEDF5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9DBE039-6FE9-433F-461C-5E5F430F1AC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96B8F9C-9826-6268-ABC5-845B3FD71ABE}"/>
              </a:ext>
            </a:extLst>
          </p:cNvPr>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10860760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lide master 1">
    <p:bg>
      <p:bgPr>
        <a:solidFill>
          <a:srgbClr val="FFFFFF"/>
        </a:solidFill>
        <a:effectLst/>
      </p:bgPr>
    </p:bg>
    <p:spTree>
      <p:nvGrpSpPr>
        <p:cNvPr id="1" name=""/>
        <p:cNvGrpSpPr/>
        <p:nvPr/>
      </p:nvGrpSpPr>
      <p:grpSpPr>
        <a:xfrm>
          <a:off x="0" y="0"/>
          <a:ext cx="0" cy="0"/>
          <a:chOff x="0" y="0"/>
          <a:chExt cx="0" cy="0"/>
        </a:xfrm>
      </p:grpSpPr>
      <p:pic>
        <p:nvPicPr>
          <p:cNvPr id="2" name="Image 0" descr="preencoded.png">
            <a:hlinkClick r:id="rId2"/>
          </p:cNvPr>
          <p:cNvPicPr>
            <a:picLocks noChangeAspect="1"/>
          </p:cNvPicPr>
          <p:nvPr/>
        </p:nvPicPr>
        <p:blipFill>
          <a:blip r:embed="rId3"/>
          <a:stretch>
            <a:fillRect/>
          </a:stretch>
        </p:blipFill>
        <p:spPr>
          <a:xfrm>
            <a:off x="11076875" y="6558991"/>
            <a:ext cx="1071843" cy="256032"/>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www.kaggle.com/datasets/salihacur/diabetes"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7" Type="http://schemas.openxmlformats.org/officeDocument/2006/relationships/image" Target="../media/image8.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457189" y="457200"/>
            <a:ext cx="6400640" cy="1280120"/>
          </a:xfrm>
          <a:prstGeom prst="rect">
            <a:avLst/>
          </a:prstGeom>
          <a:noFill/>
          <a:ln/>
        </p:spPr>
        <p:txBody>
          <a:bodyPr wrap="square" lIns="0" tIns="0" rIns="0" bIns="0" rtlCol="0" anchor="t">
            <a:normAutofit lnSpcReduction="10000"/>
          </a:bodyPr>
          <a:lstStyle/>
          <a:p>
            <a:pPr marL="0" indent="0" algn="l">
              <a:lnSpc>
                <a:spcPct val="88000"/>
              </a:lnSpc>
              <a:buNone/>
            </a:pPr>
            <a:r>
              <a:rPr lang="en-US" sz="4800" kern="100" spc="-72" dirty="0">
                <a:solidFill>
                  <a:srgbClr val="1B2638"/>
                </a:solidFill>
                <a:latin typeface="Newsreader Medium" pitchFamily="34" charset="0"/>
                <a:ea typeface="Newsreader Medium" pitchFamily="34" charset="-122"/>
                <a:cs typeface="Newsreader Medium" pitchFamily="34" charset="-120"/>
              </a:rPr>
              <a:t>Diabetes Prediction Using Machine Learning</a:t>
            </a:r>
            <a:endParaRPr lang="en-US" sz="4800" dirty="0"/>
          </a:p>
        </p:txBody>
      </p:sp>
      <p:sp>
        <p:nvSpPr>
          <p:cNvPr id="3" name="Shape 1"/>
          <p:cNvSpPr/>
          <p:nvPr/>
        </p:nvSpPr>
        <p:spPr>
          <a:xfrm>
            <a:off x="457189" y="2011958"/>
            <a:ext cx="6400640" cy="31651"/>
          </a:xfrm>
          <a:prstGeom prst="roundRect">
            <a:avLst>
              <a:gd name="adj" fmla="val 49998"/>
            </a:avLst>
          </a:prstGeom>
          <a:solidFill>
            <a:srgbClr val="397B88"/>
          </a:solidFill>
          <a:ln/>
        </p:spPr>
        <p:txBody>
          <a:bodyPr/>
          <a:lstStyle/>
          <a:p>
            <a:endParaRPr lang="en-US"/>
          </a:p>
        </p:txBody>
      </p:sp>
      <p:sp>
        <p:nvSpPr>
          <p:cNvPr id="4" name="Text 2"/>
          <p:cNvSpPr/>
          <p:nvPr/>
        </p:nvSpPr>
        <p:spPr>
          <a:xfrm>
            <a:off x="457189" y="2490589"/>
            <a:ext cx="6400640" cy="603250"/>
          </a:xfrm>
          <a:prstGeom prst="rect">
            <a:avLst/>
          </a:prstGeom>
          <a:noFill/>
          <a:ln/>
        </p:spPr>
        <p:txBody>
          <a:bodyPr wrap="square" lIns="0" tIns="0" rIns="0" bIns="0" rtlCol="0" anchor="t">
            <a:normAutofit/>
          </a:bodyPr>
          <a:lstStyle/>
          <a:p>
            <a:pPr marL="0" indent="0" algn="l">
              <a:lnSpc>
                <a:spcPct val="104000"/>
              </a:lnSpc>
              <a:buNone/>
            </a:pPr>
            <a:r>
              <a:rPr lang="en-US" sz="1900" dirty="0">
                <a:solidFill>
                  <a:srgbClr val="4A5B70"/>
                </a:solidFill>
                <a:latin typeface="Geist SemiBold" pitchFamily="34" charset="0"/>
                <a:ea typeface="Geist SemiBold" pitchFamily="34" charset="-122"/>
                <a:cs typeface="Geist SemiBold" pitchFamily="34" charset="-120"/>
              </a:rPr>
              <a:t>Comparing Classification Algorithms for Diabetes Prediction</a:t>
            </a:r>
            <a:endParaRPr lang="en-US" sz="1900" dirty="0"/>
          </a:p>
        </p:txBody>
      </p:sp>
      <p:sp>
        <p:nvSpPr>
          <p:cNvPr id="5" name="Text 3"/>
          <p:cNvSpPr/>
          <p:nvPr/>
        </p:nvSpPr>
        <p:spPr>
          <a:xfrm>
            <a:off x="457189" y="5711924"/>
            <a:ext cx="6857828" cy="288528"/>
          </a:xfrm>
          <a:prstGeom prst="rect">
            <a:avLst/>
          </a:prstGeom>
          <a:noFill/>
          <a:ln/>
        </p:spPr>
        <p:txBody>
          <a:bodyPr wrap="none" lIns="0" tIns="0" rIns="0" bIns="0" rtlCol="0" anchor="t"/>
          <a:lstStyle/>
          <a:p>
            <a:pPr marL="0" indent="0" algn="l">
              <a:lnSpc>
                <a:spcPct val="118000"/>
              </a:lnSpc>
              <a:buNone/>
            </a:pPr>
            <a:r>
              <a:rPr lang="en-US" sz="1600" kern="100" spc="16" dirty="0">
                <a:solidFill>
                  <a:srgbClr val="2B3139"/>
                </a:solidFill>
                <a:latin typeface="Geist" pitchFamily="34" charset="0"/>
                <a:ea typeface="Geist" pitchFamily="34" charset="-122"/>
                <a:cs typeface="Geist" pitchFamily="34" charset="-120"/>
              </a:rPr>
              <a:t>Health measurements · Binary classification · Model evaluation</a:t>
            </a:r>
            <a:endParaRPr lang="en-US" sz="1600" dirty="0"/>
          </a:p>
        </p:txBody>
      </p:sp>
      <p:pic>
        <p:nvPicPr>
          <p:cNvPr id="6" name="Image 0" descr="preencoded.png"/>
          <p:cNvPicPr>
            <a:picLocks noChangeAspect="1"/>
          </p:cNvPicPr>
          <p:nvPr/>
        </p:nvPicPr>
        <p:blipFill>
          <a:blip r:embed="rId3"/>
          <a:stretch>
            <a:fillRect/>
          </a:stretch>
        </p:blipFill>
        <p:spPr>
          <a:xfrm>
            <a:off x="7772206" y="1447800"/>
            <a:ext cx="3962301" cy="3962400"/>
          </a:xfrm>
          <a:prstGeom prst="rect">
            <a:avLst/>
          </a:prstGeom>
        </p:spPr>
      </p:pic>
      <p:sp>
        <p:nvSpPr>
          <p:cNvPr id="7" name="Rectangle 6">
            <a:extLst>
              <a:ext uri="{FF2B5EF4-FFF2-40B4-BE49-F238E27FC236}">
                <a16:creationId xmlns:a16="http://schemas.microsoft.com/office/drawing/2014/main" id="{6702ECA5-31B3-8FA5-F194-3C2E6E6E0819}"/>
              </a:ext>
            </a:extLst>
          </p:cNvPr>
          <p:cNvSpPr/>
          <p:nvPr/>
        </p:nvSpPr>
        <p:spPr>
          <a:xfrm>
            <a:off x="10982131" y="6447453"/>
            <a:ext cx="1209869" cy="41054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189" y="459184"/>
            <a:ext cx="11734506" cy="182563"/>
          </a:xfrm>
          <a:prstGeom prst="rect">
            <a:avLst/>
          </a:prstGeom>
          <a:noFill/>
          <a:ln/>
        </p:spPr>
        <p:txBody>
          <a:bodyPr wrap="none" lIns="0" tIns="0" rIns="0" bIns="0" rtlCol="0" anchor="t"/>
          <a:lstStyle/>
          <a:p>
            <a:pPr marL="0" indent="0" algn="l">
              <a:lnSpc>
                <a:spcPct val="104000"/>
              </a:lnSpc>
              <a:buNone/>
            </a:pPr>
            <a:r>
              <a:rPr lang="en-US" sz="1150" kern="100" spc="92" dirty="0">
                <a:solidFill>
                  <a:srgbClr val="4A5B70"/>
                </a:solidFill>
                <a:latin typeface="Geist SemiBold" pitchFamily="34" charset="0"/>
                <a:ea typeface="Geist SemiBold" pitchFamily="34" charset="-122"/>
                <a:cs typeface="Geist SemiBold" pitchFamily="34" charset="-120"/>
              </a:rPr>
              <a:t>PREDICTION TASK</a:t>
            </a:r>
            <a:endParaRPr lang="en-US" sz="1150" dirty="0"/>
          </a:p>
        </p:txBody>
      </p:sp>
      <p:sp>
        <p:nvSpPr>
          <p:cNvPr id="3" name="Text 1"/>
          <p:cNvSpPr/>
          <p:nvPr/>
        </p:nvSpPr>
        <p:spPr>
          <a:xfrm>
            <a:off x="457189" y="731837"/>
            <a:ext cx="11277318" cy="432991"/>
          </a:xfrm>
          <a:prstGeom prst="rect">
            <a:avLst/>
          </a:prstGeom>
          <a:noFill/>
          <a:ln/>
        </p:spPr>
        <p:txBody>
          <a:bodyPr wrap="none" lIns="0" tIns="0" rIns="0" bIns="0" rtlCol="0" anchor="t"/>
          <a:lstStyle/>
          <a:p>
            <a:pPr marL="0" indent="0" algn="l">
              <a:lnSpc>
                <a:spcPct val="92000"/>
              </a:lnSpc>
              <a:buNone/>
            </a:pPr>
            <a:r>
              <a:rPr lang="en-US" sz="3100" kern="100" spc="-31" dirty="0">
                <a:solidFill>
                  <a:srgbClr val="1B2638"/>
                </a:solidFill>
                <a:latin typeface="Newsreader Medium" pitchFamily="34" charset="0"/>
                <a:ea typeface="Newsreader Medium" pitchFamily="34" charset="-122"/>
                <a:cs typeface="Newsreader Medium" pitchFamily="34" charset="-120"/>
              </a:rPr>
              <a:t>Machine learning can classify diabetes from health measurements</a:t>
            </a:r>
            <a:endParaRPr lang="en-US" sz="3100" dirty="0"/>
          </a:p>
        </p:txBody>
      </p:sp>
      <p:sp>
        <p:nvSpPr>
          <p:cNvPr id="4" name="Shape 2"/>
          <p:cNvSpPr/>
          <p:nvPr/>
        </p:nvSpPr>
        <p:spPr>
          <a:xfrm>
            <a:off x="457189" y="1439466"/>
            <a:ext cx="11277318" cy="31651"/>
          </a:xfrm>
          <a:prstGeom prst="roundRect">
            <a:avLst>
              <a:gd name="adj" fmla="val 49998"/>
            </a:avLst>
          </a:prstGeom>
          <a:solidFill>
            <a:srgbClr val="397B88"/>
          </a:solidFill>
          <a:ln/>
        </p:spPr>
        <p:txBody>
          <a:bodyPr/>
          <a:lstStyle/>
          <a:p>
            <a:endParaRPr lang="en-US"/>
          </a:p>
        </p:txBody>
      </p:sp>
      <p:pic>
        <p:nvPicPr>
          <p:cNvPr id="5" name="Image 0" descr="preencoded.png"/>
          <p:cNvPicPr>
            <a:picLocks noChangeAspect="1"/>
          </p:cNvPicPr>
          <p:nvPr/>
        </p:nvPicPr>
        <p:blipFill>
          <a:blip r:embed="rId3"/>
          <a:stretch>
            <a:fillRect/>
          </a:stretch>
        </p:blipFill>
        <p:spPr>
          <a:xfrm>
            <a:off x="685783" y="1952228"/>
            <a:ext cx="3149521" cy="3647877"/>
          </a:xfrm>
          <a:prstGeom prst="rect">
            <a:avLst/>
          </a:prstGeom>
        </p:spPr>
      </p:pic>
      <p:sp>
        <p:nvSpPr>
          <p:cNvPr id="6" name="Text 3"/>
          <p:cNvSpPr/>
          <p:nvPr/>
        </p:nvSpPr>
        <p:spPr>
          <a:xfrm>
            <a:off x="685783" y="5777905"/>
            <a:ext cx="3149521" cy="394295"/>
          </a:xfrm>
          <a:prstGeom prst="rect">
            <a:avLst/>
          </a:prstGeom>
          <a:noFill/>
          <a:ln/>
        </p:spPr>
        <p:txBody>
          <a:bodyPr wrap="square" lIns="0" tIns="0" rIns="0" bIns="0" rtlCol="0" anchor="t">
            <a:normAutofit/>
          </a:bodyPr>
          <a:lstStyle/>
          <a:p>
            <a:pPr marL="0" indent="0" algn="l">
              <a:lnSpc>
                <a:spcPct val="113000"/>
              </a:lnSpc>
              <a:buNone/>
            </a:pPr>
            <a:r>
              <a:rPr lang="en-US" sz="1150" dirty="0">
                <a:solidFill>
                  <a:srgbClr val="000000"/>
                </a:solidFill>
                <a:latin typeface="Geist" pitchFamily="34" charset="0"/>
                <a:ea typeface="Geist" pitchFamily="34" charset="-122"/>
                <a:cs typeface="Geist" pitchFamily="34" charset="-120"/>
              </a:rPr>
              <a:t>Blood Pressure is one of the health-related input features.</a:t>
            </a:r>
            <a:endParaRPr lang="en-US" sz="1150" dirty="0"/>
          </a:p>
        </p:txBody>
      </p:sp>
      <p:sp>
        <p:nvSpPr>
          <p:cNvPr id="7" name="Text 4"/>
          <p:cNvSpPr/>
          <p:nvPr/>
        </p:nvSpPr>
        <p:spPr>
          <a:xfrm>
            <a:off x="4521087" y="1952292"/>
            <a:ext cx="7213420" cy="685205"/>
          </a:xfrm>
          <a:prstGeom prst="rect">
            <a:avLst/>
          </a:prstGeom>
          <a:noFill/>
          <a:ln/>
        </p:spPr>
        <p:txBody>
          <a:bodyPr wrap="square" lIns="0" tIns="0" rIns="0" bIns="0" rtlCol="0" anchor="t">
            <a:normAutofit/>
          </a:bodyPr>
          <a:lstStyle/>
          <a:p>
            <a:pPr marL="0" indent="0" algn="l">
              <a:lnSpc>
                <a:spcPct val="118000"/>
              </a:lnSpc>
              <a:buNone/>
            </a:pPr>
            <a:r>
              <a:rPr lang="en-US" sz="1900" dirty="0">
                <a:solidFill>
                  <a:srgbClr val="2B3139"/>
                </a:solidFill>
                <a:latin typeface="Geist" pitchFamily="34" charset="0"/>
                <a:ea typeface="Geist" pitchFamily="34" charset="-122"/>
                <a:cs typeface="Geist" pitchFamily="34" charset="-120"/>
              </a:rPr>
              <a:t>Classification algorithms predict whether a person has diabetes using health-related features.</a:t>
            </a:r>
            <a:endParaRPr lang="en-US" sz="1900" dirty="0"/>
          </a:p>
        </p:txBody>
      </p:sp>
      <p:sp>
        <p:nvSpPr>
          <p:cNvPr id="8" name="Text 5"/>
          <p:cNvSpPr/>
          <p:nvPr/>
        </p:nvSpPr>
        <p:spPr>
          <a:xfrm>
            <a:off x="4521087" y="2770783"/>
            <a:ext cx="7213420" cy="577056"/>
          </a:xfrm>
          <a:prstGeom prst="rect">
            <a:avLst/>
          </a:prstGeom>
          <a:noFill/>
          <a:ln/>
        </p:spPr>
        <p:txBody>
          <a:bodyPr wrap="square" lIns="0" tIns="0" rIns="0" bIns="0" rtlCol="0" anchor="t">
            <a:normAutofit/>
          </a:bodyPr>
          <a:lstStyle/>
          <a:p>
            <a:pPr marL="0" indent="0" algn="l">
              <a:lnSpc>
                <a:spcPct val="118000"/>
              </a:lnSpc>
              <a:buNone/>
            </a:pPr>
            <a:r>
              <a:rPr lang="en-US" sz="1600" dirty="0">
                <a:solidFill>
                  <a:srgbClr val="2B3139"/>
                </a:solidFill>
                <a:latin typeface="Geist" pitchFamily="34" charset="0"/>
                <a:ea typeface="Geist" pitchFamily="34" charset="-122"/>
                <a:cs typeface="Geist" pitchFamily="34" charset="-120"/>
              </a:rPr>
              <a:t>Several algorithms are trained, evaluated and compared to identify the best-performing model in this project.</a:t>
            </a:r>
            <a:endParaRPr lang="en-US" sz="1600" dirty="0"/>
          </a:p>
        </p:txBody>
      </p:sp>
      <p:sp>
        <p:nvSpPr>
          <p:cNvPr id="9" name="Text 6"/>
          <p:cNvSpPr/>
          <p:nvPr/>
        </p:nvSpPr>
        <p:spPr>
          <a:xfrm>
            <a:off x="4521087" y="4413647"/>
            <a:ext cx="7213420" cy="182563"/>
          </a:xfrm>
          <a:prstGeom prst="rect">
            <a:avLst/>
          </a:prstGeom>
          <a:noFill/>
          <a:ln/>
        </p:spPr>
        <p:txBody>
          <a:bodyPr wrap="none" lIns="0" tIns="0" rIns="0" bIns="0" rtlCol="0" anchor="t"/>
          <a:lstStyle/>
          <a:p>
            <a:pPr marL="0" indent="0" algn="l">
              <a:lnSpc>
                <a:spcPct val="104000"/>
              </a:lnSpc>
              <a:buNone/>
            </a:pPr>
            <a:r>
              <a:rPr lang="en-US" sz="1150" kern="100" spc="92" dirty="0">
                <a:solidFill>
                  <a:srgbClr val="4A5B70"/>
                </a:solidFill>
                <a:latin typeface="Geist SemiBold" pitchFamily="34" charset="0"/>
                <a:ea typeface="Geist SemiBold" pitchFamily="34" charset="-122"/>
                <a:cs typeface="Geist SemiBold" pitchFamily="34" charset="-120"/>
              </a:rPr>
              <a:t>TARGET VARIABLE · OUTCOME</a:t>
            </a:r>
            <a:endParaRPr lang="en-US" sz="1150" dirty="0"/>
          </a:p>
        </p:txBody>
      </p:sp>
      <p:sp>
        <p:nvSpPr>
          <p:cNvPr id="10" name="Shape 7"/>
          <p:cNvSpPr/>
          <p:nvPr/>
        </p:nvSpPr>
        <p:spPr>
          <a:xfrm>
            <a:off x="4521087" y="4727575"/>
            <a:ext cx="3454314" cy="1444625"/>
          </a:xfrm>
          <a:prstGeom prst="roundRect">
            <a:avLst>
              <a:gd name="adj" fmla="val 791"/>
            </a:avLst>
          </a:prstGeom>
          <a:noFill/>
          <a:ln w="25399">
            <a:solidFill>
              <a:srgbClr val="4A5B70"/>
            </a:solidFill>
            <a:prstDash val="solid"/>
          </a:ln>
        </p:spPr>
        <p:txBody>
          <a:bodyPr/>
          <a:lstStyle/>
          <a:p>
            <a:endParaRPr lang="en-US"/>
          </a:p>
        </p:txBody>
      </p:sp>
      <p:sp>
        <p:nvSpPr>
          <p:cNvPr id="11" name="Text 8"/>
          <p:cNvSpPr/>
          <p:nvPr/>
        </p:nvSpPr>
        <p:spPr>
          <a:xfrm>
            <a:off x="4775081" y="4981575"/>
            <a:ext cx="2946326" cy="533400"/>
          </a:xfrm>
          <a:prstGeom prst="rect">
            <a:avLst/>
          </a:prstGeom>
          <a:noFill/>
          <a:ln/>
        </p:spPr>
        <p:txBody>
          <a:bodyPr wrap="none" lIns="0" tIns="0" rIns="0" bIns="0" rtlCol="0" anchor="t"/>
          <a:lstStyle/>
          <a:p>
            <a:pPr marL="0" indent="0" algn="l">
              <a:lnSpc>
                <a:spcPct val="88000"/>
              </a:lnSpc>
              <a:buNone/>
            </a:pPr>
            <a:r>
              <a:rPr lang="en-US" sz="4000" kern="100" spc="-80" dirty="0">
                <a:solidFill>
                  <a:srgbClr val="1B2638"/>
                </a:solidFill>
                <a:latin typeface="Newsreader Medium" pitchFamily="34" charset="0"/>
                <a:ea typeface="Newsreader Medium" pitchFamily="34" charset="-122"/>
                <a:cs typeface="Newsreader Medium" pitchFamily="34" charset="-120"/>
              </a:rPr>
              <a:t>0</a:t>
            </a:r>
            <a:endParaRPr lang="en-US" sz="4000" dirty="0"/>
          </a:p>
        </p:txBody>
      </p:sp>
      <p:sp>
        <p:nvSpPr>
          <p:cNvPr id="12" name="Text 9"/>
          <p:cNvSpPr/>
          <p:nvPr/>
        </p:nvSpPr>
        <p:spPr>
          <a:xfrm>
            <a:off x="4775081" y="5657056"/>
            <a:ext cx="2946326" cy="269875"/>
          </a:xfrm>
          <a:prstGeom prst="rect">
            <a:avLst/>
          </a:prstGeom>
          <a:noFill/>
          <a:ln/>
        </p:spPr>
        <p:txBody>
          <a:bodyPr wrap="none" lIns="0" tIns="0" rIns="0" bIns="0" rtlCol="0" anchor="t"/>
          <a:lstStyle/>
          <a:p>
            <a:pPr marL="0" indent="0" algn="l">
              <a:lnSpc>
                <a:spcPct val="104000"/>
              </a:lnSpc>
              <a:buNone/>
            </a:pPr>
            <a:r>
              <a:rPr lang="en-US" sz="1700" dirty="0">
                <a:solidFill>
                  <a:srgbClr val="4A5B70"/>
                </a:solidFill>
                <a:latin typeface="Geist SemiBold" pitchFamily="34" charset="0"/>
                <a:ea typeface="Geist SemiBold" pitchFamily="34" charset="-122"/>
                <a:cs typeface="Geist SemiBold" pitchFamily="34" charset="-120"/>
              </a:rPr>
              <a:t>No diabetes</a:t>
            </a:r>
            <a:endParaRPr lang="en-US" sz="1700" dirty="0"/>
          </a:p>
        </p:txBody>
      </p:sp>
      <p:sp>
        <p:nvSpPr>
          <p:cNvPr id="13" name="Shape 10"/>
          <p:cNvSpPr/>
          <p:nvPr/>
        </p:nvSpPr>
        <p:spPr>
          <a:xfrm>
            <a:off x="8280193" y="4727575"/>
            <a:ext cx="3454314" cy="1444625"/>
          </a:xfrm>
          <a:prstGeom prst="roundRect">
            <a:avLst>
              <a:gd name="adj" fmla="val 791"/>
            </a:avLst>
          </a:prstGeom>
          <a:noFill/>
          <a:ln w="25399">
            <a:solidFill>
              <a:srgbClr val="4A5B70"/>
            </a:solidFill>
            <a:prstDash val="solid"/>
          </a:ln>
        </p:spPr>
        <p:txBody>
          <a:bodyPr/>
          <a:lstStyle/>
          <a:p>
            <a:endParaRPr lang="en-US"/>
          </a:p>
        </p:txBody>
      </p:sp>
      <p:sp>
        <p:nvSpPr>
          <p:cNvPr id="14" name="Text 11"/>
          <p:cNvSpPr/>
          <p:nvPr/>
        </p:nvSpPr>
        <p:spPr>
          <a:xfrm>
            <a:off x="8534187" y="4981575"/>
            <a:ext cx="2946326" cy="533400"/>
          </a:xfrm>
          <a:prstGeom prst="rect">
            <a:avLst/>
          </a:prstGeom>
          <a:noFill/>
          <a:ln/>
        </p:spPr>
        <p:txBody>
          <a:bodyPr wrap="none" lIns="0" tIns="0" rIns="0" bIns="0" rtlCol="0" anchor="t"/>
          <a:lstStyle/>
          <a:p>
            <a:pPr marL="0" indent="0" algn="l">
              <a:lnSpc>
                <a:spcPct val="88000"/>
              </a:lnSpc>
              <a:buNone/>
            </a:pPr>
            <a:r>
              <a:rPr lang="en-US" sz="4000" kern="100" spc="-80" dirty="0">
                <a:solidFill>
                  <a:srgbClr val="1B2638"/>
                </a:solidFill>
                <a:latin typeface="Newsreader Medium" pitchFamily="34" charset="0"/>
                <a:ea typeface="Newsreader Medium" pitchFamily="34" charset="-122"/>
                <a:cs typeface="Newsreader Medium" pitchFamily="34" charset="-120"/>
              </a:rPr>
              <a:t>1</a:t>
            </a:r>
            <a:endParaRPr lang="en-US" sz="4000" dirty="0"/>
          </a:p>
        </p:txBody>
      </p:sp>
      <p:sp>
        <p:nvSpPr>
          <p:cNvPr id="15" name="Text 12"/>
          <p:cNvSpPr/>
          <p:nvPr/>
        </p:nvSpPr>
        <p:spPr>
          <a:xfrm>
            <a:off x="8534187" y="5657056"/>
            <a:ext cx="2946326" cy="269875"/>
          </a:xfrm>
          <a:prstGeom prst="rect">
            <a:avLst/>
          </a:prstGeom>
          <a:noFill/>
          <a:ln/>
        </p:spPr>
        <p:txBody>
          <a:bodyPr wrap="none" lIns="0" tIns="0" rIns="0" bIns="0" rtlCol="0" anchor="t"/>
          <a:lstStyle/>
          <a:p>
            <a:pPr marL="0" indent="0" algn="l">
              <a:lnSpc>
                <a:spcPct val="104000"/>
              </a:lnSpc>
              <a:buNone/>
            </a:pPr>
            <a:r>
              <a:rPr lang="en-US" sz="1700" dirty="0">
                <a:solidFill>
                  <a:srgbClr val="4A5B70"/>
                </a:solidFill>
                <a:latin typeface="Geist SemiBold" pitchFamily="34" charset="0"/>
                <a:ea typeface="Geist SemiBold" pitchFamily="34" charset="-122"/>
                <a:cs typeface="Geist SemiBold" pitchFamily="34" charset="-120"/>
              </a:rPr>
              <a:t>Diabetes</a:t>
            </a:r>
            <a:endParaRPr lang="en-US" sz="1700" dirty="0"/>
          </a:p>
        </p:txBody>
      </p:sp>
      <p:sp>
        <p:nvSpPr>
          <p:cNvPr id="17" name="Rectangle 16">
            <a:extLst>
              <a:ext uri="{FF2B5EF4-FFF2-40B4-BE49-F238E27FC236}">
                <a16:creationId xmlns:a16="http://schemas.microsoft.com/office/drawing/2014/main" id="{1E7BEEE4-B73F-5FEC-D7A8-B50025BAD907}"/>
              </a:ext>
            </a:extLst>
          </p:cNvPr>
          <p:cNvSpPr/>
          <p:nvPr/>
        </p:nvSpPr>
        <p:spPr>
          <a:xfrm>
            <a:off x="10982131" y="6447453"/>
            <a:ext cx="1209869" cy="41054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189" y="459184"/>
            <a:ext cx="11734506" cy="182563"/>
          </a:xfrm>
          <a:prstGeom prst="rect">
            <a:avLst/>
          </a:prstGeom>
          <a:noFill/>
          <a:ln/>
        </p:spPr>
        <p:txBody>
          <a:bodyPr wrap="none" lIns="0" tIns="0" rIns="0" bIns="0" rtlCol="0" anchor="t"/>
          <a:lstStyle/>
          <a:p>
            <a:pPr marL="0" indent="0" algn="l">
              <a:lnSpc>
                <a:spcPct val="104000"/>
              </a:lnSpc>
              <a:buNone/>
            </a:pPr>
            <a:r>
              <a:rPr lang="en-US" sz="1150" kern="100" spc="92" dirty="0">
                <a:solidFill>
                  <a:srgbClr val="4A5B70"/>
                </a:solidFill>
                <a:latin typeface="Geist SemiBold" pitchFamily="34" charset="0"/>
                <a:ea typeface="Geist SemiBold" pitchFamily="34" charset="-122"/>
                <a:cs typeface="Geist SemiBold" pitchFamily="34" charset="-120"/>
              </a:rPr>
              <a:t>DATASET STRUCTURE</a:t>
            </a:r>
            <a:endParaRPr lang="en-US" sz="1150" dirty="0"/>
          </a:p>
        </p:txBody>
      </p:sp>
      <p:sp>
        <p:nvSpPr>
          <p:cNvPr id="3" name="Text 1"/>
          <p:cNvSpPr/>
          <p:nvPr/>
        </p:nvSpPr>
        <p:spPr>
          <a:xfrm>
            <a:off x="457189" y="731837"/>
            <a:ext cx="11277318" cy="432991"/>
          </a:xfrm>
          <a:prstGeom prst="rect">
            <a:avLst/>
          </a:prstGeom>
          <a:noFill/>
          <a:ln/>
        </p:spPr>
        <p:txBody>
          <a:bodyPr wrap="none" lIns="0" tIns="0" rIns="0" bIns="0" rtlCol="0" anchor="t"/>
          <a:lstStyle/>
          <a:p>
            <a:pPr marL="0" indent="0" algn="l">
              <a:lnSpc>
                <a:spcPct val="92000"/>
              </a:lnSpc>
              <a:buNone/>
            </a:pPr>
            <a:r>
              <a:rPr lang="en-US" sz="3100" kern="100" spc="-31" dirty="0">
                <a:solidFill>
                  <a:srgbClr val="1B2638"/>
                </a:solidFill>
                <a:latin typeface="Newsreader Medium" pitchFamily="34" charset="0"/>
                <a:ea typeface="Newsreader Medium" pitchFamily="34" charset="-122"/>
                <a:cs typeface="Newsreader Medium" pitchFamily="34" charset="-120"/>
              </a:rPr>
              <a:t>768 observations describe eight health features and one outcome</a:t>
            </a:r>
            <a:endParaRPr lang="en-US" sz="3100" dirty="0"/>
          </a:p>
        </p:txBody>
      </p:sp>
      <p:sp>
        <p:nvSpPr>
          <p:cNvPr id="4" name="Shape 2"/>
          <p:cNvSpPr/>
          <p:nvPr/>
        </p:nvSpPr>
        <p:spPr>
          <a:xfrm>
            <a:off x="457189" y="1439466"/>
            <a:ext cx="11277318" cy="31651"/>
          </a:xfrm>
          <a:prstGeom prst="roundRect">
            <a:avLst>
              <a:gd name="adj" fmla="val 49998"/>
            </a:avLst>
          </a:prstGeom>
          <a:solidFill>
            <a:srgbClr val="397B88"/>
          </a:solidFill>
          <a:ln/>
        </p:spPr>
        <p:txBody>
          <a:bodyPr/>
          <a:lstStyle/>
          <a:p>
            <a:endParaRPr lang="en-US"/>
          </a:p>
        </p:txBody>
      </p:sp>
      <p:sp>
        <p:nvSpPr>
          <p:cNvPr id="5" name="Shape 3"/>
          <p:cNvSpPr/>
          <p:nvPr/>
        </p:nvSpPr>
        <p:spPr>
          <a:xfrm>
            <a:off x="457189" y="1723628"/>
            <a:ext cx="2590735" cy="1662013"/>
          </a:xfrm>
          <a:prstGeom prst="roundRect">
            <a:avLst>
              <a:gd name="adj" fmla="val 688"/>
            </a:avLst>
          </a:prstGeom>
          <a:noFill/>
          <a:ln w="25399">
            <a:solidFill>
              <a:srgbClr val="4A5B70"/>
            </a:solidFill>
            <a:prstDash val="solid"/>
          </a:ln>
        </p:spPr>
        <p:txBody>
          <a:bodyPr/>
          <a:lstStyle/>
          <a:p>
            <a:endParaRPr lang="en-US"/>
          </a:p>
        </p:txBody>
      </p:sp>
      <p:sp>
        <p:nvSpPr>
          <p:cNvPr id="6" name="Text 4"/>
          <p:cNvSpPr/>
          <p:nvPr/>
        </p:nvSpPr>
        <p:spPr>
          <a:xfrm>
            <a:off x="711182" y="1977628"/>
            <a:ext cx="2082748" cy="640060"/>
          </a:xfrm>
          <a:prstGeom prst="rect">
            <a:avLst/>
          </a:prstGeom>
          <a:noFill/>
          <a:ln/>
        </p:spPr>
        <p:txBody>
          <a:bodyPr wrap="none" lIns="0" tIns="0" rIns="0" bIns="0" rtlCol="0" anchor="t"/>
          <a:lstStyle/>
          <a:p>
            <a:pPr marL="0" indent="0" algn="l">
              <a:lnSpc>
                <a:spcPct val="88000"/>
              </a:lnSpc>
              <a:buNone/>
            </a:pPr>
            <a:r>
              <a:rPr lang="en-US" sz="4800" kern="100" spc="-96" dirty="0">
                <a:solidFill>
                  <a:srgbClr val="1B2638"/>
                </a:solidFill>
                <a:latin typeface="Newsreader Medium" pitchFamily="34" charset="0"/>
                <a:ea typeface="Newsreader Medium" pitchFamily="34" charset="-122"/>
                <a:cs typeface="Newsreader Medium" pitchFamily="34" charset="-120"/>
              </a:rPr>
              <a:t>768</a:t>
            </a:r>
            <a:endParaRPr lang="en-US" sz="4800" dirty="0"/>
          </a:p>
        </p:txBody>
      </p:sp>
      <p:sp>
        <p:nvSpPr>
          <p:cNvPr id="7" name="Text 5"/>
          <p:cNvSpPr/>
          <p:nvPr/>
        </p:nvSpPr>
        <p:spPr>
          <a:xfrm>
            <a:off x="711182" y="2843113"/>
            <a:ext cx="2336742" cy="288528"/>
          </a:xfrm>
          <a:prstGeom prst="rect">
            <a:avLst/>
          </a:prstGeom>
          <a:noFill/>
          <a:ln/>
        </p:spPr>
        <p:txBody>
          <a:bodyPr wrap="none" lIns="0" tIns="0" rIns="0" bIns="0" rtlCol="0" anchor="t"/>
          <a:lstStyle/>
          <a:p>
            <a:pPr marL="0" indent="0" algn="l">
              <a:lnSpc>
                <a:spcPct val="118000"/>
              </a:lnSpc>
              <a:buNone/>
            </a:pPr>
            <a:r>
              <a:rPr lang="en-US" sz="1600" dirty="0">
                <a:solidFill>
                  <a:srgbClr val="2B3139"/>
                </a:solidFill>
                <a:latin typeface="Geist" pitchFamily="34" charset="0"/>
                <a:ea typeface="Geist" pitchFamily="34" charset="-122"/>
                <a:cs typeface="Geist" pitchFamily="34" charset="-120"/>
              </a:rPr>
              <a:t>Observations</a:t>
            </a:r>
            <a:endParaRPr lang="en-US" sz="1600" dirty="0"/>
          </a:p>
        </p:txBody>
      </p:sp>
      <p:sp>
        <p:nvSpPr>
          <p:cNvPr id="8" name="Shape 6"/>
          <p:cNvSpPr/>
          <p:nvPr/>
        </p:nvSpPr>
        <p:spPr>
          <a:xfrm>
            <a:off x="3352716" y="1723628"/>
            <a:ext cx="2590735" cy="1662013"/>
          </a:xfrm>
          <a:prstGeom prst="roundRect">
            <a:avLst>
              <a:gd name="adj" fmla="val 688"/>
            </a:avLst>
          </a:prstGeom>
          <a:noFill/>
          <a:ln w="25399">
            <a:solidFill>
              <a:srgbClr val="4A5B70"/>
            </a:solidFill>
            <a:prstDash val="solid"/>
          </a:ln>
        </p:spPr>
        <p:txBody>
          <a:bodyPr/>
          <a:lstStyle/>
          <a:p>
            <a:endParaRPr lang="en-US"/>
          </a:p>
        </p:txBody>
      </p:sp>
      <p:sp>
        <p:nvSpPr>
          <p:cNvPr id="9" name="Text 7"/>
          <p:cNvSpPr/>
          <p:nvPr/>
        </p:nvSpPr>
        <p:spPr>
          <a:xfrm>
            <a:off x="3606710" y="1977628"/>
            <a:ext cx="2082748" cy="640060"/>
          </a:xfrm>
          <a:prstGeom prst="rect">
            <a:avLst/>
          </a:prstGeom>
          <a:noFill/>
          <a:ln/>
        </p:spPr>
        <p:txBody>
          <a:bodyPr wrap="none" lIns="0" tIns="0" rIns="0" bIns="0" rtlCol="0" anchor="t"/>
          <a:lstStyle/>
          <a:p>
            <a:pPr marL="0" indent="0" algn="l">
              <a:lnSpc>
                <a:spcPct val="88000"/>
              </a:lnSpc>
              <a:buNone/>
            </a:pPr>
            <a:r>
              <a:rPr lang="en-US" sz="4800" kern="100" spc="-96" dirty="0">
                <a:solidFill>
                  <a:srgbClr val="1B2638"/>
                </a:solidFill>
                <a:latin typeface="Newsreader Medium" pitchFamily="34" charset="0"/>
                <a:ea typeface="Newsreader Medium" pitchFamily="34" charset="-122"/>
                <a:cs typeface="Newsreader Medium" pitchFamily="34" charset="-120"/>
              </a:rPr>
              <a:t>9</a:t>
            </a:r>
            <a:endParaRPr lang="en-US" sz="4800" dirty="0"/>
          </a:p>
        </p:txBody>
      </p:sp>
      <p:sp>
        <p:nvSpPr>
          <p:cNvPr id="10" name="Text 8"/>
          <p:cNvSpPr/>
          <p:nvPr/>
        </p:nvSpPr>
        <p:spPr>
          <a:xfrm>
            <a:off x="3606710" y="2843113"/>
            <a:ext cx="2336742" cy="288528"/>
          </a:xfrm>
          <a:prstGeom prst="rect">
            <a:avLst/>
          </a:prstGeom>
          <a:noFill/>
          <a:ln/>
        </p:spPr>
        <p:txBody>
          <a:bodyPr wrap="none" lIns="0" tIns="0" rIns="0" bIns="0" rtlCol="0" anchor="t"/>
          <a:lstStyle/>
          <a:p>
            <a:pPr marL="0" indent="0" algn="l">
              <a:lnSpc>
                <a:spcPct val="118000"/>
              </a:lnSpc>
              <a:buNone/>
            </a:pPr>
            <a:r>
              <a:rPr lang="en-US" sz="1600" dirty="0">
                <a:solidFill>
                  <a:srgbClr val="2B3139"/>
                </a:solidFill>
                <a:latin typeface="Geist" pitchFamily="34" charset="0"/>
                <a:ea typeface="Geist" pitchFamily="34" charset="-122"/>
                <a:cs typeface="Geist" pitchFamily="34" charset="-120"/>
              </a:rPr>
              <a:t>Columns</a:t>
            </a:r>
            <a:endParaRPr lang="en-US" sz="1600" dirty="0"/>
          </a:p>
        </p:txBody>
      </p:sp>
      <p:sp>
        <p:nvSpPr>
          <p:cNvPr id="11" name="Shape 9"/>
          <p:cNvSpPr/>
          <p:nvPr/>
        </p:nvSpPr>
        <p:spPr>
          <a:xfrm>
            <a:off x="6248244" y="1723628"/>
            <a:ext cx="2590735" cy="1662013"/>
          </a:xfrm>
          <a:prstGeom prst="roundRect">
            <a:avLst>
              <a:gd name="adj" fmla="val 688"/>
            </a:avLst>
          </a:prstGeom>
          <a:noFill/>
          <a:ln w="25399">
            <a:solidFill>
              <a:srgbClr val="4A5B70"/>
            </a:solidFill>
            <a:prstDash val="solid"/>
          </a:ln>
        </p:spPr>
        <p:txBody>
          <a:bodyPr/>
          <a:lstStyle/>
          <a:p>
            <a:endParaRPr lang="en-US"/>
          </a:p>
        </p:txBody>
      </p:sp>
      <p:sp>
        <p:nvSpPr>
          <p:cNvPr id="12" name="Text 10"/>
          <p:cNvSpPr/>
          <p:nvPr/>
        </p:nvSpPr>
        <p:spPr>
          <a:xfrm>
            <a:off x="6502237" y="1977628"/>
            <a:ext cx="2082748" cy="640060"/>
          </a:xfrm>
          <a:prstGeom prst="rect">
            <a:avLst/>
          </a:prstGeom>
          <a:noFill/>
          <a:ln/>
        </p:spPr>
        <p:txBody>
          <a:bodyPr wrap="none" lIns="0" tIns="0" rIns="0" bIns="0" rtlCol="0" anchor="t"/>
          <a:lstStyle/>
          <a:p>
            <a:pPr marL="0" indent="0" algn="l">
              <a:lnSpc>
                <a:spcPct val="88000"/>
              </a:lnSpc>
              <a:buNone/>
            </a:pPr>
            <a:r>
              <a:rPr lang="en-US" sz="4800" kern="100" spc="-96" dirty="0">
                <a:solidFill>
                  <a:srgbClr val="1B2638"/>
                </a:solidFill>
                <a:latin typeface="Newsreader Medium" pitchFamily="34" charset="0"/>
                <a:ea typeface="Newsreader Medium" pitchFamily="34" charset="-122"/>
                <a:cs typeface="Newsreader Medium" pitchFamily="34" charset="-120"/>
              </a:rPr>
              <a:t>8</a:t>
            </a:r>
            <a:endParaRPr lang="en-US" sz="4800" dirty="0"/>
          </a:p>
        </p:txBody>
      </p:sp>
      <p:sp>
        <p:nvSpPr>
          <p:cNvPr id="13" name="Text 11"/>
          <p:cNvSpPr/>
          <p:nvPr/>
        </p:nvSpPr>
        <p:spPr>
          <a:xfrm>
            <a:off x="6502237" y="2843113"/>
            <a:ext cx="2336742" cy="288528"/>
          </a:xfrm>
          <a:prstGeom prst="rect">
            <a:avLst/>
          </a:prstGeom>
          <a:noFill/>
          <a:ln/>
        </p:spPr>
        <p:txBody>
          <a:bodyPr wrap="none" lIns="0" tIns="0" rIns="0" bIns="0" rtlCol="0" anchor="t"/>
          <a:lstStyle/>
          <a:p>
            <a:pPr marL="0" indent="0" algn="l">
              <a:lnSpc>
                <a:spcPct val="118000"/>
              </a:lnSpc>
              <a:buNone/>
            </a:pPr>
            <a:r>
              <a:rPr lang="en-US" sz="1600" dirty="0">
                <a:solidFill>
                  <a:srgbClr val="2B3139"/>
                </a:solidFill>
                <a:latin typeface="Geist" pitchFamily="34" charset="0"/>
                <a:ea typeface="Geist" pitchFamily="34" charset="-122"/>
                <a:cs typeface="Geist" pitchFamily="34" charset="-120"/>
              </a:rPr>
              <a:t>Input features</a:t>
            </a:r>
            <a:endParaRPr lang="en-US" sz="1600" dirty="0"/>
          </a:p>
        </p:txBody>
      </p:sp>
      <p:sp>
        <p:nvSpPr>
          <p:cNvPr id="14" name="Shape 12"/>
          <p:cNvSpPr/>
          <p:nvPr/>
        </p:nvSpPr>
        <p:spPr>
          <a:xfrm>
            <a:off x="9143771" y="1723628"/>
            <a:ext cx="2590735" cy="1662013"/>
          </a:xfrm>
          <a:prstGeom prst="roundRect">
            <a:avLst>
              <a:gd name="adj" fmla="val 688"/>
            </a:avLst>
          </a:prstGeom>
          <a:noFill/>
          <a:ln w="25399">
            <a:solidFill>
              <a:srgbClr val="4A5B70"/>
            </a:solidFill>
            <a:prstDash val="solid"/>
          </a:ln>
        </p:spPr>
        <p:txBody>
          <a:bodyPr/>
          <a:lstStyle/>
          <a:p>
            <a:endParaRPr lang="en-US"/>
          </a:p>
        </p:txBody>
      </p:sp>
      <p:sp>
        <p:nvSpPr>
          <p:cNvPr id="15" name="Text 13"/>
          <p:cNvSpPr/>
          <p:nvPr/>
        </p:nvSpPr>
        <p:spPr>
          <a:xfrm>
            <a:off x="9397765" y="1977628"/>
            <a:ext cx="2082748" cy="640060"/>
          </a:xfrm>
          <a:prstGeom prst="rect">
            <a:avLst/>
          </a:prstGeom>
          <a:noFill/>
          <a:ln/>
        </p:spPr>
        <p:txBody>
          <a:bodyPr wrap="none" lIns="0" tIns="0" rIns="0" bIns="0" rtlCol="0" anchor="t"/>
          <a:lstStyle/>
          <a:p>
            <a:pPr marL="0" indent="0" algn="l">
              <a:lnSpc>
                <a:spcPct val="88000"/>
              </a:lnSpc>
              <a:buNone/>
            </a:pPr>
            <a:r>
              <a:rPr lang="en-US" sz="4800" kern="100" spc="-96" dirty="0">
                <a:solidFill>
                  <a:srgbClr val="1B2638"/>
                </a:solidFill>
                <a:latin typeface="Newsreader Medium" pitchFamily="34" charset="0"/>
                <a:ea typeface="Newsreader Medium" pitchFamily="34" charset="-122"/>
                <a:cs typeface="Newsreader Medium" pitchFamily="34" charset="-120"/>
              </a:rPr>
              <a:t>1</a:t>
            </a:r>
            <a:endParaRPr lang="en-US" sz="4800" dirty="0"/>
          </a:p>
        </p:txBody>
      </p:sp>
      <p:sp>
        <p:nvSpPr>
          <p:cNvPr id="16" name="Text 14"/>
          <p:cNvSpPr/>
          <p:nvPr/>
        </p:nvSpPr>
        <p:spPr>
          <a:xfrm>
            <a:off x="9397765" y="2843113"/>
            <a:ext cx="2336742" cy="288528"/>
          </a:xfrm>
          <a:prstGeom prst="rect">
            <a:avLst/>
          </a:prstGeom>
          <a:noFill/>
          <a:ln/>
        </p:spPr>
        <p:txBody>
          <a:bodyPr wrap="none" lIns="0" tIns="0" rIns="0" bIns="0" rtlCol="0" anchor="t"/>
          <a:lstStyle/>
          <a:p>
            <a:pPr marL="0" indent="0" algn="l">
              <a:lnSpc>
                <a:spcPct val="118000"/>
              </a:lnSpc>
              <a:buNone/>
            </a:pPr>
            <a:r>
              <a:rPr lang="en-US" sz="1600" dirty="0">
                <a:solidFill>
                  <a:srgbClr val="2B3139"/>
                </a:solidFill>
                <a:latin typeface="Geist" pitchFamily="34" charset="0"/>
                <a:ea typeface="Geist" pitchFamily="34" charset="-122"/>
                <a:cs typeface="Geist" pitchFamily="34" charset="-120"/>
              </a:rPr>
              <a:t>Target</a:t>
            </a:r>
            <a:endParaRPr lang="en-US" sz="1600" dirty="0"/>
          </a:p>
        </p:txBody>
      </p:sp>
      <p:sp>
        <p:nvSpPr>
          <p:cNvPr id="17" name="Text 15"/>
          <p:cNvSpPr/>
          <p:nvPr/>
        </p:nvSpPr>
        <p:spPr>
          <a:xfrm>
            <a:off x="457189" y="4068663"/>
            <a:ext cx="11734506" cy="182563"/>
          </a:xfrm>
          <a:prstGeom prst="rect">
            <a:avLst/>
          </a:prstGeom>
          <a:noFill/>
          <a:ln/>
        </p:spPr>
        <p:txBody>
          <a:bodyPr wrap="none" lIns="0" tIns="0" rIns="0" bIns="0" rtlCol="0" anchor="t"/>
          <a:lstStyle/>
          <a:p>
            <a:pPr marL="0" indent="0" algn="l">
              <a:lnSpc>
                <a:spcPct val="104000"/>
              </a:lnSpc>
              <a:buNone/>
            </a:pPr>
            <a:r>
              <a:rPr lang="en-US" sz="1150" kern="100" spc="92" dirty="0">
                <a:solidFill>
                  <a:srgbClr val="4A5B70"/>
                </a:solidFill>
                <a:latin typeface="Geist SemiBold" pitchFamily="34" charset="0"/>
                <a:ea typeface="Geist SemiBold" pitchFamily="34" charset="-122"/>
                <a:cs typeface="Geist SemiBold" pitchFamily="34" charset="-120"/>
              </a:rPr>
              <a:t>INPUT FEATURES</a:t>
            </a:r>
            <a:endParaRPr lang="en-US" sz="1150" dirty="0"/>
          </a:p>
        </p:txBody>
      </p:sp>
      <p:sp>
        <p:nvSpPr>
          <p:cNvPr id="18" name="Shape 16"/>
          <p:cNvSpPr/>
          <p:nvPr/>
        </p:nvSpPr>
        <p:spPr>
          <a:xfrm>
            <a:off x="457189" y="4452441"/>
            <a:ext cx="1469591" cy="324941"/>
          </a:xfrm>
          <a:prstGeom prst="roundRect">
            <a:avLst>
              <a:gd name="adj" fmla="val 3517"/>
            </a:avLst>
          </a:prstGeom>
          <a:noFill/>
          <a:ln w="6350">
            <a:solidFill>
              <a:srgbClr val="4A5B70"/>
            </a:solidFill>
            <a:prstDash val="solid"/>
          </a:ln>
        </p:spPr>
        <p:txBody>
          <a:bodyPr/>
          <a:lstStyle/>
          <a:p>
            <a:endParaRPr lang="en-US"/>
          </a:p>
        </p:txBody>
      </p:sp>
      <p:sp>
        <p:nvSpPr>
          <p:cNvPr id="19" name="Text 17"/>
          <p:cNvSpPr/>
          <p:nvPr/>
        </p:nvSpPr>
        <p:spPr>
          <a:xfrm>
            <a:off x="579026" y="4519712"/>
            <a:ext cx="1835501" cy="203101"/>
          </a:xfrm>
          <a:prstGeom prst="rect">
            <a:avLst/>
          </a:prstGeom>
          <a:noFill/>
          <a:ln/>
        </p:spPr>
        <p:txBody>
          <a:bodyPr wrap="none" lIns="0" tIns="0" rIns="0" bIns="0" rtlCol="0" anchor="t"/>
          <a:lstStyle/>
          <a:p>
            <a:pPr marL="0" indent="0" algn="l">
              <a:lnSpc>
                <a:spcPct val="104000"/>
              </a:lnSpc>
              <a:buNone/>
            </a:pPr>
            <a:r>
              <a:rPr lang="en-US" sz="1300" kern="100" spc="51" dirty="0">
                <a:solidFill>
                  <a:srgbClr val="4A5B70"/>
                </a:solidFill>
                <a:latin typeface="Geist SemiBold" pitchFamily="34" charset="0"/>
                <a:ea typeface="Geist SemiBold" pitchFamily="34" charset="-122"/>
                <a:cs typeface="Geist SemiBold" pitchFamily="34" charset="-120"/>
              </a:rPr>
              <a:t>PREGNANCIES</a:t>
            </a:r>
            <a:endParaRPr lang="en-US" sz="1300" dirty="0"/>
          </a:p>
        </p:txBody>
      </p:sp>
      <p:sp>
        <p:nvSpPr>
          <p:cNvPr id="20" name="Shape 18"/>
          <p:cNvSpPr/>
          <p:nvPr/>
        </p:nvSpPr>
        <p:spPr>
          <a:xfrm>
            <a:off x="2028377" y="4452441"/>
            <a:ext cx="1060820" cy="324941"/>
          </a:xfrm>
          <a:prstGeom prst="roundRect">
            <a:avLst>
              <a:gd name="adj" fmla="val 3517"/>
            </a:avLst>
          </a:prstGeom>
          <a:noFill/>
          <a:ln w="6350">
            <a:solidFill>
              <a:srgbClr val="4A5B70"/>
            </a:solidFill>
            <a:prstDash val="solid"/>
          </a:ln>
        </p:spPr>
        <p:txBody>
          <a:bodyPr/>
          <a:lstStyle/>
          <a:p>
            <a:endParaRPr lang="en-US"/>
          </a:p>
        </p:txBody>
      </p:sp>
      <p:sp>
        <p:nvSpPr>
          <p:cNvPr id="21" name="Text 19"/>
          <p:cNvSpPr/>
          <p:nvPr/>
        </p:nvSpPr>
        <p:spPr>
          <a:xfrm>
            <a:off x="2150215" y="4519712"/>
            <a:ext cx="1426730" cy="203101"/>
          </a:xfrm>
          <a:prstGeom prst="rect">
            <a:avLst/>
          </a:prstGeom>
          <a:noFill/>
          <a:ln/>
        </p:spPr>
        <p:txBody>
          <a:bodyPr wrap="none" lIns="0" tIns="0" rIns="0" bIns="0" rtlCol="0" anchor="t"/>
          <a:lstStyle/>
          <a:p>
            <a:pPr marL="0" indent="0" algn="l">
              <a:lnSpc>
                <a:spcPct val="104000"/>
              </a:lnSpc>
              <a:buNone/>
            </a:pPr>
            <a:r>
              <a:rPr lang="en-US" sz="1300" kern="100" spc="51" dirty="0">
                <a:solidFill>
                  <a:srgbClr val="4A5B70"/>
                </a:solidFill>
                <a:latin typeface="Geist SemiBold" pitchFamily="34" charset="0"/>
                <a:ea typeface="Geist SemiBold" pitchFamily="34" charset="-122"/>
                <a:cs typeface="Geist SemiBold" pitchFamily="34" charset="-120"/>
              </a:rPr>
              <a:t>GLUCOSE</a:t>
            </a:r>
            <a:endParaRPr lang="en-US" sz="1300" dirty="0"/>
          </a:p>
        </p:txBody>
      </p:sp>
      <p:sp>
        <p:nvSpPr>
          <p:cNvPr id="22" name="Shape 20"/>
          <p:cNvSpPr/>
          <p:nvPr/>
        </p:nvSpPr>
        <p:spPr>
          <a:xfrm>
            <a:off x="3190795" y="4452441"/>
            <a:ext cx="1756624" cy="324941"/>
          </a:xfrm>
          <a:prstGeom prst="roundRect">
            <a:avLst>
              <a:gd name="adj" fmla="val 3517"/>
            </a:avLst>
          </a:prstGeom>
          <a:noFill/>
          <a:ln w="6350">
            <a:solidFill>
              <a:srgbClr val="4A5B70"/>
            </a:solidFill>
            <a:prstDash val="solid"/>
          </a:ln>
        </p:spPr>
        <p:txBody>
          <a:bodyPr/>
          <a:lstStyle/>
          <a:p>
            <a:endParaRPr lang="en-US"/>
          </a:p>
        </p:txBody>
      </p:sp>
      <p:sp>
        <p:nvSpPr>
          <p:cNvPr id="23" name="Text 21"/>
          <p:cNvSpPr/>
          <p:nvPr/>
        </p:nvSpPr>
        <p:spPr>
          <a:xfrm>
            <a:off x="3312633" y="4519712"/>
            <a:ext cx="2122534" cy="203101"/>
          </a:xfrm>
          <a:prstGeom prst="rect">
            <a:avLst/>
          </a:prstGeom>
          <a:noFill/>
          <a:ln/>
        </p:spPr>
        <p:txBody>
          <a:bodyPr wrap="none" lIns="0" tIns="0" rIns="0" bIns="0" rtlCol="0" anchor="t"/>
          <a:lstStyle/>
          <a:p>
            <a:pPr marL="0" indent="0" algn="l">
              <a:lnSpc>
                <a:spcPct val="104000"/>
              </a:lnSpc>
              <a:buNone/>
            </a:pPr>
            <a:r>
              <a:rPr lang="en-US" sz="1300" kern="100" spc="51" dirty="0">
                <a:solidFill>
                  <a:srgbClr val="4A5B70"/>
                </a:solidFill>
                <a:latin typeface="Geist SemiBold" pitchFamily="34" charset="0"/>
                <a:ea typeface="Geist SemiBold" pitchFamily="34" charset="-122"/>
                <a:cs typeface="Geist SemiBold" pitchFamily="34" charset="-120"/>
              </a:rPr>
              <a:t>BLOODPRESSURE</a:t>
            </a:r>
            <a:endParaRPr lang="en-US" sz="1300" dirty="0"/>
          </a:p>
        </p:txBody>
      </p:sp>
      <p:sp>
        <p:nvSpPr>
          <p:cNvPr id="24" name="Shape 22"/>
          <p:cNvSpPr/>
          <p:nvPr/>
        </p:nvSpPr>
        <p:spPr>
          <a:xfrm>
            <a:off x="5049017" y="4452441"/>
            <a:ext cx="1613455" cy="324941"/>
          </a:xfrm>
          <a:prstGeom prst="roundRect">
            <a:avLst>
              <a:gd name="adj" fmla="val 3517"/>
            </a:avLst>
          </a:prstGeom>
          <a:noFill/>
          <a:ln w="6350">
            <a:solidFill>
              <a:srgbClr val="4A5B70"/>
            </a:solidFill>
            <a:prstDash val="solid"/>
          </a:ln>
        </p:spPr>
        <p:txBody>
          <a:bodyPr/>
          <a:lstStyle/>
          <a:p>
            <a:endParaRPr lang="en-US"/>
          </a:p>
        </p:txBody>
      </p:sp>
      <p:sp>
        <p:nvSpPr>
          <p:cNvPr id="25" name="Text 23"/>
          <p:cNvSpPr/>
          <p:nvPr/>
        </p:nvSpPr>
        <p:spPr>
          <a:xfrm>
            <a:off x="5170854" y="4519712"/>
            <a:ext cx="1979365" cy="203101"/>
          </a:xfrm>
          <a:prstGeom prst="rect">
            <a:avLst/>
          </a:prstGeom>
          <a:noFill/>
          <a:ln/>
        </p:spPr>
        <p:txBody>
          <a:bodyPr wrap="none" lIns="0" tIns="0" rIns="0" bIns="0" rtlCol="0" anchor="t"/>
          <a:lstStyle/>
          <a:p>
            <a:pPr marL="0" indent="0" algn="l">
              <a:lnSpc>
                <a:spcPct val="104000"/>
              </a:lnSpc>
              <a:buNone/>
            </a:pPr>
            <a:r>
              <a:rPr lang="en-US" sz="1300" kern="100" spc="51" dirty="0">
                <a:solidFill>
                  <a:srgbClr val="4A5B70"/>
                </a:solidFill>
                <a:latin typeface="Geist SemiBold" pitchFamily="34" charset="0"/>
                <a:ea typeface="Geist SemiBold" pitchFamily="34" charset="-122"/>
                <a:cs typeface="Geist SemiBold" pitchFamily="34" charset="-120"/>
              </a:rPr>
              <a:t>SKINTHICKNESS</a:t>
            </a:r>
            <a:endParaRPr lang="en-US" sz="1300" dirty="0"/>
          </a:p>
        </p:txBody>
      </p:sp>
      <p:sp>
        <p:nvSpPr>
          <p:cNvPr id="26" name="Shape 24"/>
          <p:cNvSpPr/>
          <p:nvPr/>
        </p:nvSpPr>
        <p:spPr>
          <a:xfrm>
            <a:off x="6764069" y="4452441"/>
            <a:ext cx="930053" cy="324941"/>
          </a:xfrm>
          <a:prstGeom prst="roundRect">
            <a:avLst>
              <a:gd name="adj" fmla="val 3517"/>
            </a:avLst>
          </a:prstGeom>
          <a:noFill/>
          <a:ln w="6350">
            <a:solidFill>
              <a:srgbClr val="4A5B70"/>
            </a:solidFill>
            <a:prstDash val="solid"/>
          </a:ln>
        </p:spPr>
        <p:txBody>
          <a:bodyPr/>
          <a:lstStyle/>
          <a:p>
            <a:endParaRPr lang="en-US"/>
          </a:p>
        </p:txBody>
      </p:sp>
      <p:sp>
        <p:nvSpPr>
          <p:cNvPr id="27" name="Text 25"/>
          <p:cNvSpPr/>
          <p:nvPr/>
        </p:nvSpPr>
        <p:spPr>
          <a:xfrm>
            <a:off x="6885907" y="4519712"/>
            <a:ext cx="1295963" cy="203101"/>
          </a:xfrm>
          <a:prstGeom prst="rect">
            <a:avLst/>
          </a:prstGeom>
          <a:noFill/>
          <a:ln/>
        </p:spPr>
        <p:txBody>
          <a:bodyPr wrap="none" lIns="0" tIns="0" rIns="0" bIns="0" rtlCol="0" anchor="t"/>
          <a:lstStyle/>
          <a:p>
            <a:pPr marL="0" indent="0" algn="l">
              <a:lnSpc>
                <a:spcPct val="104000"/>
              </a:lnSpc>
              <a:buNone/>
            </a:pPr>
            <a:r>
              <a:rPr lang="en-US" sz="1300" kern="100" spc="51" dirty="0">
                <a:solidFill>
                  <a:srgbClr val="4A5B70"/>
                </a:solidFill>
                <a:latin typeface="Geist SemiBold" pitchFamily="34" charset="0"/>
                <a:ea typeface="Geist SemiBold" pitchFamily="34" charset="-122"/>
                <a:cs typeface="Geist SemiBold" pitchFamily="34" charset="-120"/>
              </a:rPr>
              <a:t>INSULIN</a:t>
            </a:r>
            <a:endParaRPr lang="en-US" sz="1300" dirty="0"/>
          </a:p>
        </p:txBody>
      </p:sp>
      <p:sp>
        <p:nvSpPr>
          <p:cNvPr id="28" name="Shape 26"/>
          <p:cNvSpPr/>
          <p:nvPr/>
        </p:nvSpPr>
        <p:spPr>
          <a:xfrm>
            <a:off x="7795720" y="4452441"/>
            <a:ext cx="566029" cy="324941"/>
          </a:xfrm>
          <a:prstGeom prst="roundRect">
            <a:avLst>
              <a:gd name="adj" fmla="val 3517"/>
            </a:avLst>
          </a:prstGeom>
          <a:noFill/>
          <a:ln w="6350">
            <a:solidFill>
              <a:srgbClr val="4A5B70"/>
            </a:solidFill>
            <a:prstDash val="solid"/>
          </a:ln>
        </p:spPr>
        <p:txBody>
          <a:bodyPr/>
          <a:lstStyle/>
          <a:p>
            <a:endParaRPr lang="en-US"/>
          </a:p>
        </p:txBody>
      </p:sp>
      <p:sp>
        <p:nvSpPr>
          <p:cNvPr id="29" name="Text 27"/>
          <p:cNvSpPr/>
          <p:nvPr/>
        </p:nvSpPr>
        <p:spPr>
          <a:xfrm>
            <a:off x="7917557" y="4519712"/>
            <a:ext cx="931938" cy="203101"/>
          </a:xfrm>
          <a:prstGeom prst="rect">
            <a:avLst/>
          </a:prstGeom>
          <a:noFill/>
          <a:ln/>
        </p:spPr>
        <p:txBody>
          <a:bodyPr wrap="none" lIns="0" tIns="0" rIns="0" bIns="0" rtlCol="0" anchor="t"/>
          <a:lstStyle/>
          <a:p>
            <a:pPr marL="0" indent="0" algn="l">
              <a:lnSpc>
                <a:spcPct val="104000"/>
              </a:lnSpc>
              <a:buNone/>
            </a:pPr>
            <a:r>
              <a:rPr lang="en-US" sz="1300" kern="100" spc="51" dirty="0">
                <a:solidFill>
                  <a:srgbClr val="4A5B70"/>
                </a:solidFill>
                <a:latin typeface="Geist SemiBold" pitchFamily="34" charset="0"/>
                <a:ea typeface="Geist SemiBold" pitchFamily="34" charset="-122"/>
                <a:cs typeface="Geist SemiBold" pitchFamily="34" charset="-120"/>
              </a:rPr>
              <a:t>BMI</a:t>
            </a:r>
            <a:endParaRPr lang="en-US" sz="1300" dirty="0"/>
          </a:p>
        </p:txBody>
      </p:sp>
      <p:sp>
        <p:nvSpPr>
          <p:cNvPr id="30" name="Shape 28"/>
          <p:cNvSpPr/>
          <p:nvPr/>
        </p:nvSpPr>
        <p:spPr>
          <a:xfrm>
            <a:off x="8463346" y="4452441"/>
            <a:ext cx="2808912" cy="324941"/>
          </a:xfrm>
          <a:prstGeom prst="roundRect">
            <a:avLst>
              <a:gd name="adj" fmla="val 3517"/>
            </a:avLst>
          </a:prstGeom>
          <a:noFill/>
          <a:ln w="6350">
            <a:solidFill>
              <a:srgbClr val="4A5B70"/>
            </a:solidFill>
            <a:prstDash val="solid"/>
          </a:ln>
        </p:spPr>
        <p:txBody>
          <a:bodyPr/>
          <a:lstStyle/>
          <a:p>
            <a:endParaRPr lang="en-US"/>
          </a:p>
        </p:txBody>
      </p:sp>
      <p:sp>
        <p:nvSpPr>
          <p:cNvPr id="31" name="Text 29"/>
          <p:cNvSpPr/>
          <p:nvPr/>
        </p:nvSpPr>
        <p:spPr>
          <a:xfrm>
            <a:off x="8585184" y="4519712"/>
            <a:ext cx="3174821" cy="203101"/>
          </a:xfrm>
          <a:prstGeom prst="rect">
            <a:avLst/>
          </a:prstGeom>
          <a:noFill/>
          <a:ln/>
        </p:spPr>
        <p:txBody>
          <a:bodyPr wrap="none" lIns="0" tIns="0" rIns="0" bIns="0" rtlCol="0" anchor="t"/>
          <a:lstStyle/>
          <a:p>
            <a:pPr marL="0" indent="0" algn="l">
              <a:lnSpc>
                <a:spcPct val="104000"/>
              </a:lnSpc>
              <a:buNone/>
            </a:pPr>
            <a:r>
              <a:rPr lang="en-US" sz="1300" kern="100" spc="51" dirty="0">
                <a:solidFill>
                  <a:srgbClr val="4A5B70"/>
                </a:solidFill>
                <a:latin typeface="Geist SemiBold" pitchFamily="34" charset="0"/>
                <a:ea typeface="Geist SemiBold" pitchFamily="34" charset="-122"/>
                <a:cs typeface="Geist SemiBold" pitchFamily="34" charset="-120"/>
              </a:rPr>
              <a:t>DIABETESPEDIGREEFUNCTION</a:t>
            </a:r>
            <a:endParaRPr lang="en-US" sz="1300" dirty="0"/>
          </a:p>
        </p:txBody>
      </p:sp>
      <p:sp>
        <p:nvSpPr>
          <p:cNvPr id="32" name="Shape 30"/>
          <p:cNvSpPr/>
          <p:nvPr/>
        </p:nvSpPr>
        <p:spPr>
          <a:xfrm>
            <a:off x="457189" y="4878983"/>
            <a:ext cx="590238" cy="324941"/>
          </a:xfrm>
          <a:prstGeom prst="roundRect">
            <a:avLst>
              <a:gd name="adj" fmla="val 3517"/>
            </a:avLst>
          </a:prstGeom>
          <a:noFill/>
          <a:ln w="6350">
            <a:solidFill>
              <a:srgbClr val="4A5B70"/>
            </a:solidFill>
            <a:prstDash val="solid"/>
          </a:ln>
        </p:spPr>
        <p:txBody>
          <a:bodyPr/>
          <a:lstStyle/>
          <a:p>
            <a:endParaRPr lang="en-US"/>
          </a:p>
        </p:txBody>
      </p:sp>
      <p:sp>
        <p:nvSpPr>
          <p:cNvPr id="33" name="Text 31"/>
          <p:cNvSpPr/>
          <p:nvPr/>
        </p:nvSpPr>
        <p:spPr>
          <a:xfrm>
            <a:off x="579026" y="4946253"/>
            <a:ext cx="956147" cy="203101"/>
          </a:xfrm>
          <a:prstGeom prst="rect">
            <a:avLst/>
          </a:prstGeom>
          <a:noFill/>
          <a:ln/>
        </p:spPr>
        <p:txBody>
          <a:bodyPr wrap="none" lIns="0" tIns="0" rIns="0" bIns="0" rtlCol="0" anchor="t"/>
          <a:lstStyle/>
          <a:p>
            <a:pPr marL="0" indent="0" algn="l">
              <a:lnSpc>
                <a:spcPct val="104000"/>
              </a:lnSpc>
              <a:buNone/>
            </a:pPr>
            <a:r>
              <a:rPr lang="en-US" sz="1300" kern="100" spc="51" dirty="0">
                <a:solidFill>
                  <a:srgbClr val="4A5B70"/>
                </a:solidFill>
                <a:latin typeface="Geist SemiBold" pitchFamily="34" charset="0"/>
                <a:ea typeface="Geist SemiBold" pitchFamily="34" charset="-122"/>
                <a:cs typeface="Geist SemiBold" pitchFamily="34" charset="-120"/>
              </a:rPr>
              <a:t>AGE</a:t>
            </a:r>
            <a:endParaRPr lang="en-US" sz="1300" dirty="0"/>
          </a:p>
        </p:txBody>
      </p:sp>
      <p:sp>
        <p:nvSpPr>
          <p:cNvPr id="34" name="Shape 32"/>
          <p:cNvSpPr/>
          <p:nvPr/>
        </p:nvSpPr>
        <p:spPr>
          <a:xfrm>
            <a:off x="457189" y="5407124"/>
            <a:ext cx="11277318" cy="593328"/>
          </a:xfrm>
          <a:prstGeom prst="rect">
            <a:avLst/>
          </a:prstGeom>
          <a:solidFill>
            <a:srgbClr val="EAF4F5"/>
          </a:solidFill>
          <a:ln/>
        </p:spPr>
        <p:txBody>
          <a:bodyPr/>
          <a:lstStyle/>
          <a:p>
            <a:endParaRPr lang="en-US"/>
          </a:p>
        </p:txBody>
      </p:sp>
      <p:sp>
        <p:nvSpPr>
          <p:cNvPr id="35" name="Shape 33"/>
          <p:cNvSpPr/>
          <p:nvPr/>
        </p:nvSpPr>
        <p:spPr>
          <a:xfrm>
            <a:off x="457189" y="5407124"/>
            <a:ext cx="25399" cy="593328"/>
          </a:xfrm>
          <a:prstGeom prst="rect">
            <a:avLst/>
          </a:prstGeom>
          <a:solidFill>
            <a:srgbClr val="397B88"/>
          </a:solidFill>
          <a:ln/>
        </p:spPr>
        <p:txBody>
          <a:bodyPr/>
          <a:lstStyle/>
          <a:p>
            <a:endParaRPr lang="en-US"/>
          </a:p>
        </p:txBody>
      </p:sp>
      <p:sp>
        <p:nvSpPr>
          <p:cNvPr id="36" name="Text 34"/>
          <p:cNvSpPr/>
          <p:nvPr/>
        </p:nvSpPr>
        <p:spPr>
          <a:xfrm>
            <a:off x="711182" y="5559524"/>
            <a:ext cx="11023324" cy="288528"/>
          </a:xfrm>
          <a:prstGeom prst="rect">
            <a:avLst/>
          </a:prstGeom>
          <a:noFill/>
          <a:ln/>
        </p:spPr>
        <p:txBody>
          <a:bodyPr wrap="none" lIns="0" tIns="0" rIns="0" bIns="0" rtlCol="0" anchor="t"/>
          <a:lstStyle/>
          <a:p>
            <a:pPr marL="0" indent="0" algn="l">
              <a:lnSpc>
                <a:spcPct val="118000"/>
              </a:lnSpc>
              <a:buNone/>
            </a:pPr>
            <a:r>
              <a:rPr lang="en-US" sz="1600" b="1" dirty="0">
                <a:solidFill>
                  <a:srgbClr val="000000"/>
                </a:solidFill>
                <a:latin typeface="Geist Bold" pitchFamily="34" charset="0"/>
                <a:ea typeface="Geist Bold" pitchFamily="34" charset="-122"/>
                <a:cs typeface="Geist Bold" pitchFamily="34" charset="-120"/>
              </a:rPr>
              <a:t>Outcome</a:t>
            </a:r>
            <a:r>
              <a:rPr lang="en-US" sz="1600" dirty="0">
                <a:solidFill>
                  <a:srgbClr val="000000"/>
                </a:solidFill>
                <a:latin typeface="Geist" pitchFamily="34" charset="0"/>
                <a:ea typeface="Geist" pitchFamily="34" charset="-122"/>
                <a:cs typeface="Geist" pitchFamily="34" charset="-120"/>
              </a:rPr>
              <a:t> is the target column: 0 = No diabetes, 1 = Diabetes.</a:t>
            </a:r>
            <a:endParaRPr lang="en-US" sz="1600" dirty="0"/>
          </a:p>
        </p:txBody>
      </p:sp>
      <p:sp>
        <p:nvSpPr>
          <p:cNvPr id="37" name="Text 35"/>
          <p:cNvSpPr/>
          <p:nvPr/>
        </p:nvSpPr>
        <p:spPr>
          <a:xfrm>
            <a:off x="457189" y="6203652"/>
            <a:ext cx="11734506" cy="197148"/>
          </a:xfrm>
          <a:prstGeom prst="rect">
            <a:avLst/>
          </a:prstGeom>
          <a:noFill/>
          <a:ln/>
        </p:spPr>
        <p:txBody>
          <a:bodyPr wrap="none" lIns="0" tIns="0" rIns="0" bIns="0" rtlCol="0" anchor="t"/>
          <a:lstStyle/>
          <a:p>
            <a:pPr marL="0" indent="0" algn="l">
              <a:lnSpc>
                <a:spcPct val="113000"/>
              </a:lnSpc>
              <a:buNone/>
            </a:pPr>
            <a:r>
              <a:rPr lang="en-US" sz="1150" kern="100" spc="23" dirty="0">
                <a:solidFill>
                  <a:srgbClr val="000000"/>
                </a:solidFill>
                <a:latin typeface="Geist" pitchFamily="34" charset="0"/>
                <a:ea typeface="Geist" pitchFamily="34" charset="-122"/>
                <a:cs typeface="Geist" pitchFamily="34" charset="-120"/>
              </a:rPr>
              <a:t>Source: Diabetes Dataset, Kaggle: </a:t>
            </a:r>
            <a:r>
              <a:rPr lang="en-US" sz="1150" b="1" u="sng" kern="100" spc="23" dirty="0">
                <a:solidFill>
                  <a:srgbClr val="4A5B70"/>
                </a:solidFill>
                <a:latin typeface="Geist Bold" pitchFamily="34" charset="0"/>
                <a:ea typeface="Geist Bold" pitchFamily="34" charset="-122"/>
                <a:cs typeface="Geist Bold" pitchFamily="34" charset="-120"/>
                <a:hlinkClick r:id="rId3">
                  <a:extLst>
                    <a:ext uri="{A12FA001-AC4F-418D-AE19-62706E023703}">
                      <ahyp:hlinkClr xmlns:ahyp="http://schemas.microsoft.com/office/drawing/2018/hyperlinkcolor" val="tx"/>
                    </a:ext>
                  </a:extLst>
                </a:hlinkClick>
              </a:rPr>
              <a:t>https://www.kaggle.com/datasets/salihacur/diabetes</a:t>
            </a:r>
            <a:endParaRPr lang="en-US" sz="1150" dirty="0"/>
          </a:p>
        </p:txBody>
      </p:sp>
      <p:sp>
        <p:nvSpPr>
          <p:cNvPr id="39" name="Rectangle 38">
            <a:extLst>
              <a:ext uri="{FF2B5EF4-FFF2-40B4-BE49-F238E27FC236}">
                <a16:creationId xmlns:a16="http://schemas.microsoft.com/office/drawing/2014/main" id="{20AEAF51-08A6-11C2-9B0C-87883D1867D5}"/>
              </a:ext>
            </a:extLst>
          </p:cNvPr>
          <p:cNvSpPr/>
          <p:nvPr/>
        </p:nvSpPr>
        <p:spPr>
          <a:xfrm>
            <a:off x="10982131" y="6447453"/>
            <a:ext cx="1209869" cy="41054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189" y="459184"/>
            <a:ext cx="11734506" cy="182563"/>
          </a:xfrm>
          <a:prstGeom prst="rect">
            <a:avLst/>
          </a:prstGeom>
          <a:noFill/>
          <a:ln/>
        </p:spPr>
        <p:txBody>
          <a:bodyPr wrap="none" lIns="0" tIns="0" rIns="0" bIns="0" rtlCol="0" anchor="t"/>
          <a:lstStyle/>
          <a:p>
            <a:pPr marL="0" indent="0" algn="l">
              <a:lnSpc>
                <a:spcPct val="104000"/>
              </a:lnSpc>
              <a:buNone/>
            </a:pPr>
            <a:r>
              <a:rPr lang="en-US" sz="1150" kern="100" spc="92" dirty="0">
                <a:solidFill>
                  <a:srgbClr val="4A5B70"/>
                </a:solidFill>
                <a:latin typeface="Geist SemiBold" pitchFamily="34" charset="0"/>
                <a:ea typeface="Geist SemiBold" pitchFamily="34" charset="-122"/>
                <a:cs typeface="Geist SemiBold" pitchFamily="34" charset="-120"/>
              </a:rPr>
              <a:t>PREPROCESSING · OUTLIERS</a:t>
            </a:r>
            <a:endParaRPr lang="en-US" sz="1150" dirty="0"/>
          </a:p>
        </p:txBody>
      </p:sp>
      <p:sp>
        <p:nvSpPr>
          <p:cNvPr id="3" name="Text 1"/>
          <p:cNvSpPr/>
          <p:nvPr/>
        </p:nvSpPr>
        <p:spPr>
          <a:xfrm>
            <a:off x="457189" y="731837"/>
            <a:ext cx="11277318" cy="432991"/>
          </a:xfrm>
          <a:prstGeom prst="rect">
            <a:avLst/>
          </a:prstGeom>
          <a:noFill/>
          <a:ln/>
        </p:spPr>
        <p:txBody>
          <a:bodyPr wrap="none" lIns="0" tIns="0" rIns="0" bIns="0" rtlCol="0" anchor="t"/>
          <a:lstStyle/>
          <a:p>
            <a:pPr marL="0" indent="0" algn="l">
              <a:lnSpc>
                <a:spcPct val="92000"/>
              </a:lnSpc>
              <a:buNone/>
            </a:pPr>
            <a:r>
              <a:rPr lang="en-US" sz="3100" kern="100" spc="-31" dirty="0">
                <a:solidFill>
                  <a:srgbClr val="1B2638"/>
                </a:solidFill>
                <a:latin typeface="Newsreader Medium" pitchFamily="34" charset="0"/>
                <a:ea typeface="Newsreader Medium" pitchFamily="34" charset="-122"/>
                <a:cs typeface="Newsreader Medium" pitchFamily="34" charset="-120"/>
              </a:rPr>
              <a:t>Outliers were capped with the IQR method, not removed</a:t>
            </a:r>
            <a:endParaRPr lang="en-US" sz="3100" dirty="0"/>
          </a:p>
        </p:txBody>
      </p:sp>
      <p:sp>
        <p:nvSpPr>
          <p:cNvPr id="4" name="Shape 2"/>
          <p:cNvSpPr/>
          <p:nvPr/>
        </p:nvSpPr>
        <p:spPr>
          <a:xfrm>
            <a:off x="457189" y="1439466"/>
            <a:ext cx="11277318" cy="31651"/>
          </a:xfrm>
          <a:prstGeom prst="roundRect">
            <a:avLst>
              <a:gd name="adj" fmla="val 49998"/>
            </a:avLst>
          </a:prstGeom>
          <a:solidFill>
            <a:srgbClr val="397B88"/>
          </a:solidFill>
          <a:ln/>
        </p:spPr>
        <p:txBody>
          <a:bodyPr/>
          <a:lstStyle/>
          <a:p>
            <a:endParaRPr lang="en-US"/>
          </a:p>
        </p:txBody>
      </p:sp>
      <p:sp>
        <p:nvSpPr>
          <p:cNvPr id="5" name="Text 3"/>
          <p:cNvSpPr/>
          <p:nvPr/>
        </p:nvSpPr>
        <p:spPr>
          <a:xfrm>
            <a:off x="457189" y="1723628"/>
            <a:ext cx="11277318" cy="577056"/>
          </a:xfrm>
          <a:prstGeom prst="rect">
            <a:avLst/>
          </a:prstGeom>
          <a:noFill/>
          <a:ln/>
        </p:spPr>
        <p:txBody>
          <a:bodyPr wrap="square" lIns="0" tIns="0" rIns="0" bIns="0" rtlCol="0" anchor="t">
            <a:normAutofit/>
          </a:bodyPr>
          <a:lstStyle/>
          <a:p>
            <a:pPr marL="0" indent="0" algn="l">
              <a:lnSpc>
                <a:spcPct val="118000"/>
              </a:lnSpc>
              <a:buNone/>
            </a:pPr>
            <a:r>
              <a:rPr lang="en-US" sz="1600" dirty="0">
                <a:solidFill>
                  <a:srgbClr val="2B3139"/>
                </a:solidFill>
                <a:latin typeface="Geist" pitchFamily="34" charset="0"/>
                <a:ea typeface="Geist" pitchFamily="34" charset="-122"/>
                <a:cs typeface="Geist" pitchFamily="34" charset="-120"/>
              </a:rPr>
              <a:t>The dataset's structure, dimensions, numerical variables and target were inspected. Plots such as boxplots helped identify extreme values.</a:t>
            </a:r>
            <a:endParaRPr lang="en-US" sz="1600" dirty="0"/>
          </a:p>
        </p:txBody>
      </p:sp>
      <p:pic>
        <p:nvPicPr>
          <p:cNvPr id="6" name="Image 0" descr="preencoded.png"/>
          <p:cNvPicPr>
            <a:picLocks noChangeAspect="1"/>
          </p:cNvPicPr>
          <p:nvPr/>
        </p:nvPicPr>
        <p:blipFill>
          <a:blip r:embed="rId3"/>
          <a:stretch>
            <a:fillRect/>
          </a:stretch>
        </p:blipFill>
        <p:spPr>
          <a:xfrm>
            <a:off x="457189" y="2503884"/>
            <a:ext cx="11277318" cy="344587"/>
          </a:xfrm>
          <a:prstGeom prst="rect">
            <a:avLst/>
          </a:prstGeom>
        </p:spPr>
      </p:pic>
      <p:sp>
        <p:nvSpPr>
          <p:cNvPr id="7" name="Shape 4"/>
          <p:cNvSpPr/>
          <p:nvPr/>
        </p:nvSpPr>
        <p:spPr>
          <a:xfrm>
            <a:off x="457189" y="3051671"/>
            <a:ext cx="5486263" cy="2857401"/>
          </a:xfrm>
          <a:prstGeom prst="roundRect">
            <a:avLst>
              <a:gd name="adj" fmla="val 400"/>
            </a:avLst>
          </a:prstGeom>
          <a:noFill/>
          <a:ln w="25399">
            <a:solidFill>
              <a:srgbClr val="4A5B70"/>
            </a:solidFill>
            <a:prstDash val="solid"/>
          </a:ln>
        </p:spPr>
        <p:txBody>
          <a:bodyPr/>
          <a:lstStyle/>
          <a:p>
            <a:endParaRPr lang="en-US"/>
          </a:p>
        </p:txBody>
      </p:sp>
      <p:sp>
        <p:nvSpPr>
          <p:cNvPr id="8" name="Text 5"/>
          <p:cNvSpPr/>
          <p:nvPr/>
        </p:nvSpPr>
        <p:spPr>
          <a:xfrm>
            <a:off x="711182" y="3307655"/>
            <a:ext cx="5232269" cy="182563"/>
          </a:xfrm>
          <a:prstGeom prst="rect">
            <a:avLst/>
          </a:prstGeom>
          <a:noFill/>
          <a:ln/>
        </p:spPr>
        <p:txBody>
          <a:bodyPr wrap="none" lIns="0" tIns="0" rIns="0" bIns="0" rtlCol="0" anchor="t"/>
          <a:lstStyle/>
          <a:p>
            <a:pPr marL="0" indent="0" algn="l">
              <a:lnSpc>
                <a:spcPct val="104000"/>
              </a:lnSpc>
              <a:buNone/>
            </a:pPr>
            <a:r>
              <a:rPr lang="en-US" sz="1150" kern="100" spc="92" dirty="0">
                <a:solidFill>
                  <a:srgbClr val="4A5B70"/>
                </a:solidFill>
                <a:latin typeface="Geist SemiBold" pitchFamily="34" charset="0"/>
                <a:ea typeface="Geist SemiBold" pitchFamily="34" charset="-122"/>
                <a:cs typeface="Geist SemiBold" pitchFamily="34" charset="-120"/>
              </a:rPr>
              <a:t>BELOW THE LOWER BOUND</a:t>
            </a:r>
            <a:endParaRPr lang="en-US" sz="1150" dirty="0"/>
          </a:p>
        </p:txBody>
      </p:sp>
      <p:pic>
        <p:nvPicPr>
          <p:cNvPr id="9" name="Image 1" descr="preencoded.png"/>
          <p:cNvPicPr>
            <a:picLocks noChangeAspect="1"/>
          </p:cNvPicPr>
          <p:nvPr/>
        </p:nvPicPr>
        <p:blipFill>
          <a:blip r:embed="rId4"/>
          <a:stretch>
            <a:fillRect/>
          </a:stretch>
        </p:blipFill>
        <p:spPr>
          <a:xfrm>
            <a:off x="711182" y="3621584"/>
            <a:ext cx="4978275" cy="344587"/>
          </a:xfrm>
          <a:prstGeom prst="rect">
            <a:avLst/>
          </a:prstGeom>
        </p:spPr>
      </p:pic>
      <p:sp>
        <p:nvSpPr>
          <p:cNvPr id="10" name="Text 6"/>
          <p:cNvSpPr/>
          <p:nvPr/>
        </p:nvSpPr>
        <p:spPr>
          <a:xfrm>
            <a:off x="711182" y="4180483"/>
            <a:ext cx="4978275" cy="317500"/>
          </a:xfrm>
          <a:prstGeom prst="rect">
            <a:avLst/>
          </a:prstGeom>
          <a:noFill/>
          <a:ln/>
        </p:spPr>
        <p:txBody>
          <a:bodyPr wrap="none" lIns="0" tIns="0" rIns="0" bIns="0" rtlCol="0" anchor="t"/>
          <a:lstStyle/>
          <a:p>
            <a:pPr marL="0" indent="0" algn="l">
              <a:lnSpc>
                <a:spcPct val="104000"/>
              </a:lnSpc>
              <a:buNone/>
            </a:pPr>
            <a:r>
              <a:rPr lang="en-US" sz="2000" dirty="0">
                <a:solidFill>
                  <a:srgbClr val="4A5B70"/>
                </a:solidFill>
                <a:latin typeface="Geist SemiBold" pitchFamily="34" charset="0"/>
                <a:ea typeface="Geist SemiBold" pitchFamily="34" charset="-122"/>
                <a:cs typeface="Geist SemiBold" pitchFamily="34" charset="-120"/>
              </a:rPr>
              <a:t>Cap at the lower bound</a:t>
            </a:r>
            <a:endParaRPr lang="en-US" sz="2000" dirty="0"/>
          </a:p>
        </p:txBody>
      </p:sp>
      <p:pic>
        <p:nvPicPr>
          <p:cNvPr id="11" name="Image 2" descr="preencoded.png"/>
          <p:cNvPicPr>
            <a:picLocks noChangeAspect="1"/>
          </p:cNvPicPr>
          <p:nvPr/>
        </p:nvPicPr>
        <p:blipFill>
          <a:blip r:embed="rId5"/>
          <a:stretch>
            <a:fillRect/>
          </a:stretch>
        </p:blipFill>
        <p:spPr>
          <a:xfrm>
            <a:off x="711182" y="4620220"/>
            <a:ext cx="4978275" cy="344587"/>
          </a:xfrm>
          <a:prstGeom prst="rect">
            <a:avLst/>
          </a:prstGeom>
        </p:spPr>
      </p:pic>
      <p:sp>
        <p:nvSpPr>
          <p:cNvPr id="12" name="Shape 7"/>
          <p:cNvSpPr/>
          <p:nvPr/>
        </p:nvSpPr>
        <p:spPr>
          <a:xfrm>
            <a:off x="6248244" y="3051671"/>
            <a:ext cx="5486263" cy="2857401"/>
          </a:xfrm>
          <a:prstGeom prst="roundRect">
            <a:avLst>
              <a:gd name="adj" fmla="val 400"/>
            </a:avLst>
          </a:prstGeom>
          <a:noFill/>
          <a:ln w="25399">
            <a:solidFill>
              <a:srgbClr val="4A5B70"/>
            </a:solidFill>
            <a:prstDash val="solid"/>
          </a:ln>
        </p:spPr>
        <p:txBody>
          <a:bodyPr/>
          <a:lstStyle/>
          <a:p>
            <a:endParaRPr lang="en-US"/>
          </a:p>
        </p:txBody>
      </p:sp>
      <p:sp>
        <p:nvSpPr>
          <p:cNvPr id="13" name="Text 8"/>
          <p:cNvSpPr/>
          <p:nvPr/>
        </p:nvSpPr>
        <p:spPr>
          <a:xfrm>
            <a:off x="6502237" y="3307655"/>
            <a:ext cx="5232269" cy="182563"/>
          </a:xfrm>
          <a:prstGeom prst="rect">
            <a:avLst/>
          </a:prstGeom>
          <a:noFill/>
          <a:ln/>
        </p:spPr>
        <p:txBody>
          <a:bodyPr wrap="none" lIns="0" tIns="0" rIns="0" bIns="0" rtlCol="0" anchor="t"/>
          <a:lstStyle/>
          <a:p>
            <a:pPr marL="0" indent="0" algn="l">
              <a:lnSpc>
                <a:spcPct val="104000"/>
              </a:lnSpc>
              <a:buNone/>
            </a:pPr>
            <a:r>
              <a:rPr lang="en-US" sz="1150" kern="100" spc="92" dirty="0">
                <a:solidFill>
                  <a:srgbClr val="4A5B70"/>
                </a:solidFill>
                <a:latin typeface="Geist SemiBold" pitchFamily="34" charset="0"/>
                <a:ea typeface="Geist SemiBold" pitchFamily="34" charset="-122"/>
                <a:cs typeface="Geist SemiBold" pitchFamily="34" charset="-120"/>
              </a:rPr>
              <a:t>ABOVE THE UPPER BOUND</a:t>
            </a:r>
            <a:endParaRPr lang="en-US" sz="1150" dirty="0"/>
          </a:p>
        </p:txBody>
      </p:sp>
      <p:pic>
        <p:nvPicPr>
          <p:cNvPr id="14" name="Image 3" descr="preencoded.png"/>
          <p:cNvPicPr>
            <a:picLocks noChangeAspect="1"/>
          </p:cNvPicPr>
          <p:nvPr/>
        </p:nvPicPr>
        <p:blipFill>
          <a:blip r:embed="rId6"/>
          <a:stretch>
            <a:fillRect/>
          </a:stretch>
        </p:blipFill>
        <p:spPr>
          <a:xfrm>
            <a:off x="6502237" y="3621584"/>
            <a:ext cx="4978275" cy="344587"/>
          </a:xfrm>
          <a:prstGeom prst="rect">
            <a:avLst/>
          </a:prstGeom>
        </p:spPr>
      </p:pic>
      <p:sp>
        <p:nvSpPr>
          <p:cNvPr id="15" name="Text 9"/>
          <p:cNvSpPr/>
          <p:nvPr/>
        </p:nvSpPr>
        <p:spPr>
          <a:xfrm>
            <a:off x="6502237" y="4180483"/>
            <a:ext cx="4978275" cy="317500"/>
          </a:xfrm>
          <a:prstGeom prst="rect">
            <a:avLst/>
          </a:prstGeom>
          <a:noFill/>
          <a:ln/>
        </p:spPr>
        <p:txBody>
          <a:bodyPr wrap="none" lIns="0" tIns="0" rIns="0" bIns="0" rtlCol="0" anchor="t"/>
          <a:lstStyle/>
          <a:p>
            <a:pPr marL="0" indent="0" algn="l">
              <a:lnSpc>
                <a:spcPct val="104000"/>
              </a:lnSpc>
              <a:buNone/>
            </a:pPr>
            <a:r>
              <a:rPr lang="en-US" sz="2000" dirty="0">
                <a:solidFill>
                  <a:srgbClr val="4A5B70"/>
                </a:solidFill>
                <a:latin typeface="Geist SemiBold" pitchFamily="34" charset="0"/>
                <a:ea typeface="Geist SemiBold" pitchFamily="34" charset="-122"/>
                <a:cs typeface="Geist SemiBold" pitchFamily="34" charset="-120"/>
              </a:rPr>
              <a:t>Cap at the upper bound</a:t>
            </a:r>
            <a:endParaRPr lang="en-US" sz="2000" dirty="0"/>
          </a:p>
        </p:txBody>
      </p:sp>
      <p:pic>
        <p:nvPicPr>
          <p:cNvPr id="16" name="Image 4" descr="preencoded.png"/>
          <p:cNvPicPr>
            <a:picLocks noChangeAspect="1"/>
          </p:cNvPicPr>
          <p:nvPr/>
        </p:nvPicPr>
        <p:blipFill>
          <a:blip r:embed="rId7"/>
          <a:stretch>
            <a:fillRect/>
          </a:stretch>
        </p:blipFill>
        <p:spPr>
          <a:xfrm>
            <a:off x="6502237" y="4620220"/>
            <a:ext cx="4978275" cy="344587"/>
          </a:xfrm>
          <a:prstGeom prst="rect">
            <a:avLst/>
          </a:prstGeom>
        </p:spPr>
      </p:pic>
      <p:sp>
        <p:nvSpPr>
          <p:cNvPr id="18" name="Rectangle 17">
            <a:extLst>
              <a:ext uri="{FF2B5EF4-FFF2-40B4-BE49-F238E27FC236}">
                <a16:creationId xmlns:a16="http://schemas.microsoft.com/office/drawing/2014/main" id="{39B1E00E-8F03-2BFE-56C9-315B28B659F1}"/>
              </a:ext>
            </a:extLst>
          </p:cNvPr>
          <p:cNvSpPr/>
          <p:nvPr/>
        </p:nvSpPr>
        <p:spPr>
          <a:xfrm>
            <a:off x="10982131" y="6447453"/>
            <a:ext cx="1209869" cy="41054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189" y="459184"/>
            <a:ext cx="11734506" cy="182563"/>
          </a:xfrm>
          <a:prstGeom prst="rect">
            <a:avLst/>
          </a:prstGeom>
          <a:noFill/>
          <a:ln/>
        </p:spPr>
        <p:txBody>
          <a:bodyPr wrap="none" lIns="0" tIns="0" rIns="0" bIns="0" rtlCol="0" anchor="t"/>
          <a:lstStyle/>
          <a:p>
            <a:pPr marL="0" indent="0" algn="l">
              <a:lnSpc>
                <a:spcPct val="104000"/>
              </a:lnSpc>
              <a:buNone/>
            </a:pPr>
            <a:r>
              <a:rPr lang="en-US" sz="1150" kern="100" spc="92" dirty="0">
                <a:solidFill>
                  <a:srgbClr val="4A5B70"/>
                </a:solidFill>
                <a:latin typeface="Geist SemiBold" pitchFamily="34" charset="0"/>
                <a:ea typeface="Geist SemiBold" pitchFamily="34" charset="-122"/>
                <a:cs typeface="Geist SemiBold" pitchFamily="34" charset="-120"/>
              </a:rPr>
              <a:t>PROJECT WORKFLOW</a:t>
            </a:r>
            <a:endParaRPr lang="en-US" sz="1150" dirty="0"/>
          </a:p>
        </p:txBody>
      </p:sp>
      <p:sp>
        <p:nvSpPr>
          <p:cNvPr id="3" name="Text 1"/>
          <p:cNvSpPr/>
          <p:nvPr/>
        </p:nvSpPr>
        <p:spPr>
          <a:xfrm>
            <a:off x="457189" y="731837"/>
            <a:ext cx="11277318" cy="432991"/>
          </a:xfrm>
          <a:prstGeom prst="rect">
            <a:avLst/>
          </a:prstGeom>
          <a:noFill/>
          <a:ln/>
        </p:spPr>
        <p:txBody>
          <a:bodyPr wrap="none" lIns="0" tIns="0" rIns="0" bIns="0" rtlCol="0" anchor="t"/>
          <a:lstStyle/>
          <a:p>
            <a:pPr marL="0" indent="0" algn="l">
              <a:lnSpc>
                <a:spcPct val="92000"/>
              </a:lnSpc>
              <a:buNone/>
            </a:pPr>
            <a:r>
              <a:rPr lang="en-US" sz="3100" kern="100" spc="-31" dirty="0">
                <a:solidFill>
                  <a:srgbClr val="1B2638"/>
                </a:solidFill>
                <a:latin typeface="Newsreader Medium" pitchFamily="34" charset="0"/>
                <a:ea typeface="Newsreader Medium" pitchFamily="34" charset="-122"/>
                <a:cs typeface="Newsreader Medium" pitchFamily="34" charset="-120"/>
              </a:rPr>
              <a:t>Scaling was applied before training the distance-based models</a:t>
            </a:r>
            <a:endParaRPr lang="en-US" sz="3100" dirty="0"/>
          </a:p>
        </p:txBody>
      </p:sp>
      <p:sp>
        <p:nvSpPr>
          <p:cNvPr id="4" name="Shape 2"/>
          <p:cNvSpPr/>
          <p:nvPr/>
        </p:nvSpPr>
        <p:spPr>
          <a:xfrm>
            <a:off x="457189" y="1439466"/>
            <a:ext cx="11277318" cy="31651"/>
          </a:xfrm>
          <a:prstGeom prst="roundRect">
            <a:avLst>
              <a:gd name="adj" fmla="val 49998"/>
            </a:avLst>
          </a:prstGeom>
          <a:solidFill>
            <a:srgbClr val="397B88"/>
          </a:solidFill>
          <a:ln/>
        </p:spPr>
        <p:txBody>
          <a:bodyPr/>
          <a:lstStyle/>
          <a:p>
            <a:endParaRPr lang="en-US"/>
          </a:p>
        </p:txBody>
      </p:sp>
      <p:sp>
        <p:nvSpPr>
          <p:cNvPr id="5" name="Shape 3"/>
          <p:cNvSpPr/>
          <p:nvPr/>
        </p:nvSpPr>
        <p:spPr>
          <a:xfrm>
            <a:off x="457189" y="2401292"/>
            <a:ext cx="1503623" cy="812800"/>
          </a:xfrm>
          <a:prstGeom prst="rect">
            <a:avLst/>
          </a:prstGeom>
          <a:solidFill>
            <a:srgbClr val="4A5B70"/>
          </a:solidFill>
          <a:ln/>
        </p:spPr>
        <p:txBody>
          <a:bodyPr/>
          <a:lstStyle/>
          <a:p>
            <a:endParaRPr lang="en-US"/>
          </a:p>
        </p:txBody>
      </p:sp>
      <p:sp>
        <p:nvSpPr>
          <p:cNvPr id="6" name="Shape 4"/>
          <p:cNvSpPr/>
          <p:nvPr/>
        </p:nvSpPr>
        <p:spPr>
          <a:xfrm>
            <a:off x="469789" y="2413893"/>
            <a:ext cx="1478223" cy="787400"/>
          </a:xfrm>
          <a:prstGeom prst="rect">
            <a:avLst/>
          </a:prstGeom>
          <a:solidFill>
            <a:srgbClr val="FFFFFF"/>
          </a:solidFill>
          <a:ln/>
        </p:spPr>
        <p:txBody>
          <a:bodyPr/>
          <a:lstStyle/>
          <a:p>
            <a:endParaRPr lang="en-US"/>
          </a:p>
        </p:txBody>
      </p:sp>
      <p:sp>
        <p:nvSpPr>
          <p:cNvPr id="7" name="Text 5"/>
          <p:cNvSpPr/>
          <p:nvPr/>
        </p:nvSpPr>
        <p:spPr>
          <a:xfrm>
            <a:off x="1113901" y="2655292"/>
            <a:ext cx="799782" cy="304800"/>
          </a:xfrm>
          <a:prstGeom prst="rect">
            <a:avLst/>
          </a:prstGeom>
          <a:noFill/>
          <a:ln/>
        </p:spPr>
        <p:txBody>
          <a:bodyPr wrap="none" lIns="0" tIns="0" rIns="0" bIns="0" rtlCol="0" anchor="t"/>
          <a:lstStyle/>
          <a:p>
            <a:pPr marL="0" indent="0" algn="l">
              <a:lnSpc>
                <a:spcPct val="83000"/>
              </a:lnSpc>
              <a:buNone/>
            </a:pPr>
            <a:r>
              <a:rPr lang="en-US" sz="2400" dirty="0">
                <a:solidFill>
                  <a:srgbClr val="2B3139"/>
                </a:solidFill>
                <a:latin typeface="Geist SemiBold" pitchFamily="34" charset="0"/>
                <a:ea typeface="Geist SemiBold" pitchFamily="34" charset="-122"/>
                <a:cs typeface="Geist SemiBold" pitchFamily="34" charset="-120"/>
              </a:rPr>
              <a:t>1</a:t>
            </a:r>
            <a:endParaRPr lang="en-US" sz="2400" dirty="0"/>
          </a:p>
        </p:txBody>
      </p:sp>
      <p:sp>
        <p:nvSpPr>
          <p:cNvPr id="8" name="Text 6"/>
          <p:cNvSpPr/>
          <p:nvPr/>
        </p:nvSpPr>
        <p:spPr>
          <a:xfrm>
            <a:off x="660383" y="3314899"/>
            <a:ext cx="1097233" cy="809625"/>
          </a:xfrm>
          <a:prstGeom prst="rect">
            <a:avLst/>
          </a:prstGeom>
          <a:noFill/>
          <a:ln/>
        </p:spPr>
        <p:txBody>
          <a:bodyPr wrap="square" lIns="0" tIns="0" rIns="0" bIns="0" rtlCol="0" anchor="t">
            <a:normAutofit/>
          </a:bodyPr>
          <a:lstStyle/>
          <a:p>
            <a:pPr marL="0" indent="0" algn="l">
              <a:lnSpc>
                <a:spcPct val="104000"/>
              </a:lnSpc>
              <a:buNone/>
            </a:pPr>
            <a:r>
              <a:rPr lang="en-US" sz="1700" dirty="0">
                <a:solidFill>
                  <a:srgbClr val="4A5B70"/>
                </a:solidFill>
                <a:latin typeface="Geist SemiBold" pitchFamily="34" charset="0"/>
                <a:ea typeface="Geist SemiBold" pitchFamily="34" charset="-122"/>
                <a:cs typeface="Geist SemiBold" pitchFamily="34" charset="-120"/>
              </a:rPr>
              <a:t>Import Libraries &amp; Dataset</a:t>
            </a:r>
            <a:endParaRPr lang="en-US" sz="1700" dirty="0"/>
          </a:p>
        </p:txBody>
      </p:sp>
      <p:sp>
        <p:nvSpPr>
          <p:cNvPr id="9" name="Shape 7"/>
          <p:cNvSpPr/>
          <p:nvPr/>
        </p:nvSpPr>
        <p:spPr>
          <a:xfrm>
            <a:off x="1960811" y="2401292"/>
            <a:ext cx="1917156" cy="812800"/>
          </a:xfrm>
          <a:prstGeom prst="rect">
            <a:avLst/>
          </a:prstGeom>
          <a:solidFill>
            <a:srgbClr val="4A5B70"/>
          </a:solidFill>
          <a:ln/>
        </p:spPr>
        <p:txBody>
          <a:bodyPr/>
          <a:lstStyle/>
          <a:p>
            <a:endParaRPr lang="en-US"/>
          </a:p>
        </p:txBody>
      </p:sp>
      <p:sp>
        <p:nvSpPr>
          <p:cNvPr id="10" name="Shape 8"/>
          <p:cNvSpPr/>
          <p:nvPr/>
        </p:nvSpPr>
        <p:spPr>
          <a:xfrm>
            <a:off x="1973412" y="2413893"/>
            <a:ext cx="1891757" cy="787400"/>
          </a:xfrm>
          <a:prstGeom prst="rect">
            <a:avLst/>
          </a:prstGeom>
          <a:solidFill>
            <a:srgbClr val="FFFFFF"/>
          </a:solidFill>
          <a:ln/>
        </p:spPr>
        <p:txBody>
          <a:bodyPr/>
          <a:lstStyle/>
          <a:p>
            <a:endParaRPr lang="en-US"/>
          </a:p>
        </p:txBody>
      </p:sp>
      <p:sp>
        <p:nvSpPr>
          <p:cNvPr id="11" name="Text 9"/>
          <p:cNvSpPr/>
          <p:nvPr/>
        </p:nvSpPr>
        <p:spPr>
          <a:xfrm>
            <a:off x="2824290" y="2655292"/>
            <a:ext cx="799782" cy="304800"/>
          </a:xfrm>
          <a:prstGeom prst="rect">
            <a:avLst/>
          </a:prstGeom>
          <a:noFill/>
          <a:ln/>
        </p:spPr>
        <p:txBody>
          <a:bodyPr wrap="none" lIns="0" tIns="0" rIns="0" bIns="0" rtlCol="0" anchor="t"/>
          <a:lstStyle/>
          <a:p>
            <a:pPr marL="0" indent="0" algn="l">
              <a:lnSpc>
                <a:spcPct val="83000"/>
              </a:lnSpc>
              <a:buNone/>
            </a:pPr>
            <a:r>
              <a:rPr lang="en-US" sz="2400" dirty="0">
                <a:solidFill>
                  <a:srgbClr val="2B3139"/>
                </a:solidFill>
                <a:latin typeface="Geist SemiBold" pitchFamily="34" charset="0"/>
                <a:ea typeface="Geist SemiBold" pitchFamily="34" charset="-122"/>
                <a:cs typeface="Geist SemiBold" pitchFamily="34" charset="-120"/>
              </a:rPr>
              <a:t>2</a:t>
            </a:r>
            <a:endParaRPr lang="en-US" sz="2400" dirty="0"/>
          </a:p>
        </p:txBody>
      </p:sp>
      <p:sp>
        <p:nvSpPr>
          <p:cNvPr id="12" name="Text 10"/>
          <p:cNvSpPr/>
          <p:nvPr/>
        </p:nvSpPr>
        <p:spPr>
          <a:xfrm>
            <a:off x="2164006" y="3314899"/>
            <a:ext cx="1510766" cy="269875"/>
          </a:xfrm>
          <a:prstGeom prst="rect">
            <a:avLst/>
          </a:prstGeom>
          <a:noFill/>
          <a:ln/>
        </p:spPr>
        <p:txBody>
          <a:bodyPr wrap="none" lIns="0" tIns="0" rIns="0" bIns="0" rtlCol="0" anchor="t"/>
          <a:lstStyle/>
          <a:p>
            <a:pPr marL="0" indent="0" algn="l">
              <a:lnSpc>
                <a:spcPct val="104000"/>
              </a:lnSpc>
              <a:buNone/>
            </a:pPr>
            <a:r>
              <a:rPr lang="en-US" sz="1700" dirty="0">
                <a:solidFill>
                  <a:srgbClr val="4A5B70"/>
                </a:solidFill>
                <a:latin typeface="Geist SemiBold" pitchFamily="34" charset="0"/>
                <a:ea typeface="Geist SemiBold" pitchFamily="34" charset="-122"/>
                <a:cs typeface="Geist SemiBold" pitchFamily="34" charset="-120"/>
              </a:rPr>
              <a:t>Preprocessing</a:t>
            </a:r>
            <a:endParaRPr lang="en-US" sz="1700" dirty="0"/>
          </a:p>
        </p:txBody>
      </p:sp>
      <p:sp>
        <p:nvSpPr>
          <p:cNvPr id="13" name="Shape 11"/>
          <p:cNvSpPr/>
          <p:nvPr/>
        </p:nvSpPr>
        <p:spPr>
          <a:xfrm>
            <a:off x="3877967" y="2401292"/>
            <a:ext cx="2048717" cy="812800"/>
          </a:xfrm>
          <a:prstGeom prst="rect">
            <a:avLst/>
          </a:prstGeom>
          <a:solidFill>
            <a:srgbClr val="4A5B70"/>
          </a:solidFill>
          <a:ln/>
        </p:spPr>
        <p:txBody>
          <a:bodyPr/>
          <a:lstStyle/>
          <a:p>
            <a:endParaRPr lang="en-US"/>
          </a:p>
        </p:txBody>
      </p:sp>
      <p:sp>
        <p:nvSpPr>
          <p:cNvPr id="14" name="Shape 12"/>
          <p:cNvSpPr/>
          <p:nvPr/>
        </p:nvSpPr>
        <p:spPr>
          <a:xfrm>
            <a:off x="3890568" y="2413893"/>
            <a:ext cx="2023218" cy="787400"/>
          </a:xfrm>
          <a:prstGeom prst="rect">
            <a:avLst/>
          </a:prstGeom>
          <a:solidFill>
            <a:srgbClr val="FFFFFF"/>
          </a:solidFill>
          <a:ln/>
        </p:spPr>
        <p:txBody>
          <a:bodyPr/>
          <a:lstStyle/>
          <a:p>
            <a:endParaRPr lang="en-US"/>
          </a:p>
        </p:txBody>
      </p:sp>
      <p:sp>
        <p:nvSpPr>
          <p:cNvPr id="15" name="Text 13"/>
          <p:cNvSpPr/>
          <p:nvPr/>
        </p:nvSpPr>
        <p:spPr>
          <a:xfrm>
            <a:off x="4807227" y="2655292"/>
            <a:ext cx="799782" cy="304800"/>
          </a:xfrm>
          <a:prstGeom prst="rect">
            <a:avLst/>
          </a:prstGeom>
          <a:noFill/>
          <a:ln/>
        </p:spPr>
        <p:txBody>
          <a:bodyPr wrap="none" lIns="0" tIns="0" rIns="0" bIns="0" rtlCol="0" anchor="t"/>
          <a:lstStyle/>
          <a:p>
            <a:pPr marL="0" indent="0" algn="l">
              <a:lnSpc>
                <a:spcPct val="83000"/>
              </a:lnSpc>
              <a:buNone/>
            </a:pPr>
            <a:r>
              <a:rPr lang="en-US" sz="2400" dirty="0">
                <a:solidFill>
                  <a:srgbClr val="2B3139"/>
                </a:solidFill>
                <a:latin typeface="Geist SemiBold" pitchFamily="34" charset="0"/>
                <a:ea typeface="Geist SemiBold" pitchFamily="34" charset="-122"/>
                <a:cs typeface="Geist SemiBold" pitchFamily="34" charset="-120"/>
              </a:rPr>
              <a:t>3</a:t>
            </a:r>
            <a:endParaRPr lang="en-US" sz="2400" dirty="0"/>
          </a:p>
        </p:txBody>
      </p:sp>
      <p:sp>
        <p:nvSpPr>
          <p:cNvPr id="16" name="Text 14"/>
          <p:cNvSpPr/>
          <p:nvPr/>
        </p:nvSpPr>
        <p:spPr>
          <a:xfrm>
            <a:off x="4081162" y="3314899"/>
            <a:ext cx="1642327" cy="269875"/>
          </a:xfrm>
          <a:prstGeom prst="rect">
            <a:avLst/>
          </a:prstGeom>
          <a:noFill/>
          <a:ln/>
        </p:spPr>
        <p:txBody>
          <a:bodyPr wrap="none" lIns="0" tIns="0" rIns="0" bIns="0" rtlCol="0" anchor="t"/>
          <a:lstStyle/>
          <a:p>
            <a:pPr marL="0" indent="0" algn="l">
              <a:lnSpc>
                <a:spcPct val="104000"/>
              </a:lnSpc>
              <a:buNone/>
            </a:pPr>
            <a:r>
              <a:rPr lang="en-US" sz="1700" dirty="0">
                <a:solidFill>
                  <a:srgbClr val="4A5B70"/>
                </a:solidFill>
                <a:latin typeface="Geist SemiBold" pitchFamily="34" charset="0"/>
                <a:ea typeface="Geist SemiBold" pitchFamily="34" charset="-122"/>
                <a:cs typeface="Geist SemiBold" pitchFamily="34" charset="-120"/>
              </a:rPr>
              <a:t>Train/Test Split</a:t>
            </a:r>
            <a:endParaRPr lang="en-US" sz="1700" dirty="0"/>
          </a:p>
        </p:txBody>
      </p:sp>
      <p:sp>
        <p:nvSpPr>
          <p:cNvPr id="17" name="Shape 15"/>
          <p:cNvSpPr/>
          <p:nvPr/>
        </p:nvSpPr>
        <p:spPr>
          <a:xfrm>
            <a:off x="5926684" y="2401292"/>
            <a:ext cx="1503623" cy="812800"/>
          </a:xfrm>
          <a:prstGeom prst="rect">
            <a:avLst/>
          </a:prstGeom>
          <a:solidFill>
            <a:srgbClr val="4A5B70"/>
          </a:solidFill>
          <a:ln/>
        </p:spPr>
        <p:txBody>
          <a:bodyPr/>
          <a:lstStyle/>
          <a:p>
            <a:endParaRPr lang="en-US"/>
          </a:p>
        </p:txBody>
      </p:sp>
      <p:sp>
        <p:nvSpPr>
          <p:cNvPr id="18" name="Shape 16"/>
          <p:cNvSpPr/>
          <p:nvPr/>
        </p:nvSpPr>
        <p:spPr>
          <a:xfrm>
            <a:off x="5939284" y="2413893"/>
            <a:ext cx="1478223" cy="787400"/>
          </a:xfrm>
          <a:prstGeom prst="rect">
            <a:avLst/>
          </a:prstGeom>
          <a:solidFill>
            <a:srgbClr val="FFFFFF"/>
          </a:solidFill>
          <a:ln/>
        </p:spPr>
        <p:txBody>
          <a:bodyPr/>
          <a:lstStyle/>
          <a:p>
            <a:endParaRPr lang="en-US"/>
          </a:p>
        </p:txBody>
      </p:sp>
      <p:sp>
        <p:nvSpPr>
          <p:cNvPr id="19" name="Text 17"/>
          <p:cNvSpPr/>
          <p:nvPr/>
        </p:nvSpPr>
        <p:spPr>
          <a:xfrm>
            <a:off x="6583396" y="2655292"/>
            <a:ext cx="799782" cy="304800"/>
          </a:xfrm>
          <a:prstGeom prst="rect">
            <a:avLst/>
          </a:prstGeom>
          <a:noFill/>
          <a:ln/>
        </p:spPr>
        <p:txBody>
          <a:bodyPr wrap="none" lIns="0" tIns="0" rIns="0" bIns="0" rtlCol="0" anchor="t"/>
          <a:lstStyle/>
          <a:p>
            <a:pPr marL="0" indent="0" algn="l">
              <a:lnSpc>
                <a:spcPct val="83000"/>
              </a:lnSpc>
              <a:buNone/>
            </a:pPr>
            <a:r>
              <a:rPr lang="en-US" sz="2400" dirty="0">
                <a:solidFill>
                  <a:srgbClr val="2B3139"/>
                </a:solidFill>
                <a:latin typeface="Geist SemiBold" pitchFamily="34" charset="0"/>
                <a:ea typeface="Geist SemiBold" pitchFamily="34" charset="-122"/>
                <a:cs typeface="Geist SemiBold" pitchFamily="34" charset="-120"/>
              </a:rPr>
              <a:t>4</a:t>
            </a:r>
            <a:endParaRPr lang="en-US" sz="2400" dirty="0"/>
          </a:p>
        </p:txBody>
      </p:sp>
      <p:sp>
        <p:nvSpPr>
          <p:cNvPr id="20" name="Text 18"/>
          <p:cNvSpPr/>
          <p:nvPr/>
        </p:nvSpPr>
        <p:spPr>
          <a:xfrm>
            <a:off x="6129879" y="3314899"/>
            <a:ext cx="1097233" cy="539750"/>
          </a:xfrm>
          <a:prstGeom prst="rect">
            <a:avLst/>
          </a:prstGeom>
          <a:noFill/>
          <a:ln/>
        </p:spPr>
        <p:txBody>
          <a:bodyPr wrap="square" lIns="0" tIns="0" rIns="0" bIns="0" rtlCol="0" anchor="t">
            <a:normAutofit/>
          </a:bodyPr>
          <a:lstStyle/>
          <a:p>
            <a:pPr marL="0" indent="0" algn="l">
              <a:lnSpc>
                <a:spcPct val="104000"/>
              </a:lnSpc>
              <a:buNone/>
            </a:pPr>
            <a:r>
              <a:rPr lang="en-US" sz="1700" dirty="0">
                <a:solidFill>
                  <a:srgbClr val="4A5B70"/>
                </a:solidFill>
                <a:latin typeface="Geist SemiBold" pitchFamily="34" charset="0"/>
                <a:ea typeface="Geist SemiBold" pitchFamily="34" charset="-122"/>
                <a:cs typeface="Geist SemiBold" pitchFamily="34" charset="-120"/>
              </a:rPr>
              <a:t>Feature Scaling</a:t>
            </a:r>
            <a:endParaRPr lang="en-US" sz="1700" dirty="0"/>
          </a:p>
        </p:txBody>
      </p:sp>
      <p:sp>
        <p:nvSpPr>
          <p:cNvPr id="21" name="Shape 19"/>
          <p:cNvSpPr/>
          <p:nvPr/>
        </p:nvSpPr>
        <p:spPr>
          <a:xfrm>
            <a:off x="7430306" y="2401292"/>
            <a:ext cx="1259253" cy="812800"/>
          </a:xfrm>
          <a:prstGeom prst="rect">
            <a:avLst/>
          </a:prstGeom>
          <a:solidFill>
            <a:srgbClr val="4A5B70"/>
          </a:solidFill>
          <a:ln/>
        </p:spPr>
        <p:txBody>
          <a:bodyPr/>
          <a:lstStyle/>
          <a:p>
            <a:endParaRPr lang="en-US"/>
          </a:p>
        </p:txBody>
      </p:sp>
      <p:sp>
        <p:nvSpPr>
          <p:cNvPr id="22" name="Shape 20"/>
          <p:cNvSpPr/>
          <p:nvPr/>
        </p:nvSpPr>
        <p:spPr>
          <a:xfrm>
            <a:off x="7442907" y="2413893"/>
            <a:ext cx="1233854" cy="787400"/>
          </a:xfrm>
          <a:prstGeom prst="rect">
            <a:avLst/>
          </a:prstGeom>
          <a:solidFill>
            <a:srgbClr val="FFFFFF"/>
          </a:solidFill>
          <a:ln/>
        </p:spPr>
        <p:txBody>
          <a:bodyPr/>
          <a:lstStyle/>
          <a:p>
            <a:endParaRPr lang="en-US"/>
          </a:p>
        </p:txBody>
      </p:sp>
      <p:sp>
        <p:nvSpPr>
          <p:cNvPr id="23" name="Text 21"/>
          <p:cNvSpPr/>
          <p:nvPr/>
        </p:nvSpPr>
        <p:spPr>
          <a:xfrm>
            <a:off x="7964784" y="2655292"/>
            <a:ext cx="724775" cy="304800"/>
          </a:xfrm>
          <a:prstGeom prst="rect">
            <a:avLst/>
          </a:prstGeom>
          <a:noFill/>
          <a:ln/>
        </p:spPr>
        <p:txBody>
          <a:bodyPr wrap="none" lIns="0" tIns="0" rIns="0" bIns="0" rtlCol="0" anchor="t"/>
          <a:lstStyle/>
          <a:p>
            <a:pPr marL="0" indent="0" algn="l">
              <a:lnSpc>
                <a:spcPct val="83000"/>
              </a:lnSpc>
              <a:buNone/>
            </a:pPr>
            <a:r>
              <a:rPr lang="en-US" sz="2400" dirty="0">
                <a:solidFill>
                  <a:srgbClr val="2B3139"/>
                </a:solidFill>
                <a:latin typeface="Geist SemiBold" pitchFamily="34" charset="0"/>
                <a:ea typeface="Geist SemiBold" pitchFamily="34" charset="-122"/>
                <a:cs typeface="Geist SemiBold" pitchFamily="34" charset="-120"/>
              </a:rPr>
              <a:t>5</a:t>
            </a:r>
            <a:endParaRPr lang="en-US" sz="2400" dirty="0"/>
          </a:p>
        </p:txBody>
      </p:sp>
      <p:sp>
        <p:nvSpPr>
          <p:cNvPr id="24" name="Text 22"/>
          <p:cNvSpPr/>
          <p:nvPr/>
        </p:nvSpPr>
        <p:spPr>
          <a:xfrm>
            <a:off x="7633501" y="3314899"/>
            <a:ext cx="852863" cy="539750"/>
          </a:xfrm>
          <a:prstGeom prst="rect">
            <a:avLst/>
          </a:prstGeom>
          <a:noFill/>
          <a:ln/>
        </p:spPr>
        <p:txBody>
          <a:bodyPr wrap="square" lIns="0" tIns="0" rIns="0" bIns="0" rtlCol="0" anchor="t">
            <a:normAutofit/>
          </a:bodyPr>
          <a:lstStyle/>
          <a:p>
            <a:pPr marL="0" indent="0" algn="l">
              <a:lnSpc>
                <a:spcPct val="104000"/>
              </a:lnSpc>
              <a:buNone/>
            </a:pPr>
            <a:r>
              <a:rPr lang="en-US" sz="1700" dirty="0">
                <a:solidFill>
                  <a:srgbClr val="4A5B70"/>
                </a:solidFill>
                <a:latin typeface="Geist SemiBold" pitchFamily="34" charset="0"/>
                <a:ea typeface="Geist SemiBold" pitchFamily="34" charset="-122"/>
                <a:cs typeface="Geist SemiBold" pitchFamily="34" charset="-120"/>
              </a:rPr>
              <a:t>Model Training</a:t>
            </a:r>
            <a:endParaRPr lang="en-US" sz="1700" dirty="0"/>
          </a:p>
        </p:txBody>
      </p:sp>
      <p:sp>
        <p:nvSpPr>
          <p:cNvPr id="25" name="Shape 23"/>
          <p:cNvSpPr/>
          <p:nvPr/>
        </p:nvSpPr>
        <p:spPr>
          <a:xfrm>
            <a:off x="8689559" y="2401292"/>
            <a:ext cx="1503623" cy="812800"/>
          </a:xfrm>
          <a:prstGeom prst="rect">
            <a:avLst/>
          </a:prstGeom>
          <a:solidFill>
            <a:srgbClr val="4A5B70"/>
          </a:solidFill>
          <a:ln/>
        </p:spPr>
        <p:txBody>
          <a:bodyPr/>
          <a:lstStyle/>
          <a:p>
            <a:endParaRPr lang="en-US"/>
          </a:p>
        </p:txBody>
      </p:sp>
      <p:sp>
        <p:nvSpPr>
          <p:cNvPr id="26" name="Shape 24"/>
          <p:cNvSpPr/>
          <p:nvPr/>
        </p:nvSpPr>
        <p:spPr>
          <a:xfrm>
            <a:off x="8702160" y="2413893"/>
            <a:ext cx="1478223" cy="787400"/>
          </a:xfrm>
          <a:prstGeom prst="rect">
            <a:avLst/>
          </a:prstGeom>
          <a:solidFill>
            <a:srgbClr val="FFFFFF"/>
          </a:solidFill>
          <a:ln/>
        </p:spPr>
        <p:txBody>
          <a:bodyPr/>
          <a:lstStyle/>
          <a:p>
            <a:endParaRPr lang="en-US"/>
          </a:p>
        </p:txBody>
      </p:sp>
      <p:sp>
        <p:nvSpPr>
          <p:cNvPr id="27" name="Text 25"/>
          <p:cNvSpPr/>
          <p:nvPr/>
        </p:nvSpPr>
        <p:spPr>
          <a:xfrm>
            <a:off x="9346272" y="2655292"/>
            <a:ext cx="799782" cy="304800"/>
          </a:xfrm>
          <a:prstGeom prst="rect">
            <a:avLst/>
          </a:prstGeom>
          <a:noFill/>
          <a:ln/>
        </p:spPr>
        <p:txBody>
          <a:bodyPr wrap="none" lIns="0" tIns="0" rIns="0" bIns="0" rtlCol="0" anchor="t"/>
          <a:lstStyle/>
          <a:p>
            <a:pPr marL="0" indent="0" algn="l">
              <a:lnSpc>
                <a:spcPct val="83000"/>
              </a:lnSpc>
              <a:buNone/>
            </a:pPr>
            <a:r>
              <a:rPr lang="en-US" sz="2400" dirty="0">
                <a:solidFill>
                  <a:srgbClr val="2B3139"/>
                </a:solidFill>
                <a:latin typeface="Geist SemiBold" pitchFamily="34" charset="0"/>
                <a:ea typeface="Geist SemiBold" pitchFamily="34" charset="-122"/>
                <a:cs typeface="Geist SemiBold" pitchFamily="34" charset="-120"/>
              </a:rPr>
              <a:t>6</a:t>
            </a:r>
            <a:endParaRPr lang="en-US" sz="2400" dirty="0"/>
          </a:p>
        </p:txBody>
      </p:sp>
      <p:sp>
        <p:nvSpPr>
          <p:cNvPr id="28" name="Text 26"/>
          <p:cNvSpPr/>
          <p:nvPr/>
        </p:nvSpPr>
        <p:spPr>
          <a:xfrm>
            <a:off x="8892754" y="3314899"/>
            <a:ext cx="1097233" cy="539750"/>
          </a:xfrm>
          <a:prstGeom prst="rect">
            <a:avLst/>
          </a:prstGeom>
          <a:noFill/>
          <a:ln/>
        </p:spPr>
        <p:txBody>
          <a:bodyPr wrap="square" lIns="0" tIns="0" rIns="0" bIns="0" rtlCol="0" anchor="t">
            <a:normAutofit/>
          </a:bodyPr>
          <a:lstStyle/>
          <a:p>
            <a:pPr marL="0" indent="0" algn="l">
              <a:lnSpc>
                <a:spcPct val="104000"/>
              </a:lnSpc>
              <a:buNone/>
            </a:pPr>
            <a:r>
              <a:rPr lang="en-US" sz="1700" dirty="0">
                <a:solidFill>
                  <a:srgbClr val="4A5B70"/>
                </a:solidFill>
                <a:latin typeface="Geist SemiBold" pitchFamily="34" charset="0"/>
                <a:ea typeface="Geist SemiBold" pitchFamily="34" charset="-122"/>
                <a:cs typeface="Geist SemiBold" pitchFamily="34" charset="-120"/>
              </a:rPr>
              <a:t>Cross-Validation</a:t>
            </a:r>
            <a:endParaRPr lang="en-US" sz="1700" dirty="0"/>
          </a:p>
        </p:txBody>
      </p:sp>
      <p:sp>
        <p:nvSpPr>
          <p:cNvPr id="29" name="Shape 27"/>
          <p:cNvSpPr/>
          <p:nvPr/>
        </p:nvSpPr>
        <p:spPr>
          <a:xfrm>
            <a:off x="10193182" y="2401292"/>
            <a:ext cx="1541325" cy="812800"/>
          </a:xfrm>
          <a:prstGeom prst="rect">
            <a:avLst/>
          </a:prstGeom>
          <a:solidFill>
            <a:srgbClr val="4A5B70"/>
          </a:solidFill>
          <a:ln/>
        </p:spPr>
        <p:txBody>
          <a:bodyPr/>
          <a:lstStyle/>
          <a:p>
            <a:endParaRPr lang="en-US"/>
          </a:p>
        </p:txBody>
      </p:sp>
      <p:sp>
        <p:nvSpPr>
          <p:cNvPr id="30" name="Shape 28"/>
          <p:cNvSpPr/>
          <p:nvPr/>
        </p:nvSpPr>
        <p:spPr>
          <a:xfrm>
            <a:off x="10205782" y="2413893"/>
            <a:ext cx="1515826" cy="787400"/>
          </a:xfrm>
          <a:prstGeom prst="rect">
            <a:avLst/>
          </a:prstGeom>
          <a:solidFill>
            <a:srgbClr val="FFFFFF"/>
          </a:solidFill>
          <a:ln/>
        </p:spPr>
        <p:txBody>
          <a:bodyPr/>
          <a:lstStyle/>
          <a:p>
            <a:endParaRPr lang="en-US"/>
          </a:p>
        </p:txBody>
      </p:sp>
      <p:sp>
        <p:nvSpPr>
          <p:cNvPr id="31" name="Text 29"/>
          <p:cNvSpPr/>
          <p:nvPr/>
        </p:nvSpPr>
        <p:spPr>
          <a:xfrm>
            <a:off x="10868745" y="2655292"/>
            <a:ext cx="799782" cy="304800"/>
          </a:xfrm>
          <a:prstGeom prst="rect">
            <a:avLst/>
          </a:prstGeom>
          <a:noFill/>
          <a:ln/>
        </p:spPr>
        <p:txBody>
          <a:bodyPr wrap="none" lIns="0" tIns="0" rIns="0" bIns="0" rtlCol="0" anchor="t"/>
          <a:lstStyle/>
          <a:p>
            <a:pPr marL="0" indent="0" algn="l">
              <a:lnSpc>
                <a:spcPct val="83000"/>
              </a:lnSpc>
              <a:buNone/>
            </a:pPr>
            <a:r>
              <a:rPr lang="en-US" sz="2400" dirty="0">
                <a:solidFill>
                  <a:srgbClr val="2B3139"/>
                </a:solidFill>
                <a:latin typeface="Geist SemiBold" pitchFamily="34" charset="0"/>
                <a:ea typeface="Geist SemiBold" pitchFamily="34" charset="-122"/>
                <a:cs typeface="Geist SemiBold" pitchFamily="34" charset="-120"/>
              </a:rPr>
              <a:t>7</a:t>
            </a:r>
            <a:endParaRPr lang="en-US" sz="2400" dirty="0"/>
          </a:p>
        </p:txBody>
      </p:sp>
      <p:sp>
        <p:nvSpPr>
          <p:cNvPr id="32" name="Text 30"/>
          <p:cNvSpPr/>
          <p:nvPr/>
        </p:nvSpPr>
        <p:spPr>
          <a:xfrm>
            <a:off x="10396377" y="3314899"/>
            <a:ext cx="1134935" cy="539750"/>
          </a:xfrm>
          <a:prstGeom prst="rect">
            <a:avLst/>
          </a:prstGeom>
          <a:noFill/>
          <a:ln/>
        </p:spPr>
        <p:txBody>
          <a:bodyPr wrap="square" lIns="0" tIns="0" rIns="0" bIns="0" rtlCol="0" anchor="t">
            <a:normAutofit fontScale="92500"/>
          </a:bodyPr>
          <a:lstStyle/>
          <a:p>
            <a:pPr marL="0" indent="0" algn="l">
              <a:lnSpc>
                <a:spcPct val="104000"/>
              </a:lnSpc>
              <a:buNone/>
            </a:pPr>
            <a:r>
              <a:rPr lang="en-US" sz="1700" dirty="0">
                <a:solidFill>
                  <a:srgbClr val="4A5B70"/>
                </a:solidFill>
                <a:latin typeface="Geist SemiBold" pitchFamily="34" charset="0"/>
                <a:ea typeface="Geist SemiBold" pitchFamily="34" charset="-122"/>
                <a:cs typeface="Geist SemiBold" pitchFamily="34" charset="-120"/>
              </a:rPr>
              <a:t>Comparing all Models</a:t>
            </a:r>
            <a:endParaRPr lang="en-US" sz="1700" dirty="0"/>
          </a:p>
        </p:txBody>
      </p:sp>
      <p:sp>
        <p:nvSpPr>
          <p:cNvPr id="33" name="Text 31"/>
          <p:cNvSpPr/>
          <p:nvPr/>
        </p:nvSpPr>
        <p:spPr>
          <a:xfrm>
            <a:off x="457189" y="5355431"/>
            <a:ext cx="5410065" cy="317500"/>
          </a:xfrm>
          <a:prstGeom prst="rect">
            <a:avLst/>
          </a:prstGeom>
          <a:noFill/>
          <a:ln/>
        </p:spPr>
        <p:txBody>
          <a:bodyPr wrap="none" lIns="0" tIns="0" rIns="0" bIns="0" rtlCol="0" anchor="t"/>
          <a:lstStyle/>
          <a:p>
            <a:pPr marL="0" indent="0" algn="l">
              <a:lnSpc>
                <a:spcPct val="104000"/>
              </a:lnSpc>
              <a:buNone/>
            </a:pPr>
            <a:r>
              <a:rPr lang="en-US" sz="2000" dirty="0">
                <a:solidFill>
                  <a:srgbClr val="4A5B70"/>
                </a:solidFill>
                <a:latin typeface="Geist SemiBold" pitchFamily="34" charset="0"/>
                <a:ea typeface="Geist SemiBold" pitchFamily="34" charset="-122"/>
                <a:cs typeface="Geist SemiBold" pitchFamily="34" charset="-120"/>
              </a:rPr>
              <a:t>Scaled training data</a:t>
            </a:r>
            <a:endParaRPr lang="en-US" sz="2000" dirty="0"/>
          </a:p>
        </p:txBody>
      </p:sp>
      <p:sp>
        <p:nvSpPr>
          <p:cNvPr id="34" name="Text 32"/>
          <p:cNvSpPr/>
          <p:nvPr/>
        </p:nvSpPr>
        <p:spPr>
          <a:xfrm>
            <a:off x="457189" y="5823744"/>
            <a:ext cx="5410065" cy="577056"/>
          </a:xfrm>
          <a:prstGeom prst="rect">
            <a:avLst/>
          </a:prstGeom>
          <a:noFill/>
          <a:ln/>
        </p:spPr>
        <p:txBody>
          <a:bodyPr wrap="square" lIns="0" tIns="0" rIns="0" bIns="0" rtlCol="0" anchor="t">
            <a:normAutofit/>
          </a:bodyPr>
          <a:lstStyle/>
          <a:p>
            <a:pPr marL="0" indent="0" algn="l">
              <a:lnSpc>
                <a:spcPct val="118000"/>
              </a:lnSpc>
              <a:buNone/>
            </a:pPr>
            <a:r>
              <a:rPr lang="en-US" sz="1600" dirty="0">
                <a:solidFill>
                  <a:srgbClr val="2B3139"/>
                </a:solidFill>
                <a:latin typeface="Geist" pitchFamily="34" charset="0"/>
                <a:ea typeface="Geist" pitchFamily="34" charset="-122"/>
                <a:cs typeface="Geist" pitchFamily="34" charset="-120"/>
              </a:rPr>
              <a:t>Scaling was for Logistic Regression, KNN, SVM and Kernel SVM.</a:t>
            </a:r>
            <a:endParaRPr lang="en-US" sz="1600" dirty="0"/>
          </a:p>
        </p:txBody>
      </p:sp>
      <p:sp>
        <p:nvSpPr>
          <p:cNvPr id="35" name="Text 33"/>
          <p:cNvSpPr/>
          <p:nvPr/>
        </p:nvSpPr>
        <p:spPr>
          <a:xfrm>
            <a:off x="6324442" y="5355431"/>
            <a:ext cx="5410065" cy="317500"/>
          </a:xfrm>
          <a:prstGeom prst="rect">
            <a:avLst/>
          </a:prstGeom>
          <a:noFill/>
          <a:ln/>
        </p:spPr>
        <p:txBody>
          <a:bodyPr wrap="none" lIns="0" tIns="0" rIns="0" bIns="0" rtlCol="0" anchor="t"/>
          <a:lstStyle/>
          <a:p>
            <a:pPr marL="0" indent="0" algn="l">
              <a:lnSpc>
                <a:spcPct val="104000"/>
              </a:lnSpc>
              <a:buNone/>
            </a:pPr>
            <a:r>
              <a:rPr lang="en-US" sz="2000" dirty="0">
                <a:solidFill>
                  <a:srgbClr val="4A5B70"/>
                </a:solidFill>
                <a:latin typeface="Geist SemiBold" pitchFamily="34" charset="0"/>
                <a:ea typeface="Geist SemiBold" pitchFamily="34" charset="-122"/>
                <a:cs typeface="Geist SemiBold" pitchFamily="34" charset="-120"/>
              </a:rPr>
              <a:t>Unscaled training data</a:t>
            </a:r>
            <a:endParaRPr lang="en-US" sz="2000" dirty="0"/>
          </a:p>
        </p:txBody>
      </p:sp>
      <p:sp>
        <p:nvSpPr>
          <p:cNvPr id="36" name="Text 34"/>
          <p:cNvSpPr/>
          <p:nvPr/>
        </p:nvSpPr>
        <p:spPr>
          <a:xfrm>
            <a:off x="6324442" y="5823744"/>
            <a:ext cx="5410065" cy="577056"/>
          </a:xfrm>
          <a:prstGeom prst="rect">
            <a:avLst/>
          </a:prstGeom>
          <a:noFill/>
          <a:ln/>
        </p:spPr>
        <p:txBody>
          <a:bodyPr wrap="square" lIns="0" tIns="0" rIns="0" bIns="0" rtlCol="0" anchor="t">
            <a:normAutofit/>
          </a:bodyPr>
          <a:lstStyle/>
          <a:p>
            <a:pPr marL="0" indent="0" algn="l">
              <a:lnSpc>
                <a:spcPct val="118000"/>
              </a:lnSpc>
              <a:buNone/>
            </a:pPr>
            <a:r>
              <a:rPr lang="en-US" sz="1600" dirty="0">
                <a:solidFill>
                  <a:srgbClr val="2B3139"/>
                </a:solidFill>
                <a:latin typeface="Geist" pitchFamily="34" charset="0"/>
                <a:ea typeface="Geist" pitchFamily="34" charset="-122"/>
                <a:cs typeface="Geist" pitchFamily="34" charset="-120"/>
              </a:rPr>
              <a:t>Tree-based models and Naive Bayes were evaluated without the scaled training data.</a:t>
            </a:r>
            <a:endParaRPr lang="en-US" sz="1600" dirty="0"/>
          </a:p>
        </p:txBody>
      </p:sp>
      <p:sp>
        <p:nvSpPr>
          <p:cNvPr id="37" name="Shape 35"/>
          <p:cNvSpPr/>
          <p:nvPr/>
        </p:nvSpPr>
        <p:spPr>
          <a:xfrm>
            <a:off x="6089498" y="5344319"/>
            <a:ext cx="12700" cy="1056481"/>
          </a:xfrm>
          <a:prstGeom prst="rect">
            <a:avLst/>
          </a:prstGeom>
          <a:solidFill>
            <a:srgbClr val="D8D1C4"/>
          </a:solidFill>
          <a:ln/>
        </p:spPr>
        <p:txBody>
          <a:bodyPr/>
          <a:lstStyle/>
          <a:p>
            <a:endParaRPr lang="en-US"/>
          </a:p>
        </p:txBody>
      </p:sp>
      <p:sp>
        <p:nvSpPr>
          <p:cNvPr id="39" name="Rectangle 38">
            <a:extLst>
              <a:ext uri="{FF2B5EF4-FFF2-40B4-BE49-F238E27FC236}">
                <a16:creationId xmlns:a16="http://schemas.microsoft.com/office/drawing/2014/main" id="{21B66187-E030-5DBB-EF9F-3CF7D6087B81}"/>
              </a:ext>
            </a:extLst>
          </p:cNvPr>
          <p:cNvSpPr/>
          <p:nvPr/>
        </p:nvSpPr>
        <p:spPr>
          <a:xfrm>
            <a:off x="10982131" y="6447453"/>
            <a:ext cx="1209869" cy="41054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189" y="459184"/>
            <a:ext cx="11734506" cy="182563"/>
          </a:xfrm>
          <a:prstGeom prst="rect">
            <a:avLst/>
          </a:prstGeom>
          <a:noFill/>
          <a:ln/>
        </p:spPr>
        <p:txBody>
          <a:bodyPr wrap="none" lIns="0" tIns="0" rIns="0" bIns="0" rtlCol="0" anchor="t"/>
          <a:lstStyle/>
          <a:p>
            <a:pPr marL="0" indent="0" algn="l">
              <a:lnSpc>
                <a:spcPct val="104000"/>
              </a:lnSpc>
              <a:buNone/>
            </a:pPr>
            <a:r>
              <a:rPr lang="en-US" sz="1150" kern="100" spc="92" dirty="0">
                <a:solidFill>
                  <a:srgbClr val="4A5B70"/>
                </a:solidFill>
                <a:latin typeface="Geist SemiBold" pitchFamily="34" charset="0"/>
                <a:ea typeface="Geist SemiBold" pitchFamily="34" charset="-122"/>
                <a:cs typeface="Geist SemiBold" pitchFamily="34" charset="-120"/>
              </a:rPr>
              <a:t>CANDIDATE MODELS</a:t>
            </a:r>
            <a:endParaRPr lang="en-US" sz="1150" dirty="0"/>
          </a:p>
        </p:txBody>
      </p:sp>
      <p:sp>
        <p:nvSpPr>
          <p:cNvPr id="3" name="Text 1"/>
          <p:cNvSpPr/>
          <p:nvPr/>
        </p:nvSpPr>
        <p:spPr>
          <a:xfrm>
            <a:off x="457189" y="731837"/>
            <a:ext cx="11277318" cy="432991"/>
          </a:xfrm>
          <a:prstGeom prst="rect">
            <a:avLst/>
          </a:prstGeom>
          <a:noFill/>
          <a:ln/>
        </p:spPr>
        <p:txBody>
          <a:bodyPr wrap="none" lIns="0" tIns="0" rIns="0" bIns="0" rtlCol="0" anchor="t"/>
          <a:lstStyle/>
          <a:p>
            <a:pPr marL="0" indent="0" algn="l">
              <a:lnSpc>
                <a:spcPct val="92000"/>
              </a:lnSpc>
              <a:buNone/>
            </a:pPr>
            <a:r>
              <a:rPr lang="en-US" sz="3100" kern="100" spc="-31" dirty="0">
                <a:solidFill>
                  <a:srgbClr val="1B2638"/>
                </a:solidFill>
                <a:latin typeface="Newsreader Medium" pitchFamily="34" charset="0"/>
                <a:ea typeface="Newsreader Medium" pitchFamily="34" charset="-122"/>
                <a:cs typeface="Newsreader Medium" pitchFamily="34" charset="-120"/>
              </a:rPr>
              <a:t>Seven classification algorithms were compared</a:t>
            </a:r>
            <a:endParaRPr lang="en-US" sz="3100" dirty="0"/>
          </a:p>
        </p:txBody>
      </p:sp>
      <p:sp>
        <p:nvSpPr>
          <p:cNvPr id="4" name="Shape 2"/>
          <p:cNvSpPr/>
          <p:nvPr/>
        </p:nvSpPr>
        <p:spPr>
          <a:xfrm>
            <a:off x="457189" y="1439466"/>
            <a:ext cx="11277318" cy="31651"/>
          </a:xfrm>
          <a:prstGeom prst="roundRect">
            <a:avLst>
              <a:gd name="adj" fmla="val 49998"/>
            </a:avLst>
          </a:prstGeom>
          <a:solidFill>
            <a:srgbClr val="397B88"/>
          </a:solidFill>
          <a:ln/>
        </p:spPr>
        <p:txBody>
          <a:bodyPr/>
          <a:lstStyle/>
          <a:p>
            <a:endParaRPr lang="en-US"/>
          </a:p>
        </p:txBody>
      </p:sp>
      <p:sp>
        <p:nvSpPr>
          <p:cNvPr id="5" name="Shape 3"/>
          <p:cNvSpPr/>
          <p:nvPr/>
        </p:nvSpPr>
        <p:spPr>
          <a:xfrm>
            <a:off x="457189" y="1723628"/>
            <a:ext cx="2590735" cy="2186186"/>
          </a:xfrm>
          <a:prstGeom prst="roundRect">
            <a:avLst>
              <a:gd name="adj" fmla="val 523"/>
            </a:avLst>
          </a:prstGeom>
          <a:noFill/>
          <a:ln w="25399">
            <a:solidFill>
              <a:srgbClr val="4A5B70"/>
            </a:solidFill>
            <a:prstDash val="solid"/>
          </a:ln>
        </p:spPr>
        <p:txBody>
          <a:bodyPr/>
          <a:lstStyle/>
          <a:p>
            <a:endParaRPr lang="en-US"/>
          </a:p>
        </p:txBody>
      </p:sp>
      <p:sp>
        <p:nvSpPr>
          <p:cNvPr id="6" name="Text 4"/>
          <p:cNvSpPr/>
          <p:nvPr/>
        </p:nvSpPr>
        <p:spPr>
          <a:xfrm>
            <a:off x="711182" y="1986359"/>
            <a:ext cx="2082748" cy="269875"/>
          </a:xfrm>
          <a:prstGeom prst="rect">
            <a:avLst/>
          </a:prstGeom>
          <a:noFill/>
          <a:ln/>
        </p:spPr>
        <p:txBody>
          <a:bodyPr wrap="none" lIns="0" tIns="0" rIns="0" bIns="0" rtlCol="0" anchor="t"/>
          <a:lstStyle/>
          <a:p>
            <a:pPr marL="0" indent="0" algn="l">
              <a:lnSpc>
                <a:spcPct val="104000"/>
              </a:lnSpc>
              <a:buNone/>
            </a:pPr>
            <a:r>
              <a:rPr lang="en-US" sz="1700" dirty="0">
                <a:solidFill>
                  <a:srgbClr val="4A5B70"/>
                </a:solidFill>
                <a:latin typeface="Geist SemiBold" pitchFamily="34" charset="0"/>
                <a:ea typeface="Geist SemiBold" pitchFamily="34" charset="-122"/>
                <a:cs typeface="Geist SemiBold" pitchFamily="34" charset="-120"/>
              </a:rPr>
              <a:t>Logistic Regression</a:t>
            </a:r>
            <a:endParaRPr lang="en-US" sz="1700" dirty="0"/>
          </a:p>
        </p:txBody>
      </p:sp>
      <p:sp>
        <p:nvSpPr>
          <p:cNvPr id="7" name="Text 5"/>
          <p:cNvSpPr/>
          <p:nvPr/>
        </p:nvSpPr>
        <p:spPr>
          <a:xfrm>
            <a:off x="711182" y="2409428"/>
            <a:ext cx="2082748" cy="504825"/>
          </a:xfrm>
          <a:prstGeom prst="rect">
            <a:avLst/>
          </a:prstGeom>
          <a:noFill/>
          <a:ln/>
        </p:spPr>
        <p:txBody>
          <a:bodyPr wrap="square" lIns="0" tIns="0" rIns="0" bIns="0" rtlCol="0" anchor="t">
            <a:normAutofit/>
          </a:bodyPr>
          <a:lstStyle/>
          <a:p>
            <a:pPr marL="0" indent="0" algn="l">
              <a:lnSpc>
                <a:spcPct val="118000"/>
              </a:lnSpc>
              <a:buNone/>
            </a:pPr>
            <a:r>
              <a:rPr lang="en-US" sz="1400" dirty="0">
                <a:solidFill>
                  <a:srgbClr val="2B3139"/>
                </a:solidFill>
                <a:latin typeface="Geist" pitchFamily="34" charset="0"/>
                <a:ea typeface="Geist" pitchFamily="34" charset="-122"/>
                <a:cs typeface="Geist" pitchFamily="34" charset="-120"/>
              </a:rPr>
              <a:t>A linear classification model.</a:t>
            </a:r>
            <a:endParaRPr lang="en-US" sz="1400" dirty="0"/>
          </a:p>
        </p:txBody>
      </p:sp>
      <p:sp>
        <p:nvSpPr>
          <p:cNvPr id="8" name="Shape 6"/>
          <p:cNvSpPr/>
          <p:nvPr/>
        </p:nvSpPr>
        <p:spPr>
          <a:xfrm>
            <a:off x="3352716" y="1723628"/>
            <a:ext cx="2590735" cy="2186186"/>
          </a:xfrm>
          <a:prstGeom prst="roundRect">
            <a:avLst>
              <a:gd name="adj" fmla="val 523"/>
            </a:avLst>
          </a:prstGeom>
          <a:noFill/>
          <a:ln w="25399">
            <a:solidFill>
              <a:srgbClr val="4A5B70"/>
            </a:solidFill>
            <a:prstDash val="solid"/>
          </a:ln>
        </p:spPr>
        <p:txBody>
          <a:bodyPr/>
          <a:lstStyle/>
          <a:p>
            <a:endParaRPr lang="en-US"/>
          </a:p>
        </p:txBody>
      </p:sp>
      <p:sp>
        <p:nvSpPr>
          <p:cNvPr id="9" name="Text 7"/>
          <p:cNvSpPr/>
          <p:nvPr/>
        </p:nvSpPr>
        <p:spPr>
          <a:xfrm>
            <a:off x="3606710" y="1986359"/>
            <a:ext cx="2082748" cy="269875"/>
          </a:xfrm>
          <a:prstGeom prst="rect">
            <a:avLst/>
          </a:prstGeom>
          <a:noFill/>
          <a:ln/>
        </p:spPr>
        <p:txBody>
          <a:bodyPr wrap="none" lIns="0" tIns="0" rIns="0" bIns="0" rtlCol="0" anchor="t"/>
          <a:lstStyle/>
          <a:p>
            <a:pPr marL="0" indent="0" algn="l">
              <a:lnSpc>
                <a:spcPct val="104000"/>
              </a:lnSpc>
              <a:buNone/>
            </a:pPr>
            <a:r>
              <a:rPr lang="en-US" sz="1700" dirty="0">
                <a:solidFill>
                  <a:srgbClr val="4A5B70"/>
                </a:solidFill>
                <a:latin typeface="Geist SemiBold" pitchFamily="34" charset="0"/>
                <a:ea typeface="Geist SemiBold" pitchFamily="34" charset="-122"/>
                <a:cs typeface="Geist SemiBold" pitchFamily="34" charset="-120"/>
              </a:rPr>
              <a:t>KNN</a:t>
            </a:r>
            <a:endParaRPr lang="en-US" sz="1700" dirty="0"/>
          </a:p>
        </p:txBody>
      </p:sp>
      <p:sp>
        <p:nvSpPr>
          <p:cNvPr id="10" name="Text 8"/>
          <p:cNvSpPr/>
          <p:nvPr/>
        </p:nvSpPr>
        <p:spPr>
          <a:xfrm>
            <a:off x="3606710" y="2409428"/>
            <a:ext cx="2082748" cy="504825"/>
          </a:xfrm>
          <a:prstGeom prst="rect">
            <a:avLst/>
          </a:prstGeom>
          <a:noFill/>
          <a:ln/>
        </p:spPr>
        <p:txBody>
          <a:bodyPr wrap="square" lIns="0" tIns="0" rIns="0" bIns="0" rtlCol="0" anchor="t">
            <a:normAutofit/>
          </a:bodyPr>
          <a:lstStyle/>
          <a:p>
            <a:pPr marL="0" indent="0" algn="l">
              <a:lnSpc>
                <a:spcPct val="118000"/>
              </a:lnSpc>
              <a:buNone/>
            </a:pPr>
            <a:r>
              <a:rPr lang="en-US" sz="1400" dirty="0">
                <a:solidFill>
                  <a:srgbClr val="2B3139"/>
                </a:solidFill>
                <a:latin typeface="Geist" pitchFamily="34" charset="0"/>
                <a:ea typeface="Geist" pitchFamily="34" charset="-122"/>
                <a:cs typeface="Geist" pitchFamily="34" charset="-120"/>
              </a:rPr>
              <a:t>Predicts based on nearby observations.</a:t>
            </a:r>
            <a:endParaRPr lang="en-US" sz="1400" dirty="0"/>
          </a:p>
        </p:txBody>
      </p:sp>
      <p:sp>
        <p:nvSpPr>
          <p:cNvPr id="11" name="Shape 9"/>
          <p:cNvSpPr/>
          <p:nvPr/>
        </p:nvSpPr>
        <p:spPr>
          <a:xfrm>
            <a:off x="6248244" y="1723628"/>
            <a:ext cx="2590735" cy="2186186"/>
          </a:xfrm>
          <a:prstGeom prst="roundRect">
            <a:avLst>
              <a:gd name="adj" fmla="val 523"/>
            </a:avLst>
          </a:prstGeom>
          <a:noFill/>
          <a:ln w="25399">
            <a:solidFill>
              <a:srgbClr val="4A5B70"/>
            </a:solidFill>
            <a:prstDash val="solid"/>
          </a:ln>
        </p:spPr>
        <p:txBody>
          <a:bodyPr/>
          <a:lstStyle/>
          <a:p>
            <a:endParaRPr lang="en-US"/>
          </a:p>
        </p:txBody>
      </p:sp>
      <p:sp>
        <p:nvSpPr>
          <p:cNvPr id="12" name="Text 10"/>
          <p:cNvSpPr/>
          <p:nvPr/>
        </p:nvSpPr>
        <p:spPr>
          <a:xfrm>
            <a:off x="6502237" y="1986359"/>
            <a:ext cx="2082748" cy="269875"/>
          </a:xfrm>
          <a:prstGeom prst="rect">
            <a:avLst/>
          </a:prstGeom>
          <a:noFill/>
          <a:ln/>
        </p:spPr>
        <p:txBody>
          <a:bodyPr wrap="none" lIns="0" tIns="0" rIns="0" bIns="0" rtlCol="0" anchor="t"/>
          <a:lstStyle/>
          <a:p>
            <a:pPr marL="0" indent="0" algn="l">
              <a:lnSpc>
                <a:spcPct val="104000"/>
              </a:lnSpc>
              <a:buNone/>
            </a:pPr>
            <a:r>
              <a:rPr lang="en-US" sz="1700" dirty="0">
                <a:solidFill>
                  <a:srgbClr val="4A5B70"/>
                </a:solidFill>
                <a:latin typeface="Geist SemiBold" pitchFamily="34" charset="0"/>
                <a:ea typeface="Geist SemiBold" pitchFamily="34" charset="-122"/>
                <a:cs typeface="Geist SemiBold" pitchFamily="34" charset="-120"/>
              </a:rPr>
              <a:t>SVM</a:t>
            </a:r>
            <a:endParaRPr lang="en-US" sz="1700" dirty="0"/>
          </a:p>
        </p:txBody>
      </p:sp>
      <p:sp>
        <p:nvSpPr>
          <p:cNvPr id="13" name="Text 11"/>
          <p:cNvSpPr/>
          <p:nvPr/>
        </p:nvSpPr>
        <p:spPr>
          <a:xfrm>
            <a:off x="6502237" y="2409428"/>
            <a:ext cx="2082748" cy="757238"/>
          </a:xfrm>
          <a:prstGeom prst="rect">
            <a:avLst/>
          </a:prstGeom>
          <a:noFill/>
          <a:ln/>
        </p:spPr>
        <p:txBody>
          <a:bodyPr wrap="square" lIns="0" tIns="0" rIns="0" bIns="0" rtlCol="0" anchor="t">
            <a:normAutofit/>
          </a:bodyPr>
          <a:lstStyle/>
          <a:p>
            <a:pPr marL="0" indent="0" algn="l">
              <a:lnSpc>
                <a:spcPct val="118000"/>
              </a:lnSpc>
              <a:buNone/>
            </a:pPr>
            <a:r>
              <a:rPr lang="en-US" sz="1400" dirty="0">
                <a:solidFill>
                  <a:srgbClr val="2B3139"/>
                </a:solidFill>
                <a:latin typeface="Geist" pitchFamily="34" charset="0"/>
                <a:ea typeface="Geist" pitchFamily="34" charset="-122"/>
                <a:cs typeface="Geist" pitchFamily="34" charset="-120"/>
              </a:rPr>
              <a:t>Finds a separating boundary between classes.</a:t>
            </a:r>
            <a:endParaRPr lang="en-US" sz="1400" dirty="0"/>
          </a:p>
        </p:txBody>
      </p:sp>
      <p:sp>
        <p:nvSpPr>
          <p:cNvPr id="14" name="Shape 12"/>
          <p:cNvSpPr/>
          <p:nvPr/>
        </p:nvSpPr>
        <p:spPr>
          <a:xfrm>
            <a:off x="9143771" y="1723628"/>
            <a:ext cx="2590735" cy="2186186"/>
          </a:xfrm>
          <a:prstGeom prst="roundRect">
            <a:avLst>
              <a:gd name="adj" fmla="val 523"/>
            </a:avLst>
          </a:prstGeom>
          <a:noFill/>
          <a:ln w="25399">
            <a:solidFill>
              <a:srgbClr val="4A5B70"/>
            </a:solidFill>
            <a:prstDash val="solid"/>
          </a:ln>
        </p:spPr>
        <p:txBody>
          <a:bodyPr/>
          <a:lstStyle/>
          <a:p>
            <a:endParaRPr lang="en-US"/>
          </a:p>
        </p:txBody>
      </p:sp>
      <p:sp>
        <p:nvSpPr>
          <p:cNvPr id="15" name="Text 13"/>
          <p:cNvSpPr/>
          <p:nvPr/>
        </p:nvSpPr>
        <p:spPr>
          <a:xfrm>
            <a:off x="9397765" y="1986359"/>
            <a:ext cx="2082748" cy="269875"/>
          </a:xfrm>
          <a:prstGeom prst="rect">
            <a:avLst/>
          </a:prstGeom>
          <a:noFill/>
          <a:ln/>
        </p:spPr>
        <p:txBody>
          <a:bodyPr wrap="none" lIns="0" tIns="0" rIns="0" bIns="0" rtlCol="0" anchor="t"/>
          <a:lstStyle/>
          <a:p>
            <a:pPr marL="0" indent="0" algn="l">
              <a:lnSpc>
                <a:spcPct val="104000"/>
              </a:lnSpc>
              <a:buNone/>
            </a:pPr>
            <a:r>
              <a:rPr lang="en-US" sz="1700" dirty="0">
                <a:solidFill>
                  <a:srgbClr val="4A5B70"/>
                </a:solidFill>
                <a:latin typeface="Geist SemiBold" pitchFamily="34" charset="0"/>
                <a:ea typeface="Geist SemiBold" pitchFamily="34" charset="-122"/>
                <a:cs typeface="Geist SemiBold" pitchFamily="34" charset="-120"/>
              </a:rPr>
              <a:t>Kernel SVM</a:t>
            </a:r>
            <a:endParaRPr lang="en-US" sz="1700" dirty="0"/>
          </a:p>
        </p:txBody>
      </p:sp>
      <p:sp>
        <p:nvSpPr>
          <p:cNvPr id="16" name="Text 14"/>
          <p:cNvSpPr/>
          <p:nvPr/>
        </p:nvSpPr>
        <p:spPr>
          <a:xfrm>
            <a:off x="9397765" y="2409428"/>
            <a:ext cx="2082748" cy="757238"/>
          </a:xfrm>
          <a:prstGeom prst="rect">
            <a:avLst/>
          </a:prstGeom>
          <a:noFill/>
          <a:ln/>
        </p:spPr>
        <p:txBody>
          <a:bodyPr wrap="square" lIns="0" tIns="0" rIns="0" bIns="0" rtlCol="0" anchor="t">
            <a:normAutofit/>
          </a:bodyPr>
          <a:lstStyle/>
          <a:p>
            <a:pPr marL="0" indent="0" algn="l">
              <a:lnSpc>
                <a:spcPct val="118000"/>
              </a:lnSpc>
              <a:buNone/>
            </a:pPr>
            <a:r>
              <a:rPr lang="en-US" sz="1400" dirty="0">
                <a:solidFill>
                  <a:srgbClr val="2B3139"/>
                </a:solidFill>
                <a:latin typeface="Geist" pitchFamily="34" charset="0"/>
                <a:ea typeface="Geist" pitchFamily="34" charset="-122"/>
                <a:cs typeface="Geist" pitchFamily="34" charset="-120"/>
              </a:rPr>
              <a:t>Uses an RBF kernel to model nonlinear relationships.</a:t>
            </a:r>
            <a:endParaRPr lang="en-US" sz="1400" dirty="0"/>
          </a:p>
        </p:txBody>
      </p:sp>
      <p:sp>
        <p:nvSpPr>
          <p:cNvPr id="17" name="Shape 15"/>
          <p:cNvSpPr/>
          <p:nvPr/>
        </p:nvSpPr>
        <p:spPr>
          <a:xfrm>
            <a:off x="457189" y="4214614"/>
            <a:ext cx="3555911" cy="2186186"/>
          </a:xfrm>
          <a:prstGeom prst="roundRect">
            <a:avLst>
              <a:gd name="adj" fmla="val 523"/>
            </a:avLst>
          </a:prstGeom>
          <a:noFill/>
          <a:ln w="25399">
            <a:solidFill>
              <a:srgbClr val="4A5B70"/>
            </a:solidFill>
            <a:prstDash val="solid"/>
          </a:ln>
        </p:spPr>
        <p:txBody>
          <a:bodyPr/>
          <a:lstStyle/>
          <a:p>
            <a:endParaRPr lang="en-US"/>
          </a:p>
        </p:txBody>
      </p:sp>
      <p:sp>
        <p:nvSpPr>
          <p:cNvPr id="18" name="Text 16"/>
          <p:cNvSpPr/>
          <p:nvPr/>
        </p:nvSpPr>
        <p:spPr>
          <a:xfrm>
            <a:off x="711182" y="4477345"/>
            <a:ext cx="3047924" cy="269875"/>
          </a:xfrm>
          <a:prstGeom prst="rect">
            <a:avLst/>
          </a:prstGeom>
          <a:noFill/>
          <a:ln/>
        </p:spPr>
        <p:txBody>
          <a:bodyPr wrap="none" lIns="0" tIns="0" rIns="0" bIns="0" rtlCol="0" anchor="t"/>
          <a:lstStyle/>
          <a:p>
            <a:pPr marL="0" indent="0" algn="l">
              <a:lnSpc>
                <a:spcPct val="104000"/>
              </a:lnSpc>
              <a:buNone/>
            </a:pPr>
            <a:r>
              <a:rPr lang="en-US" sz="1700" dirty="0">
                <a:solidFill>
                  <a:srgbClr val="4A5B70"/>
                </a:solidFill>
                <a:latin typeface="Geist SemiBold" pitchFamily="34" charset="0"/>
                <a:ea typeface="Geist SemiBold" pitchFamily="34" charset="-122"/>
                <a:cs typeface="Geist SemiBold" pitchFamily="34" charset="-120"/>
              </a:rPr>
              <a:t>Naive Bayes</a:t>
            </a:r>
            <a:endParaRPr lang="en-US" sz="1700" dirty="0"/>
          </a:p>
        </p:txBody>
      </p:sp>
      <p:sp>
        <p:nvSpPr>
          <p:cNvPr id="19" name="Text 17"/>
          <p:cNvSpPr/>
          <p:nvPr/>
        </p:nvSpPr>
        <p:spPr>
          <a:xfrm>
            <a:off x="711182" y="4900414"/>
            <a:ext cx="3047924" cy="504825"/>
          </a:xfrm>
          <a:prstGeom prst="rect">
            <a:avLst/>
          </a:prstGeom>
          <a:noFill/>
          <a:ln/>
        </p:spPr>
        <p:txBody>
          <a:bodyPr wrap="square" lIns="0" tIns="0" rIns="0" bIns="0" rtlCol="0" anchor="t">
            <a:normAutofit/>
          </a:bodyPr>
          <a:lstStyle/>
          <a:p>
            <a:pPr marL="0" indent="0" algn="l">
              <a:lnSpc>
                <a:spcPct val="118000"/>
              </a:lnSpc>
              <a:buNone/>
            </a:pPr>
            <a:r>
              <a:rPr lang="en-US" sz="1400" dirty="0">
                <a:solidFill>
                  <a:srgbClr val="2B3139"/>
                </a:solidFill>
                <a:latin typeface="Geist" pitchFamily="34" charset="0"/>
                <a:ea typeface="Geist" pitchFamily="34" charset="-122"/>
                <a:cs typeface="Geist" pitchFamily="34" charset="-120"/>
              </a:rPr>
              <a:t>A probabilistic classification approach.</a:t>
            </a:r>
            <a:endParaRPr lang="en-US" sz="1400" dirty="0"/>
          </a:p>
        </p:txBody>
      </p:sp>
      <p:sp>
        <p:nvSpPr>
          <p:cNvPr id="20" name="Shape 18"/>
          <p:cNvSpPr/>
          <p:nvPr/>
        </p:nvSpPr>
        <p:spPr>
          <a:xfrm>
            <a:off x="4317892" y="4214614"/>
            <a:ext cx="3555911" cy="2186186"/>
          </a:xfrm>
          <a:prstGeom prst="roundRect">
            <a:avLst>
              <a:gd name="adj" fmla="val 523"/>
            </a:avLst>
          </a:prstGeom>
          <a:noFill/>
          <a:ln w="25399">
            <a:solidFill>
              <a:srgbClr val="4A5B70"/>
            </a:solidFill>
            <a:prstDash val="solid"/>
          </a:ln>
        </p:spPr>
        <p:txBody>
          <a:bodyPr/>
          <a:lstStyle/>
          <a:p>
            <a:endParaRPr lang="en-US"/>
          </a:p>
        </p:txBody>
      </p:sp>
      <p:sp>
        <p:nvSpPr>
          <p:cNvPr id="21" name="Text 19"/>
          <p:cNvSpPr/>
          <p:nvPr/>
        </p:nvSpPr>
        <p:spPr>
          <a:xfrm>
            <a:off x="4571886" y="4477345"/>
            <a:ext cx="3047924" cy="269875"/>
          </a:xfrm>
          <a:prstGeom prst="rect">
            <a:avLst/>
          </a:prstGeom>
          <a:noFill/>
          <a:ln/>
        </p:spPr>
        <p:txBody>
          <a:bodyPr wrap="none" lIns="0" tIns="0" rIns="0" bIns="0" rtlCol="0" anchor="t"/>
          <a:lstStyle/>
          <a:p>
            <a:pPr marL="0" indent="0" algn="l">
              <a:lnSpc>
                <a:spcPct val="104000"/>
              </a:lnSpc>
              <a:buNone/>
            </a:pPr>
            <a:r>
              <a:rPr lang="en-US" sz="1700" dirty="0">
                <a:solidFill>
                  <a:srgbClr val="4A5B70"/>
                </a:solidFill>
                <a:latin typeface="Geist SemiBold" pitchFamily="34" charset="0"/>
                <a:ea typeface="Geist SemiBold" pitchFamily="34" charset="-122"/>
                <a:cs typeface="Geist SemiBold" pitchFamily="34" charset="-120"/>
              </a:rPr>
              <a:t>Decision Tree</a:t>
            </a:r>
            <a:endParaRPr lang="en-US" sz="1700" dirty="0"/>
          </a:p>
        </p:txBody>
      </p:sp>
      <p:sp>
        <p:nvSpPr>
          <p:cNvPr id="22" name="Text 20"/>
          <p:cNvSpPr/>
          <p:nvPr/>
        </p:nvSpPr>
        <p:spPr>
          <a:xfrm>
            <a:off x="4571886" y="4900414"/>
            <a:ext cx="3047924" cy="504825"/>
          </a:xfrm>
          <a:prstGeom prst="rect">
            <a:avLst/>
          </a:prstGeom>
          <a:noFill/>
          <a:ln/>
        </p:spPr>
        <p:txBody>
          <a:bodyPr wrap="square" lIns="0" tIns="0" rIns="0" bIns="0" rtlCol="0" anchor="t">
            <a:normAutofit/>
          </a:bodyPr>
          <a:lstStyle/>
          <a:p>
            <a:pPr marL="0" indent="0" algn="l">
              <a:lnSpc>
                <a:spcPct val="118000"/>
              </a:lnSpc>
              <a:buNone/>
            </a:pPr>
            <a:r>
              <a:rPr lang="en-US" sz="1400" dirty="0">
                <a:solidFill>
                  <a:srgbClr val="2B3139"/>
                </a:solidFill>
                <a:latin typeface="Geist" pitchFamily="34" charset="0"/>
                <a:ea typeface="Geist" pitchFamily="34" charset="-122"/>
                <a:cs typeface="Geist" pitchFamily="34" charset="-120"/>
              </a:rPr>
              <a:t>Makes decisions through a tree structure.</a:t>
            </a:r>
            <a:endParaRPr lang="en-US" sz="1400" dirty="0"/>
          </a:p>
        </p:txBody>
      </p:sp>
      <p:sp>
        <p:nvSpPr>
          <p:cNvPr id="23" name="Shape 21"/>
          <p:cNvSpPr/>
          <p:nvPr/>
        </p:nvSpPr>
        <p:spPr>
          <a:xfrm>
            <a:off x="8178595" y="4214614"/>
            <a:ext cx="3555911" cy="2186186"/>
          </a:xfrm>
          <a:prstGeom prst="roundRect">
            <a:avLst>
              <a:gd name="adj" fmla="val 523"/>
            </a:avLst>
          </a:prstGeom>
          <a:noFill/>
          <a:ln w="25399">
            <a:solidFill>
              <a:srgbClr val="4A5B70"/>
            </a:solidFill>
            <a:prstDash val="solid"/>
          </a:ln>
        </p:spPr>
        <p:txBody>
          <a:bodyPr/>
          <a:lstStyle/>
          <a:p>
            <a:endParaRPr lang="en-US"/>
          </a:p>
        </p:txBody>
      </p:sp>
      <p:sp>
        <p:nvSpPr>
          <p:cNvPr id="24" name="Text 22"/>
          <p:cNvSpPr/>
          <p:nvPr/>
        </p:nvSpPr>
        <p:spPr>
          <a:xfrm>
            <a:off x="8432589" y="4477345"/>
            <a:ext cx="3047924" cy="269875"/>
          </a:xfrm>
          <a:prstGeom prst="rect">
            <a:avLst/>
          </a:prstGeom>
          <a:noFill/>
          <a:ln/>
        </p:spPr>
        <p:txBody>
          <a:bodyPr wrap="none" lIns="0" tIns="0" rIns="0" bIns="0" rtlCol="0" anchor="t"/>
          <a:lstStyle/>
          <a:p>
            <a:pPr marL="0" indent="0" algn="l">
              <a:lnSpc>
                <a:spcPct val="104000"/>
              </a:lnSpc>
              <a:buNone/>
            </a:pPr>
            <a:r>
              <a:rPr lang="en-US" sz="1700" dirty="0">
                <a:solidFill>
                  <a:srgbClr val="4A5B70"/>
                </a:solidFill>
                <a:latin typeface="Geist SemiBold" pitchFamily="34" charset="0"/>
                <a:ea typeface="Geist SemiBold" pitchFamily="34" charset="-122"/>
                <a:cs typeface="Geist SemiBold" pitchFamily="34" charset="-120"/>
              </a:rPr>
              <a:t>Random Forest</a:t>
            </a:r>
            <a:endParaRPr lang="en-US" sz="1700" dirty="0"/>
          </a:p>
        </p:txBody>
      </p:sp>
      <p:sp>
        <p:nvSpPr>
          <p:cNvPr id="25" name="Text 23"/>
          <p:cNvSpPr/>
          <p:nvPr/>
        </p:nvSpPr>
        <p:spPr>
          <a:xfrm>
            <a:off x="8432589" y="4900414"/>
            <a:ext cx="3301917" cy="252413"/>
          </a:xfrm>
          <a:prstGeom prst="rect">
            <a:avLst/>
          </a:prstGeom>
          <a:noFill/>
          <a:ln/>
        </p:spPr>
        <p:txBody>
          <a:bodyPr wrap="none" lIns="0" tIns="0" rIns="0" bIns="0" rtlCol="0" anchor="t"/>
          <a:lstStyle/>
          <a:p>
            <a:pPr marL="0" indent="0" algn="l">
              <a:lnSpc>
                <a:spcPct val="118000"/>
              </a:lnSpc>
              <a:buNone/>
            </a:pPr>
            <a:r>
              <a:rPr lang="en-US" sz="1400" dirty="0">
                <a:solidFill>
                  <a:srgbClr val="2B3139"/>
                </a:solidFill>
                <a:latin typeface="Geist" pitchFamily="34" charset="0"/>
                <a:ea typeface="Geist" pitchFamily="34" charset="-122"/>
                <a:cs typeface="Geist" pitchFamily="34" charset="-120"/>
              </a:rPr>
              <a:t>Combines multiple decision trees.</a:t>
            </a:r>
            <a:endParaRPr lang="en-US" sz="1400" dirty="0"/>
          </a:p>
        </p:txBody>
      </p:sp>
      <p:sp>
        <p:nvSpPr>
          <p:cNvPr id="27" name="Rectangle 26">
            <a:extLst>
              <a:ext uri="{FF2B5EF4-FFF2-40B4-BE49-F238E27FC236}">
                <a16:creationId xmlns:a16="http://schemas.microsoft.com/office/drawing/2014/main" id="{DF8C3A58-FCF7-6D8A-2D15-D0E71DAA0BAE}"/>
              </a:ext>
            </a:extLst>
          </p:cNvPr>
          <p:cNvSpPr/>
          <p:nvPr/>
        </p:nvSpPr>
        <p:spPr>
          <a:xfrm>
            <a:off x="10982131" y="6447453"/>
            <a:ext cx="1209869" cy="41054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189" y="459184"/>
            <a:ext cx="11734506" cy="182563"/>
          </a:xfrm>
          <a:prstGeom prst="rect">
            <a:avLst/>
          </a:prstGeom>
          <a:noFill/>
          <a:ln/>
        </p:spPr>
        <p:txBody>
          <a:bodyPr wrap="none" lIns="0" tIns="0" rIns="0" bIns="0" rtlCol="0" anchor="t"/>
          <a:lstStyle/>
          <a:p>
            <a:pPr marL="0" indent="0" algn="l">
              <a:lnSpc>
                <a:spcPct val="104000"/>
              </a:lnSpc>
              <a:buNone/>
            </a:pPr>
            <a:r>
              <a:rPr lang="en-US" sz="1150" kern="100" spc="92" dirty="0">
                <a:solidFill>
                  <a:srgbClr val="4A5B70"/>
                </a:solidFill>
                <a:latin typeface="Geist SemiBold" pitchFamily="34" charset="0"/>
                <a:ea typeface="Geist SemiBold" pitchFamily="34" charset="-122"/>
                <a:cs typeface="Geist SemiBold" pitchFamily="34" charset="-120"/>
              </a:rPr>
              <a:t>TEST RESULTS</a:t>
            </a:r>
            <a:endParaRPr lang="en-US" sz="1150" dirty="0"/>
          </a:p>
        </p:txBody>
      </p:sp>
      <p:sp>
        <p:nvSpPr>
          <p:cNvPr id="3" name="Text 1"/>
          <p:cNvSpPr/>
          <p:nvPr/>
        </p:nvSpPr>
        <p:spPr>
          <a:xfrm>
            <a:off x="457189" y="731837"/>
            <a:ext cx="11277318" cy="432991"/>
          </a:xfrm>
          <a:prstGeom prst="rect">
            <a:avLst/>
          </a:prstGeom>
          <a:noFill/>
          <a:ln/>
        </p:spPr>
        <p:txBody>
          <a:bodyPr wrap="none" lIns="0" tIns="0" rIns="0" bIns="0" rtlCol="0" anchor="t"/>
          <a:lstStyle/>
          <a:p>
            <a:pPr marL="0" indent="0" algn="l">
              <a:lnSpc>
                <a:spcPct val="92000"/>
              </a:lnSpc>
              <a:buNone/>
            </a:pPr>
            <a:r>
              <a:rPr lang="en-US" sz="3100" kern="100" spc="-31" dirty="0">
                <a:solidFill>
                  <a:srgbClr val="1B2638"/>
                </a:solidFill>
                <a:latin typeface="Newsreader Medium" pitchFamily="34" charset="0"/>
                <a:ea typeface="Newsreader Medium" pitchFamily="34" charset="-122"/>
                <a:cs typeface="Newsreader Medium" pitchFamily="34" charset="-120"/>
              </a:rPr>
              <a:t>KNN and Random Forest tie for the highest test accuracy</a:t>
            </a:r>
            <a:endParaRPr lang="en-US" sz="3100" dirty="0"/>
          </a:p>
        </p:txBody>
      </p:sp>
      <p:sp>
        <p:nvSpPr>
          <p:cNvPr id="4" name="Shape 2"/>
          <p:cNvSpPr/>
          <p:nvPr/>
        </p:nvSpPr>
        <p:spPr>
          <a:xfrm>
            <a:off x="457189" y="1439466"/>
            <a:ext cx="11277318" cy="31651"/>
          </a:xfrm>
          <a:prstGeom prst="roundRect">
            <a:avLst>
              <a:gd name="adj" fmla="val 49998"/>
            </a:avLst>
          </a:prstGeom>
          <a:solidFill>
            <a:srgbClr val="397B88"/>
          </a:solidFill>
          <a:ln/>
        </p:spPr>
        <p:txBody>
          <a:bodyPr/>
          <a:lstStyle/>
          <a:p>
            <a:endParaRPr lang="en-US"/>
          </a:p>
        </p:txBody>
      </p:sp>
      <p:sp>
        <p:nvSpPr>
          <p:cNvPr id="5" name="Text 3"/>
          <p:cNvSpPr/>
          <p:nvPr/>
        </p:nvSpPr>
        <p:spPr>
          <a:xfrm>
            <a:off x="457189" y="1723628"/>
            <a:ext cx="11734506" cy="288528"/>
          </a:xfrm>
          <a:prstGeom prst="rect">
            <a:avLst/>
          </a:prstGeom>
          <a:noFill/>
          <a:ln/>
        </p:spPr>
        <p:txBody>
          <a:bodyPr wrap="none" lIns="0" tIns="0" rIns="0" bIns="0" rtlCol="0" anchor="t"/>
          <a:lstStyle/>
          <a:p>
            <a:pPr marL="0" indent="0" algn="l">
              <a:lnSpc>
                <a:spcPct val="118000"/>
              </a:lnSpc>
              <a:buNone/>
            </a:pPr>
            <a:r>
              <a:rPr lang="en-US" sz="1600" dirty="0">
                <a:solidFill>
                  <a:srgbClr val="2B3139"/>
                </a:solidFill>
                <a:latin typeface="Geist" pitchFamily="34" charset="0"/>
                <a:ea typeface="Geist" pitchFamily="34" charset="-122"/>
                <a:cs typeface="Geist" pitchFamily="34" charset="-120"/>
              </a:rPr>
              <a:t>Both reach </a:t>
            </a:r>
            <a:r>
              <a:rPr lang="en-US" sz="1600" b="1" dirty="0">
                <a:solidFill>
                  <a:srgbClr val="2B3139"/>
                </a:solidFill>
                <a:latin typeface="Geist Bold" pitchFamily="34" charset="0"/>
                <a:ea typeface="Geist Bold" pitchFamily="34" charset="-122"/>
                <a:cs typeface="Geist Bold" pitchFamily="34" charset="-120"/>
              </a:rPr>
              <a:t>75.52%</a:t>
            </a:r>
            <a:r>
              <a:rPr lang="en-US" sz="1600" dirty="0">
                <a:solidFill>
                  <a:srgbClr val="2B3139"/>
                </a:solidFill>
                <a:latin typeface="Geist" pitchFamily="34" charset="0"/>
                <a:ea typeface="Geist" pitchFamily="34" charset="-122"/>
                <a:cs typeface="Geist" pitchFamily="34" charset="-120"/>
              </a:rPr>
              <a:t>, KNN is the model selected via cross-validation.</a:t>
            </a:r>
            <a:endParaRPr lang="en-US" sz="1600" dirty="0"/>
          </a:p>
        </p:txBody>
      </p:sp>
      <p:pic>
        <p:nvPicPr>
          <p:cNvPr id="6" name="Image 0" descr="preencoded.png"/>
          <p:cNvPicPr>
            <a:picLocks noChangeAspect="1"/>
          </p:cNvPicPr>
          <p:nvPr/>
        </p:nvPicPr>
        <p:blipFill>
          <a:blip r:embed="rId3"/>
          <a:stretch>
            <a:fillRect/>
          </a:stretch>
        </p:blipFill>
        <p:spPr>
          <a:xfrm>
            <a:off x="457189" y="2215356"/>
            <a:ext cx="10794730" cy="3810000"/>
          </a:xfrm>
          <a:prstGeom prst="rect">
            <a:avLst/>
          </a:prstGeom>
        </p:spPr>
      </p:pic>
      <p:sp>
        <p:nvSpPr>
          <p:cNvPr id="8" name="Rectangle 7">
            <a:extLst>
              <a:ext uri="{FF2B5EF4-FFF2-40B4-BE49-F238E27FC236}">
                <a16:creationId xmlns:a16="http://schemas.microsoft.com/office/drawing/2014/main" id="{A49283C3-4AA8-0FFA-4A60-01C678BF04E8}"/>
              </a:ext>
            </a:extLst>
          </p:cNvPr>
          <p:cNvSpPr/>
          <p:nvPr/>
        </p:nvSpPr>
        <p:spPr>
          <a:xfrm>
            <a:off x="10982131" y="6447453"/>
            <a:ext cx="1209869" cy="41054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189" y="459184"/>
            <a:ext cx="11734506" cy="182563"/>
          </a:xfrm>
          <a:prstGeom prst="rect">
            <a:avLst/>
          </a:prstGeom>
          <a:noFill/>
          <a:ln/>
        </p:spPr>
        <p:txBody>
          <a:bodyPr wrap="none" lIns="0" tIns="0" rIns="0" bIns="0" rtlCol="0" anchor="t"/>
          <a:lstStyle/>
          <a:p>
            <a:pPr marL="0" indent="0" algn="l">
              <a:lnSpc>
                <a:spcPct val="104000"/>
              </a:lnSpc>
              <a:buNone/>
            </a:pPr>
            <a:r>
              <a:rPr lang="en-US" sz="1150" kern="100" spc="92" dirty="0">
                <a:solidFill>
                  <a:srgbClr val="4A5B70"/>
                </a:solidFill>
                <a:latin typeface="Geist SemiBold" pitchFamily="34" charset="0"/>
                <a:ea typeface="Geist SemiBold" pitchFamily="34" charset="-122"/>
                <a:cs typeface="Geist SemiBold" pitchFamily="34" charset="-120"/>
              </a:rPr>
              <a:t>TRAINING-DATA CROSS-VALIDATION</a:t>
            </a:r>
            <a:endParaRPr lang="en-US" sz="1150" dirty="0"/>
          </a:p>
        </p:txBody>
      </p:sp>
      <p:sp>
        <p:nvSpPr>
          <p:cNvPr id="3" name="Text 1"/>
          <p:cNvSpPr/>
          <p:nvPr/>
        </p:nvSpPr>
        <p:spPr>
          <a:xfrm>
            <a:off x="457189" y="731837"/>
            <a:ext cx="11277318" cy="432991"/>
          </a:xfrm>
          <a:prstGeom prst="rect">
            <a:avLst/>
          </a:prstGeom>
          <a:noFill/>
          <a:ln/>
        </p:spPr>
        <p:txBody>
          <a:bodyPr wrap="none" lIns="0" tIns="0" rIns="0" bIns="0" rtlCol="0" anchor="t"/>
          <a:lstStyle/>
          <a:p>
            <a:pPr marL="0" indent="0" algn="l">
              <a:lnSpc>
                <a:spcPct val="92000"/>
              </a:lnSpc>
              <a:buNone/>
            </a:pPr>
            <a:r>
              <a:rPr lang="en-US" sz="3100" kern="100" spc="-31" dirty="0">
                <a:solidFill>
                  <a:srgbClr val="1B2638"/>
                </a:solidFill>
                <a:latin typeface="Newsreader Medium" pitchFamily="34" charset="0"/>
                <a:ea typeface="Newsreader Medium" pitchFamily="34" charset="-122"/>
                <a:cs typeface="Newsreader Medium" pitchFamily="34" charset="-120"/>
              </a:rPr>
              <a:t>5-fold cross-validation ranks KNN first at 77.77%</a:t>
            </a:r>
            <a:endParaRPr lang="en-US" sz="3100" dirty="0"/>
          </a:p>
        </p:txBody>
      </p:sp>
      <p:sp>
        <p:nvSpPr>
          <p:cNvPr id="4" name="Shape 2"/>
          <p:cNvSpPr/>
          <p:nvPr/>
        </p:nvSpPr>
        <p:spPr>
          <a:xfrm>
            <a:off x="457189" y="1439466"/>
            <a:ext cx="11277318" cy="31651"/>
          </a:xfrm>
          <a:prstGeom prst="roundRect">
            <a:avLst>
              <a:gd name="adj" fmla="val 49998"/>
            </a:avLst>
          </a:prstGeom>
          <a:solidFill>
            <a:srgbClr val="397B88"/>
          </a:solidFill>
          <a:ln/>
        </p:spPr>
        <p:txBody>
          <a:bodyPr/>
          <a:lstStyle/>
          <a:p>
            <a:endParaRPr lang="en-US"/>
          </a:p>
        </p:txBody>
      </p:sp>
      <p:sp>
        <p:nvSpPr>
          <p:cNvPr id="5" name="Text 3"/>
          <p:cNvSpPr/>
          <p:nvPr/>
        </p:nvSpPr>
        <p:spPr>
          <a:xfrm>
            <a:off x="457189" y="1723628"/>
            <a:ext cx="11277318" cy="577056"/>
          </a:xfrm>
          <a:prstGeom prst="rect">
            <a:avLst/>
          </a:prstGeom>
          <a:noFill/>
          <a:ln/>
        </p:spPr>
        <p:txBody>
          <a:bodyPr wrap="square" lIns="0" tIns="0" rIns="0" bIns="0" rtlCol="0" anchor="t">
            <a:normAutofit/>
          </a:bodyPr>
          <a:lstStyle/>
          <a:p>
            <a:pPr marL="0" indent="0" algn="l">
              <a:lnSpc>
                <a:spcPct val="118000"/>
              </a:lnSpc>
              <a:buNone/>
            </a:pPr>
            <a:r>
              <a:rPr lang="en-US" sz="1600" dirty="0">
                <a:solidFill>
                  <a:srgbClr val="2B3139"/>
                </a:solidFill>
                <a:latin typeface="Geist" pitchFamily="34" charset="0"/>
                <a:ea typeface="Geist" pitchFamily="34" charset="-122"/>
                <a:cs typeface="Geist" pitchFamily="34" charset="-120"/>
              </a:rPr>
              <a:t>5-fold cross-validation on the training data gives a more reliable performance estimate. KNN has the highest mean CV accuracy of the seven models.</a:t>
            </a:r>
            <a:endParaRPr lang="en-US" sz="1600" dirty="0"/>
          </a:p>
        </p:txBody>
      </p:sp>
      <p:pic>
        <p:nvPicPr>
          <p:cNvPr id="6" name="Image 0" descr="preencoded.png"/>
          <p:cNvPicPr>
            <a:picLocks noChangeAspect="1"/>
          </p:cNvPicPr>
          <p:nvPr/>
        </p:nvPicPr>
        <p:blipFill>
          <a:blip r:embed="rId3"/>
          <a:stretch>
            <a:fillRect/>
          </a:stretch>
        </p:blipFill>
        <p:spPr>
          <a:xfrm>
            <a:off x="457189" y="2503884"/>
            <a:ext cx="10794730" cy="3492500"/>
          </a:xfrm>
          <a:prstGeom prst="rect">
            <a:avLst/>
          </a:prstGeom>
        </p:spPr>
      </p:pic>
      <p:sp>
        <p:nvSpPr>
          <p:cNvPr id="7" name="Text 4"/>
          <p:cNvSpPr/>
          <p:nvPr/>
        </p:nvSpPr>
        <p:spPr>
          <a:xfrm>
            <a:off x="457189" y="6088459"/>
            <a:ext cx="11734506" cy="197148"/>
          </a:xfrm>
          <a:prstGeom prst="rect">
            <a:avLst/>
          </a:prstGeom>
          <a:noFill/>
          <a:ln/>
        </p:spPr>
        <p:txBody>
          <a:bodyPr wrap="none" lIns="0" tIns="0" rIns="0" bIns="0" rtlCol="0" anchor="t"/>
          <a:lstStyle/>
          <a:p>
            <a:pPr marL="0" indent="0" algn="l">
              <a:lnSpc>
                <a:spcPct val="113000"/>
              </a:lnSpc>
              <a:buNone/>
            </a:pPr>
            <a:r>
              <a:rPr lang="en-US" sz="1150" dirty="0">
                <a:solidFill>
                  <a:srgbClr val="000000"/>
                </a:solidFill>
                <a:latin typeface="Geist" pitchFamily="34" charset="0"/>
                <a:ea typeface="Geist" pitchFamily="34" charset="-122"/>
                <a:cs typeface="Geist" pitchFamily="34" charset="-120"/>
              </a:rPr>
              <a:t>Mean CV Accuracy (%) · Best cross-validation model: KNN, 77.77%. Decision Tree ranks lowest.</a:t>
            </a:r>
            <a:endParaRPr lang="en-US" sz="1150" dirty="0"/>
          </a:p>
        </p:txBody>
      </p:sp>
      <p:sp>
        <p:nvSpPr>
          <p:cNvPr id="9" name="Rectangle 8">
            <a:extLst>
              <a:ext uri="{FF2B5EF4-FFF2-40B4-BE49-F238E27FC236}">
                <a16:creationId xmlns:a16="http://schemas.microsoft.com/office/drawing/2014/main" id="{5F3B0362-4773-C483-CAE1-EFB3E3C26557}"/>
              </a:ext>
            </a:extLst>
          </p:cNvPr>
          <p:cNvSpPr/>
          <p:nvPr/>
        </p:nvSpPr>
        <p:spPr>
          <a:xfrm>
            <a:off x="10982131" y="6447453"/>
            <a:ext cx="1209869" cy="41054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189" y="459184"/>
            <a:ext cx="11734506" cy="182563"/>
          </a:xfrm>
          <a:prstGeom prst="rect">
            <a:avLst/>
          </a:prstGeom>
          <a:noFill/>
          <a:ln/>
        </p:spPr>
        <p:txBody>
          <a:bodyPr wrap="none" lIns="0" tIns="0" rIns="0" bIns="0" rtlCol="0" anchor="t"/>
          <a:lstStyle/>
          <a:p>
            <a:pPr marL="0" indent="0" algn="l">
              <a:lnSpc>
                <a:spcPct val="104000"/>
              </a:lnSpc>
              <a:buNone/>
            </a:pPr>
            <a:r>
              <a:rPr lang="en-US" sz="1150" kern="100" spc="92" dirty="0">
                <a:solidFill>
                  <a:srgbClr val="4A5B70"/>
                </a:solidFill>
                <a:latin typeface="Geist SemiBold" pitchFamily="34" charset="0"/>
                <a:ea typeface="Geist SemiBold" pitchFamily="34" charset="-122"/>
                <a:cs typeface="Geist SemiBold" pitchFamily="34" charset="-120"/>
              </a:rPr>
              <a:t>MODEL SELECTION</a:t>
            </a:r>
            <a:endParaRPr lang="en-US" sz="1150" dirty="0"/>
          </a:p>
        </p:txBody>
      </p:sp>
      <p:sp>
        <p:nvSpPr>
          <p:cNvPr id="3" name="Text 1"/>
          <p:cNvSpPr/>
          <p:nvPr/>
        </p:nvSpPr>
        <p:spPr>
          <a:xfrm>
            <a:off x="457189" y="731837"/>
            <a:ext cx="11277318" cy="432991"/>
          </a:xfrm>
          <a:prstGeom prst="rect">
            <a:avLst/>
          </a:prstGeom>
          <a:noFill/>
          <a:ln/>
        </p:spPr>
        <p:txBody>
          <a:bodyPr wrap="none" lIns="0" tIns="0" rIns="0" bIns="0" rtlCol="0" anchor="t"/>
          <a:lstStyle/>
          <a:p>
            <a:pPr marL="0" indent="0" algn="l">
              <a:lnSpc>
                <a:spcPct val="92000"/>
              </a:lnSpc>
              <a:buNone/>
            </a:pPr>
            <a:r>
              <a:rPr lang="en-US" sz="3100" kern="100" spc="-31" dirty="0">
                <a:solidFill>
                  <a:srgbClr val="1B2638"/>
                </a:solidFill>
                <a:latin typeface="Newsreader Medium" pitchFamily="34" charset="0"/>
                <a:ea typeface="Newsreader Medium" pitchFamily="34" charset="-122"/>
                <a:cs typeface="Newsreader Medium" pitchFamily="34" charset="-120"/>
              </a:rPr>
              <a:t>KNN was selected for the highest cross-validation accuracy</a:t>
            </a:r>
            <a:endParaRPr lang="en-US" sz="3100" dirty="0"/>
          </a:p>
        </p:txBody>
      </p:sp>
      <p:sp>
        <p:nvSpPr>
          <p:cNvPr id="4" name="Shape 2"/>
          <p:cNvSpPr/>
          <p:nvPr/>
        </p:nvSpPr>
        <p:spPr>
          <a:xfrm>
            <a:off x="457189" y="1439466"/>
            <a:ext cx="11277318" cy="31651"/>
          </a:xfrm>
          <a:prstGeom prst="roundRect">
            <a:avLst>
              <a:gd name="adj" fmla="val 49998"/>
            </a:avLst>
          </a:prstGeom>
          <a:solidFill>
            <a:srgbClr val="397B88"/>
          </a:solidFill>
          <a:ln/>
        </p:spPr>
        <p:txBody>
          <a:bodyPr/>
          <a:lstStyle/>
          <a:p>
            <a:endParaRPr lang="en-US"/>
          </a:p>
        </p:txBody>
      </p:sp>
      <p:sp>
        <p:nvSpPr>
          <p:cNvPr id="5" name="Text 3"/>
          <p:cNvSpPr/>
          <p:nvPr/>
        </p:nvSpPr>
        <p:spPr>
          <a:xfrm>
            <a:off x="457189" y="1918097"/>
            <a:ext cx="11277318" cy="301625"/>
          </a:xfrm>
          <a:prstGeom prst="rect">
            <a:avLst/>
          </a:prstGeom>
          <a:noFill/>
          <a:ln/>
        </p:spPr>
        <p:txBody>
          <a:bodyPr wrap="none" lIns="0" tIns="0" rIns="0" bIns="0" rtlCol="0" anchor="t"/>
          <a:lstStyle/>
          <a:p>
            <a:pPr marL="0" indent="0" algn="l">
              <a:lnSpc>
                <a:spcPct val="104000"/>
              </a:lnSpc>
              <a:buNone/>
            </a:pPr>
            <a:r>
              <a:rPr lang="en-US" sz="1900" dirty="0">
                <a:solidFill>
                  <a:srgbClr val="4A5B70"/>
                </a:solidFill>
                <a:latin typeface="Geist SemiBold" pitchFamily="34" charset="0"/>
                <a:ea typeface="Geist SemiBold" pitchFamily="34" charset="-122"/>
                <a:cs typeface="Geist SemiBold" pitchFamily="34" charset="-120"/>
              </a:rPr>
              <a:t>Selected model: K-Nearest Neighbors</a:t>
            </a:r>
            <a:endParaRPr lang="en-US" sz="1900" dirty="0"/>
          </a:p>
        </p:txBody>
      </p:sp>
      <p:sp>
        <p:nvSpPr>
          <p:cNvPr id="6" name="Text 4"/>
          <p:cNvSpPr/>
          <p:nvPr/>
        </p:nvSpPr>
        <p:spPr>
          <a:xfrm>
            <a:off x="457189" y="2371328"/>
            <a:ext cx="11734506" cy="294878"/>
          </a:xfrm>
          <a:prstGeom prst="rect">
            <a:avLst/>
          </a:prstGeom>
          <a:noFill/>
          <a:ln/>
        </p:spPr>
        <p:txBody>
          <a:bodyPr wrap="none" lIns="0" tIns="0" rIns="0" bIns="0" rtlCol="0" anchor="t"/>
          <a:lstStyle/>
          <a:p>
            <a:pPr marL="0" indent="0" algn="l">
              <a:lnSpc>
                <a:spcPct val="118000"/>
              </a:lnSpc>
              <a:buNone/>
            </a:pPr>
            <a:r>
              <a:rPr lang="en-US" sz="1600" dirty="0">
                <a:solidFill>
                  <a:srgbClr val="2B3139"/>
                </a:solidFill>
                <a:highlight>
                  <a:srgbClr val="FFFFFF"/>
                </a:highlight>
                <a:latin typeface="Consolas" pitchFamily="34" charset="0"/>
                <a:ea typeface="Consolas" pitchFamily="34" charset="-122"/>
                <a:cs typeface="Consolas" pitchFamily="34" charset="-120"/>
              </a:rPr>
              <a:t>n_neighbors = 15</a:t>
            </a:r>
            <a:endParaRPr lang="en-US" sz="1600" dirty="0"/>
          </a:p>
        </p:txBody>
      </p:sp>
      <p:sp>
        <p:nvSpPr>
          <p:cNvPr id="7" name="Text 5"/>
          <p:cNvSpPr/>
          <p:nvPr/>
        </p:nvSpPr>
        <p:spPr>
          <a:xfrm>
            <a:off x="457189" y="3417491"/>
            <a:ext cx="5638659" cy="182563"/>
          </a:xfrm>
          <a:prstGeom prst="rect">
            <a:avLst/>
          </a:prstGeom>
          <a:noFill/>
          <a:ln/>
        </p:spPr>
        <p:txBody>
          <a:bodyPr wrap="none" lIns="0" tIns="0" rIns="0" bIns="0" rtlCol="0" anchor="t"/>
          <a:lstStyle/>
          <a:p>
            <a:pPr marL="0" indent="0" algn="l">
              <a:lnSpc>
                <a:spcPct val="104000"/>
              </a:lnSpc>
              <a:buNone/>
            </a:pPr>
            <a:r>
              <a:rPr lang="en-US" sz="1150" kern="100" spc="92" dirty="0">
                <a:solidFill>
                  <a:srgbClr val="4A5B70"/>
                </a:solidFill>
                <a:latin typeface="Geist SemiBold" pitchFamily="34" charset="0"/>
                <a:ea typeface="Geist SemiBold" pitchFamily="34" charset="-122"/>
                <a:cs typeface="Geist SemiBold" pitchFamily="34" charset="-120"/>
              </a:rPr>
              <a:t>CROSS-VALIDATION ACCURACY</a:t>
            </a:r>
            <a:endParaRPr lang="en-US" sz="1150" dirty="0"/>
          </a:p>
        </p:txBody>
      </p:sp>
      <p:sp>
        <p:nvSpPr>
          <p:cNvPr id="8" name="Text 6"/>
          <p:cNvSpPr/>
          <p:nvPr/>
        </p:nvSpPr>
        <p:spPr>
          <a:xfrm>
            <a:off x="457189" y="3690144"/>
            <a:ext cx="5410065" cy="800100"/>
          </a:xfrm>
          <a:prstGeom prst="rect">
            <a:avLst/>
          </a:prstGeom>
          <a:noFill/>
          <a:ln/>
        </p:spPr>
        <p:txBody>
          <a:bodyPr wrap="none" lIns="0" tIns="0" rIns="0" bIns="0" rtlCol="0" anchor="t"/>
          <a:lstStyle/>
          <a:p>
            <a:pPr marL="0" indent="0" algn="l">
              <a:lnSpc>
                <a:spcPct val="88000"/>
              </a:lnSpc>
              <a:buNone/>
            </a:pPr>
            <a:r>
              <a:rPr lang="en-US" sz="6000" kern="100" spc="-120" dirty="0">
                <a:solidFill>
                  <a:srgbClr val="1B2638"/>
                </a:solidFill>
                <a:latin typeface="Newsreader Medium" pitchFamily="34" charset="0"/>
                <a:ea typeface="Newsreader Medium" pitchFamily="34" charset="-122"/>
                <a:cs typeface="Newsreader Medium" pitchFamily="34" charset="-120"/>
              </a:rPr>
              <a:t>77.77%</a:t>
            </a:r>
            <a:endParaRPr lang="en-US" sz="6000" dirty="0"/>
          </a:p>
        </p:txBody>
      </p:sp>
      <p:sp>
        <p:nvSpPr>
          <p:cNvPr id="9" name="Text 7"/>
          <p:cNvSpPr/>
          <p:nvPr/>
        </p:nvSpPr>
        <p:spPr>
          <a:xfrm>
            <a:off x="457189" y="4715669"/>
            <a:ext cx="5638659" cy="288528"/>
          </a:xfrm>
          <a:prstGeom prst="rect">
            <a:avLst/>
          </a:prstGeom>
          <a:noFill/>
          <a:ln/>
        </p:spPr>
        <p:txBody>
          <a:bodyPr wrap="none" lIns="0" tIns="0" rIns="0" bIns="0" rtlCol="0" anchor="t"/>
          <a:lstStyle/>
          <a:p>
            <a:pPr marL="0" indent="0" algn="l">
              <a:lnSpc>
                <a:spcPct val="118000"/>
              </a:lnSpc>
              <a:buNone/>
            </a:pPr>
            <a:r>
              <a:rPr lang="en-US" sz="1600" dirty="0">
                <a:solidFill>
                  <a:srgbClr val="2B3139"/>
                </a:solidFill>
                <a:latin typeface="Geist" pitchFamily="34" charset="0"/>
                <a:ea typeface="Geist" pitchFamily="34" charset="-122"/>
                <a:cs typeface="Geist" pitchFamily="34" charset="-120"/>
              </a:rPr>
              <a:t>Mean accuracy across five folds of the training data.</a:t>
            </a:r>
            <a:endParaRPr lang="en-US" sz="1600" dirty="0"/>
          </a:p>
        </p:txBody>
      </p:sp>
      <p:sp>
        <p:nvSpPr>
          <p:cNvPr id="10" name="Text 8"/>
          <p:cNvSpPr/>
          <p:nvPr/>
        </p:nvSpPr>
        <p:spPr>
          <a:xfrm>
            <a:off x="6324442" y="3417491"/>
            <a:ext cx="5410065" cy="182563"/>
          </a:xfrm>
          <a:prstGeom prst="rect">
            <a:avLst/>
          </a:prstGeom>
          <a:noFill/>
          <a:ln/>
        </p:spPr>
        <p:txBody>
          <a:bodyPr wrap="none" lIns="0" tIns="0" rIns="0" bIns="0" rtlCol="0" anchor="t"/>
          <a:lstStyle/>
          <a:p>
            <a:pPr marL="0" indent="0" algn="l">
              <a:lnSpc>
                <a:spcPct val="104000"/>
              </a:lnSpc>
              <a:buNone/>
            </a:pPr>
            <a:r>
              <a:rPr lang="en-US" sz="1150" kern="100" spc="92" dirty="0">
                <a:solidFill>
                  <a:srgbClr val="4A5B70"/>
                </a:solidFill>
                <a:latin typeface="Geist SemiBold" pitchFamily="34" charset="0"/>
                <a:ea typeface="Geist SemiBold" pitchFamily="34" charset="-122"/>
                <a:cs typeface="Geist SemiBold" pitchFamily="34" charset="-120"/>
              </a:rPr>
              <a:t>TEST ACCURACY</a:t>
            </a:r>
            <a:endParaRPr lang="en-US" sz="1150" dirty="0"/>
          </a:p>
        </p:txBody>
      </p:sp>
      <p:sp>
        <p:nvSpPr>
          <p:cNvPr id="11" name="Text 9"/>
          <p:cNvSpPr/>
          <p:nvPr/>
        </p:nvSpPr>
        <p:spPr>
          <a:xfrm>
            <a:off x="6324442" y="3690144"/>
            <a:ext cx="5410065" cy="800100"/>
          </a:xfrm>
          <a:prstGeom prst="rect">
            <a:avLst/>
          </a:prstGeom>
          <a:noFill/>
          <a:ln/>
        </p:spPr>
        <p:txBody>
          <a:bodyPr wrap="none" lIns="0" tIns="0" rIns="0" bIns="0" rtlCol="0" anchor="t"/>
          <a:lstStyle/>
          <a:p>
            <a:pPr marL="0" indent="0" algn="l">
              <a:lnSpc>
                <a:spcPct val="88000"/>
              </a:lnSpc>
              <a:buNone/>
            </a:pPr>
            <a:r>
              <a:rPr lang="en-US" sz="6000" kern="100" spc="-120" dirty="0">
                <a:solidFill>
                  <a:srgbClr val="1B2638"/>
                </a:solidFill>
                <a:latin typeface="Newsreader Medium" pitchFamily="34" charset="0"/>
                <a:ea typeface="Newsreader Medium" pitchFamily="34" charset="-122"/>
                <a:cs typeface="Newsreader Medium" pitchFamily="34" charset="-120"/>
              </a:rPr>
              <a:t>75.52%</a:t>
            </a:r>
            <a:endParaRPr lang="en-US" sz="6000" dirty="0"/>
          </a:p>
        </p:txBody>
      </p:sp>
      <p:sp>
        <p:nvSpPr>
          <p:cNvPr id="12" name="Text 10"/>
          <p:cNvSpPr/>
          <p:nvPr/>
        </p:nvSpPr>
        <p:spPr>
          <a:xfrm>
            <a:off x="6324442" y="4715669"/>
            <a:ext cx="5410065" cy="288528"/>
          </a:xfrm>
          <a:prstGeom prst="rect">
            <a:avLst/>
          </a:prstGeom>
          <a:noFill/>
          <a:ln/>
        </p:spPr>
        <p:txBody>
          <a:bodyPr wrap="none" lIns="0" tIns="0" rIns="0" bIns="0" rtlCol="0" anchor="t"/>
          <a:lstStyle/>
          <a:p>
            <a:pPr marL="0" indent="0" algn="l">
              <a:lnSpc>
                <a:spcPct val="118000"/>
              </a:lnSpc>
              <a:buNone/>
            </a:pPr>
            <a:r>
              <a:rPr lang="en-US" sz="1600" dirty="0">
                <a:solidFill>
                  <a:srgbClr val="2B3139"/>
                </a:solidFill>
                <a:latin typeface="Geist" pitchFamily="34" charset="0"/>
                <a:ea typeface="Geist" pitchFamily="34" charset="-122"/>
                <a:cs typeface="Geist" pitchFamily="34" charset="-120"/>
              </a:rPr>
              <a:t>Accuracy on the test data, tied with Random Forest.</a:t>
            </a:r>
            <a:endParaRPr lang="en-US" sz="1600" dirty="0"/>
          </a:p>
        </p:txBody>
      </p:sp>
      <p:sp>
        <p:nvSpPr>
          <p:cNvPr id="13" name="Shape 11"/>
          <p:cNvSpPr/>
          <p:nvPr/>
        </p:nvSpPr>
        <p:spPr>
          <a:xfrm>
            <a:off x="457189" y="5756672"/>
            <a:ext cx="11277318" cy="644128"/>
          </a:xfrm>
          <a:prstGeom prst="rect">
            <a:avLst/>
          </a:prstGeom>
          <a:solidFill>
            <a:srgbClr val="EAF4F5"/>
          </a:solidFill>
          <a:ln/>
        </p:spPr>
        <p:txBody>
          <a:bodyPr/>
          <a:lstStyle/>
          <a:p>
            <a:endParaRPr lang="en-US"/>
          </a:p>
        </p:txBody>
      </p:sp>
      <p:sp>
        <p:nvSpPr>
          <p:cNvPr id="14" name="Shape 12"/>
          <p:cNvSpPr/>
          <p:nvPr/>
        </p:nvSpPr>
        <p:spPr>
          <a:xfrm>
            <a:off x="457189" y="5756672"/>
            <a:ext cx="25399" cy="644128"/>
          </a:xfrm>
          <a:prstGeom prst="rect">
            <a:avLst/>
          </a:prstGeom>
          <a:solidFill>
            <a:srgbClr val="397B88"/>
          </a:solidFill>
          <a:ln/>
        </p:spPr>
        <p:txBody>
          <a:bodyPr/>
          <a:lstStyle/>
          <a:p>
            <a:endParaRPr lang="en-US"/>
          </a:p>
        </p:txBody>
      </p:sp>
      <p:sp>
        <p:nvSpPr>
          <p:cNvPr id="15" name="Text 13"/>
          <p:cNvSpPr/>
          <p:nvPr/>
        </p:nvSpPr>
        <p:spPr>
          <a:xfrm>
            <a:off x="736582" y="5934472"/>
            <a:ext cx="10997925" cy="288528"/>
          </a:xfrm>
          <a:prstGeom prst="rect">
            <a:avLst/>
          </a:prstGeom>
          <a:noFill/>
          <a:ln/>
        </p:spPr>
        <p:txBody>
          <a:bodyPr wrap="none" lIns="0" tIns="0" rIns="0" bIns="0" rtlCol="0" anchor="t"/>
          <a:lstStyle/>
          <a:p>
            <a:pPr marL="0" indent="0" algn="l">
              <a:lnSpc>
                <a:spcPct val="118000"/>
              </a:lnSpc>
              <a:buNone/>
            </a:pPr>
            <a:r>
              <a:rPr lang="en-US" sz="1600" dirty="0">
                <a:solidFill>
                  <a:srgbClr val="000000"/>
                </a:solidFill>
                <a:latin typeface="Geist" pitchFamily="34" charset="0"/>
                <a:ea typeface="Geist" pitchFamily="34" charset="-122"/>
                <a:cs typeface="Geist" pitchFamily="34" charset="-120"/>
              </a:rPr>
              <a:t>Cross-validation guided the choice. the test set gave an independent check.</a:t>
            </a:r>
            <a:endParaRPr lang="en-US" sz="1600" dirty="0"/>
          </a:p>
        </p:txBody>
      </p:sp>
      <p:sp>
        <p:nvSpPr>
          <p:cNvPr id="16" name="Shape 14"/>
          <p:cNvSpPr/>
          <p:nvPr/>
        </p:nvSpPr>
        <p:spPr>
          <a:xfrm>
            <a:off x="6089498" y="3415506"/>
            <a:ext cx="12700" cy="1588691"/>
          </a:xfrm>
          <a:prstGeom prst="rect">
            <a:avLst/>
          </a:prstGeom>
          <a:solidFill>
            <a:srgbClr val="D8D1C4"/>
          </a:solidFill>
          <a:ln/>
        </p:spPr>
        <p:txBody>
          <a:bodyPr/>
          <a:lstStyle/>
          <a:p>
            <a:endParaRPr lang="en-US"/>
          </a:p>
        </p:txBody>
      </p:sp>
      <p:sp>
        <p:nvSpPr>
          <p:cNvPr id="18" name="Rectangle 17">
            <a:extLst>
              <a:ext uri="{FF2B5EF4-FFF2-40B4-BE49-F238E27FC236}">
                <a16:creationId xmlns:a16="http://schemas.microsoft.com/office/drawing/2014/main" id="{03B7234A-36B2-7860-9498-EB590D00FE11}"/>
              </a:ext>
            </a:extLst>
          </p:cNvPr>
          <p:cNvSpPr/>
          <p:nvPr/>
        </p:nvSpPr>
        <p:spPr>
          <a:xfrm>
            <a:off x="10982131" y="6447453"/>
            <a:ext cx="1209869" cy="41054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189" y="459184"/>
            <a:ext cx="11734506" cy="182563"/>
          </a:xfrm>
          <a:prstGeom prst="rect">
            <a:avLst/>
          </a:prstGeom>
          <a:noFill/>
          <a:ln/>
        </p:spPr>
        <p:txBody>
          <a:bodyPr wrap="none" lIns="0" tIns="0" rIns="0" bIns="0" rtlCol="0" anchor="t"/>
          <a:lstStyle/>
          <a:p>
            <a:pPr marL="0" indent="0" algn="l">
              <a:lnSpc>
                <a:spcPct val="104000"/>
              </a:lnSpc>
              <a:buNone/>
            </a:pPr>
            <a:r>
              <a:rPr lang="en-US" sz="1150" kern="100" spc="92" dirty="0">
                <a:solidFill>
                  <a:srgbClr val="4A5B70"/>
                </a:solidFill>
                <a:latin typeface="Geist SemiBold" pitchFamily="34" charset="0"/>
                <a:ea typeface="Geist SemiBold" pitchFamily="34" charset="-122"/>
                <a:cs typeface="Geist SemiBold" pitchFamily="34" charset="-120"/>
              </a:rPr>
              <a:t>UNDERSTANDING PREDICTION ERRORS</a:t>
            </a:r>
            <a:endParaRPr lang="en-US" sz="1150" dirty="0"/>
          </a:p>
        </p:txBody>
      </p:sp>
      <p:sp>
        <p:nvSpPr>
          <p:cNvPr id="3" name="Text 1"/>
          <p:cNvSpPr/>
          <p:nvPr/>
        </p:nvSpPr>
        <p:spPr>
          <a:xfrm>
            <a:off x="457189" y="731837"/>
            <a:ext cx="11277318" cy="432991"/>
          </a:xfrm>
          <a:prstGeom prst="rect">
            <a:avLst/>
          </a:prstGeom>
          <a:noFill/>
          <a:ln/>
        </p:spPr>
        <p:txBody>
          <a:bodyPr wrap="none" lIns="0" tIns="0" rIns="0" bIns="0" rtlCol="0" anchor="t"/>
          <a:lstStyle/>
          <a:p>
            <a:pPr marL="0" indent="0" algn="l">
              <a:lnSpc>
                <a:spcPct val="92000"/>
              </a:lnSpc>
              <a:buNone/>
            </a:pPr>
            <a:r>
              <a:rPr lang="en-US" sz="3100" kern="100" spc="-31" dirty="0">
                <a:solidFill>
                  <a:srgbClr val="1B2638"/>
                </a:solidFill>
                <a:latin typeface="Newsreader Medium" pitchFamily="34" charset="0"/>
                <a:ea typeface="Newsreader Medium" pitchFamily="34" charset="-122"/>
                <a:cs typeface="Newsreader Medium" pitchFamily="34" charset="-120"/>
              </a:rPr>
              <a:t>A confusion matrix shows which errors the KNN model makes</a:t>
            </a:r>
            <a:endParaRPr lang="en-US" sz="3100" dirty="0"/>
          </a:p>
        </p:txBody>
      </p:sp>
      <p:sp>
        <p:nvSpPr>
          <p:cNvPr id="4" name="Shape 2"/>
          <p:cNvSpPr/>
          <p:nvPr/>
        </p:nvSpPr>
        <p:spPr>
          <a:xfrm>
            <a:off x="457189" y="1439466"/>
            <a:ext cx="11277318" cy="31651"/>
          </a:xfrm>
          <a:prstGeom prst="roundRect">
            <a:avLst>
              <a:gd name="adj" fmla="val 49998"/>
            </a:avLst>
          </a:prstGeom>
          <a:solidFill>
            <a:srgbClr val="397B88"/>
          </a:solidFill>
          <a:ln/>
        </p:spPr>
        <p:txBody>
          <a:bodyPr/>
          <a:lstStyle/>
          <a:p>
            <a:endParaRPr lang="en-US"/>
          </a:p>
        </p:txBody>
      </p:sp>
      <p:sp>
        <p:nvSpPr>
          <p:cNvPr id="5" name="Text 3"/>
          <p:cNvSpPr/>
          <p:nvPr/>
        </p:nvSpPr>
        <p:spPr>
          <a:xfrm>
            <a:off x="457189" y="1723628"/>
            <a:ext cx="11734506" cy="288528"/>
          </a:xfrm>
          <a:prstGeom prst="rect">
            <a:avLst/>
          </a:prstGeom>
          <a:noFill/>
          <a:ln/>
        </p:spPr>
        <p:txBody>
          <a:bodyPr wrap="none" lIns="0" tIns="0" rIns="0" bIns="0" rtlCol="0" anchor="t"/>
          <a:lstStyle/>
          <a:p>
            <a:pPr marL="0" indent="0" algn="l">
              <a:lnSpc>
                <a:spcPct val="118000"/>
              </a:lnSpc>
              <a:buNone/>
            </a:pPr>
            <a:r>
              <a:rPr lang="en-US" sz="1600" dirty="0">
                <a:solidFill>
                  <a:srgbClr val="2B3139"/>
                </a:solidFill>
                <a:latin typeface="Geist" pitchFamily="34" charset="0"/>
                <a:ea typeface="Geist" pitchFamily="34" charset="-122"/>
                <a:cs typeface="Geist" pitchFamily="34" charset="-120"/>
              </a:rPr>
              <a:t>It reveals error types that accuracy alone hides.</a:t>
            </a:r>
            <a:endParaRPr lang="en-US" sz="1600" dirty="0"/>
          </a:p>
        </p:txBody>
      </p:sp>
      <p:graphicFrame>
        <p:nvGraphicFramePr>
          <p:cNvPr id="11" name="Table 0"/>
          <p:cNvGraphicFramePr>
            <a:graphicFrameLocks noGrp="1"/>
          </p:cNvGraphicFramePr>
          <p:nvPr>
            <p:extLst>
              <p:ext uri="{D42A27DB-BD31-4B8C-83A1-F6EECF244321}">
                <p14:modId xmlns:p14="http://schemas.microsoft.com/office/powerpoint/2010/main" val="1473758587"/>
              </p:ext>
            </p:extLst>
          </p:nvPr>
        </p:nvGraphicFramePr>
        <p:xfrm>
          <a:off x="457189" y="2215356"/>
          <a:ext cx="11277318" cy="3188810"/>
        </p:xfrm>
        <a:graphic>
          <a:graphicData uri="http://schemas.openxmlformats.org/drawingml/2006/table">
            <a:tbl>
              <a:tblPr/>
              <a:tblGrid>
                <a:gridCol w="2255404">
                  <a:extLst>
                    <a:ext uri="{9D8B030D-6E8A-4147-A177-3AD203B41FA5}">
                      <a16:colId xmlns:a16="http://schemas.microsoft.com/office/drawing/2014/main" val="20000"/>
                    </a:ext>
                  </a:extLst>
                </a:gridCol>
                <a:gridCol w="4510907">
                  <a:extLst>
                    <a:ext uri="{9D8B030D-6E8A-4147-A177-3AD203B41FA5}">
                      <a16:colId xmlns:a16="http://schemas.microsoft.com/office/drawing/2014/main" val="20001"/>
                    </a:ext>
                  </a:extLst>
                </a:gridCol>
                <a:gridCol w="4511007">
                  <a:extLst>
                    <a:ext uri="{9D8B030D-6E8A-4147-A177-3AD203B41FA5}">
                      <a16:colId xmlns:a16="http://schemas.microsoft.com/office/drawing/2014/main" val="20002"/>
                    </a:ext>
                  </a:extLst>
                </a:gridCol>
              </a:tblGrid>
              <a:tr h="843735">
                <a:tc>
                  <a:txBody>
                    <a:bodyPr/>
                    <a:lstStyle/>
                    <a:p>
                      <a:pPr marL="0" indent="0" algn="l">
                        <a:buNone/>
                      </a:pPr>
                      <a:r>
                        <a:rPr lang="en-US" sz="1600" dirty="0">
                          <a:solidFill>
                            <a:srgbClr val="1B2638"/>
                          </a:solidFill>
                          <a:latin typeface="Geist" pitchFamily="34" charset="0"/>
                          <a:ea typeface="Geist" pitchFamily="34" charset="-122"/>
                          <a:cs typeface="Geist" pitchFamily="34" charset="-120"/>
                        </a:rPr>
                        <a:t>Actual ↓</a:t>
                      </a:r>
                      <a:endParaRPr lang="en-US" sz="1600" dirty="0">
                        <a:latin typeface="Geist" charset="0"/>
                        <a:ea typeface="Geist" charset="0"/>
                        <a:cs typeface="Geist" charset="0"/>
                      </a:endParaRPr>
                    </a:p>
                    <a:p>
                      <a:pPr marL="0" indent="0" algn="l">
                        <a:buNone/>
                      </a:pPr>
                      <a:r>
                        <a:rPr lang="en-US" sz="1600" dirty="0">
                          <a:solidFill>
                            <a:srgbClr val="1B2638"/>
                          </a:solidFill>
                          <a:latin typeface="Geist" pitchFamily="34" charset="0"/>
                          <a:ea typeface="Geist" pitchFamily="34" charset="-122"/>
                          <a:cs typeface="Geist" pitchFamily="34" charset="-120"/>
                        </a:rPr>
                        <a:t>Predicted →</a:t>
                      </a:r>
                      <a:endParaRPr lang="en-US" sz="1600" dirty="0">
                        <a:latin typeface="Geist" charset="0"/>
                        <a:ea typeface="Geist" charset="0"/>
                        <a:cs typeface="Geist" charset="0"/>
                      </a:endParaRPr>
                    </a:p>
                  </a:txBody>
                  <a:tcPr marL="152396" marR="152396" marT="126997" marB="126997" anchor="ctr">
                    <a:lnL w="12700" cap="flat" cmpd="sng" algn="ctr">
                      <a:solidFill>
                        <a:srgbClr val="D8D1C4"/>
                      </a:solidFill>
                      <a:prstDash val="solid"/>
                      <a:round/>
                      <a:headEnd type="none" w="med" len="med"/>
                      <a:tailEnd type="none" w="med" len="med"/>
                    </a:lnL>
                    <a:lnR w="12700" cap="flat" cmpd="sng" algn="ctr">
                      <a:solidFill>
                        <a:srgbClr val="D8D1C4"/>
                      </a:solidFill>
                      <a:prstDash val="solid"/>
                      <a:round/>
                      <a:headEnd type="none" w="med" len="med"/>
                      <a:tailEnd type="none" w="med" len="med"/>
                    </a:lnR>
                    <a:lnT w="12700" cap="flat" cmpd="sng" algn="ctr">
                      <a:solidFill>
                        <a:srgbClr val="D8D1C4"/>
                      </a:solidFill>
                      <a:prstDash val="solid"/>
                      <a:round/>
                      <a:headEnd type="none" w="med" len="med"/>
                      <a:tailEnd type="none" w="med" len="med"/>
                    </a:lnT>
                    <a:lnB w="12700" cap="flat" cmpd="sng" algn="ctr">
                      <a:solidFill>
                        <a:srgbClr val="D8D1C4"/>
                      </a:solidFill>
                      <a:prstDash val="solid"/>
                      <a:round/>
                      <a:headEnd type="none" w="med" len="med"/>
                      <a:tailEnd type="none" w="med" len="med"/>
                    </a:lnB>
                  </a:tcPr>
                </a:tc>
                <a:tc>
                  <a:txBody>
                    <a:bodyPr/>
                    <a:lstStyle/>
                    <a:p>
                      <a:pPr marL="0" indent="0" algn="l">
                        <a:buNone/>
                      </a:pPr>
                      <a:r>
                        <a:rPr lang="en-US" sz="1600" dirty="0">
                          <a:solidFill>
                            <a:srgbClr val="1B2638"/>
                          </a:solidFill>
                          <a:latin typeface="Geist" pitchFamily="34" charset="0"/>
                          <a:ea typeface="Geist" pitchFamily="34" charset="-122"/>
                          <a:cs typeface="Geist" pitchFamily="34" charset="-120"/>
                        </a:rPr>
                        <a:t>0 · No diabetes</a:t>
                      </a:r>
                      <a:endParaRPr lang="en-US" sz="1600" dirty="0">
                        <a:latin typeface="Geist" charset="0"/>
                        <a:ea typeface="Geist" charset="0"/>
                        <a:cs typeface="Geist" charset="0"/>
                      </a:endParaRPr>
                    </a:p>
                  </a:txBody>
                  <a:tcPr marL="152396" marR="152396" marT="126997" marB="126997" anchor="ctr">
                    <a:lnL w="12700" cap="flat" cmpd="sng" algn="ctr">
                      <a:solidFill>
                        <a:srgbClr val="D8D1C4"/>
                      </a:solidFill>
                      <a:prstDash val="solid"/>
                      <a:round/>
                      <a:headEnd type="none" w="med" len="med"/>
                      <a:tailEnd type="none" w="med" len="med"/>
                    </a:lnL>
                    <a:lnR w="12700" cap="flat" cmpd="sng" algn="ctr">
                      <a:solidFill>
                        <a:srgbClr val="D8D1C4"/>
                      </a:solidFill>
                      <a:prstDash val="solid"/>
                      <a:round/>
                      <a:headEnd type="none" w="med" len="med"/>
                      <a:tailEnd type="none" w="med" len="med"/>
                    </a:lnR>
                    <a:lnT w="12700" cap="flat" cmpd="sng" algn="ctr">
                      <a:solidFill>
                        <a:srgbClr val="D8D1C4"/>
                      </a:solidFill>
                      <a:prstDash val="solid"/>
                      <a:round/>
                      <a:headEnd type="none" w="med" len="med"/>
                      <a:tailEnd type="none" w="med" len="med"/>
                    </a:lnT>
                    <a:lnB w="12700" cap="flat" cmpd="sng" algn="ctr">
                      <a:solidFill>
                        <a:srgbClr val="D8D1C4"/>
                      </a:solidFill>
                      <a:prstDash val="solid"/>
                      <a:round/>
                      <a:headEnd type="none" w="med" len="med"/>
                      <a:tailEnd type="none" w="med" len="med"/>
                    </a:lnB>
                  </a:tcPr>
                </a:tc>
                <a:tc>
                  <a:txBody>
                    <a:bodyPr/>
                    <a:lstStyle/>
                    <a:p>
                      <a:pPr marL="0" indent="0" algn="l">
                        <a:buNone/>
                      </a:pPr>
                      <a:r>
                        <a:rPr lang="en-US" sz="1600" dirty="0">
                          <a:solidFill>
                            <a:srgbClr val="1B2638"/>
                          </a:solidFill>
                          <a:latin typeface="Geist" pitchFamily="34" charset="0"/>
                          <a:ea typeface="Geist" pitchFamily="34" charset="-122"/>
                          <a:cs typeface="Geist" pitchFamily="34" charset="-120"/>
                        </a:rPr>
                        <a:t>1 · Diabetes</a:t>
                      </a:r>
                      <a:endParaRPr lang="en-US" sz="1600" dirty="0">
                        <a:latin typeface="Geist" charset="0"/>
                        <a:ea typeface="Geist" charset="0"/>
                        <a:cs typeface="Geist" charset="0"/>
                      </a:endParaRPr>
                    </a:p>
                  </a:txBody>
                  <a:tcPr marL="152396" marR="152396" marT="126997" marB="126997" anchor="ctr">
                    <a:lnL w="12700" cap="flat" cmpd="sng" algn="ctr">
                      <a:solidFill>
                        <a:srgbClr val="D8D1C4"/>
                      </a:solidFill>
                      <a:prstDash val="solid"/>
                      <a:round/>
                      <a:headEnd type="none" w="med" len="med"/>
                      <a:tailEnd type="none" w="med" len="med"/>
                    </a:lnL>
                    <a:lnR w="12700" cap="flat" cmpd="sng" algn="ctr">
                      <a:solidFill>
                        <a:srgbClr val="D8D1C4"/>
                      </a:solidFill>
                      <a:prstDash val="solid"/>
                      <a:round/>
                      <a:headEnd type="none" w="med" len="med"/>
                      <a:tailEnd type="none" w="med" len="med"/>
                    </a:lnR>
                    <a:lnT w="12700" cap="flat" cmpd="sng" algn="ctr">
                      <a:solidFill>
                        <a:srgbClr val="D8D1C4"/>
                      </a:solidFill>
                      <a:prstDash val="solid"/>
                      <a:round/>
                      <a:headEnd type="none" w="med" len="med"/>
                      <a:tailEnd type="none" w="med" len="med"/>
                    </a:lnT>
                    <a:lnB w="12700" cap="flat" cmpd="sng" algn="ctr">
                      <a:solidFill>
                        <a:srgbClr val="D8D1C4"/>
                      </a:solidFill>
                      <a:prstDash val="solid"/>
                      <a:round/>
                      <a:headEnd type="none" w="med" len="med"/>
                      <a:tailEnd type="none" w="med" len="med"/>
                    </a:lnB>
                  </a:tcPr>
                </a:tc>
                <a:extLst>
                  <a:ext uri="{0D108BD9-81ED-4DB2-BD59-A6C34878D82A}">
                    <a16:rowId xmlns:a16="http://schemas.microsoft.com/office/drawing/2014/main" val="10000"/>
                  </a:ext>
                </a:extLst>
              </a:tr>
              <a:tr h="1034627">
                <a:tc>
                  <a:txBody>
                    <a:bodyPr/>
                    <a:lstStyle/>
                    <a:p>
                      <a:pPr marL="0" indent="0" algn="l">
                        <a:buNone/>
                      </a:pPr>
                      <a:r>
                        <a:rPr lang="en-US" sz="1600" dirty="0">
                          <a:solidFill>
                            <a:srgbClr val="1B2638"/>
                          </a:solidFill>
                          <a:latin typeface="Geist" pitchFamily="34" charset="0"/>
                          <a:ea typeface="Geist" pitchFamily="34" charset="-122"/>
                          <a:cs typeface="Geist" pitchFamily="34" charset="-120"/>
                        </a:rPr>
                        <a:t>0 · No diabetes</a:t>
                      </a:r>
                      <a:endParaRPr lang="en-US" sz="1600" dirty="0">
                        <a:latin typeface="Geist" charset="0"/>
                        <a:ea typeface="Geist" charset="0"/>
                        <a:cs typeface="Geist" charset="0"/>
                      </a:endParaRPr>
                    </a:p>
                  </a:txBody>
                  <a:tcPr marL="152396" marR="152396" marT="126997" marB="126997" anchor="ctr">
                    <a:lnL w="12700" cap="flat" cmpd="sng" algn="ctr">
                      <a:solidFill>
                        <a:srgbClr val="D8D1C4"/>
                      </a:solidFill>
                      <a:prstDash val="solid"/>
                      <a:round/>
                      <a:headEnd type="none" w="med" len="med"/>
                      <a:tailEnd type="none" w="med" len="med"/>
                    </a:lnL>
                    <a:lnR w="12700" cap="flat" cmpd="sng" algn="ctr">
                      <a:solidFill>
                        <a:srgbClr val="D8D1C4"/>
                      </a:solidFill>
                      <a:prstDash val="solid"/>
                      <a:round/>
                      <a:headEnd type="none" w="med" len="med"/>
                      <a:tailEnd type="none" w="med" len="med"/>
                    </a:lnR>
                    <a:lnT w="12700" cap="flat" cmpd="sng" algn="ctr">
                      <a:solidFill>
                        <a:srgbClr val="D8D1C4"/>
                      </a:solidFill>
                      <a:prstDash val="solid"/>
                      <a:round/>
                      <a:headEnd type="none" w="med" len="med"/>
                      <a:tailEnd type="none" w="med" len="med"/>
                    </a:lnT>
                    <a:lnB w="12700" cap="flat" cmpd="sng" algn="ctr">
                      <a:solidFill>
                        <a:srgbClr val="D8D1C4"/>
                      </a:solidFill>
                      <a:prstDash val="solid"/>
                      <a:round/>
                      <a:headEnd type="none" w="med" len="med"/>
                      <a:tailEnd type="none" w="med" len="med"/>
                    </a:lnB>
                  </a:tcPr>
                </a:tc>
                <a:tc>
                  <a:txBody>
                    <a:bodyPr/>
                    <a:lstStyle/>
                    <a:p>
                      <a:pPr marL="0" indent="0" algn="l">
                        <a:buNone/>
                      </a:pPr>
                      <a:r>
                        <a:rPr lang="en-US" sz="2000" dirty="0">
                          <a:solidFill>
                            <a:srgbClr val="000000"/>
                          </a:solidFill>
                          <a:latin typeface="Geist" pitchFamily="34" charset="0"/>
                          <a:ea typeface="Geist" pitchFamily="34" charset="-122"/>
                          <a:cs typeface="Geist" pitchFamily="34" charset="-120"/>
                        </a:rPr>
                        <a:t>True Negative</a:t>
                      </a:r>
                      <a:endParaRPr lang="en-US" sz="2000" dirty="0">
                        <a:latin typeface="Geist" charset="0"/>
                        <a:ea typeface="Geist" charset="0"/>
                        <a:cs typeface="Geist" charset="0"/>
                      </a:endParaRPr>
                    </a:p>
                    <a:p>
                      <a:pPr marL="0" indent="0" algn="l">
                        <a:buNone/>
                      </a:pPr>
                      <a:r>
                        <a:rPr lang="en-US" sz="1600" dirty="0">
                          <a:solidFill>
                            <a:srgbClr val="000000"/>
                          </a:solidFill>
                          <a:latin typeface="Geist" pitchFamily="34" charset="0"/>
                          <a:ea typeface="Geist" pitchFamily="34" charset="-122"/>
                          <a:cs typeface="Geist" pitchFamily="34" charset="-120"/>
                        </a:rPr>
                        <a:t>Correctly predicted no diabetes.</a:t>
                      </a:r>
                      <a:endParaRPr lang="en-US" sz="2000" dirty="0">
                        <a:latin typeface="Geist" charset="0"/>
                        <a:ea typeface="Geist" charset="0"/>
                        <a:cs typeface="Geist" charset="0"/>
                      </a:endParaRPr>
                    </a:p>
                  </a:txBody>
                  <a:tcPr marL="152396" marR="152396" marT="126997" marB="126997" anchor="ctr">
                    <a:lnL w="12700" cap="flat" cmpd="sng" algn="ctr">
                      <a:solidFill>
                        <a:srgbClr val="D8D1C4"/>
                      </a:solidFill>
                      <a:prstDash val="solid"/>
                      <a:round/>
                      <a:headEnd type="none" w="med" len="med"/>
                      <a:tailEnd type="none" w="med" len="med"/>
                    </a:lnL>
                    <a:lnR w="12700" cap="flat" cmpd="sng" algn="ctr">
                      <a:solidFill>
                        <a:srgbClr val="D8D1C4"/>
                      </a:solidFill>
                      <a:prstDash val="solid"/>
                      <a:round/>
                      <a:headEnd type="none" w="med" len="med"/>
                      <a:tailEnd type="none" w="med" len="med"/>
                    </a:lnR>
                    <a:lnT w="12700" cap="flat" cmpd="sng" algn="ctr">
                      <a:solidFill>
                        <a:srgbClr val="D8D1C4"/>
                      </a:solidFill>
                      <a:prstDash val="solid"/>
                      <a:round/>
                      <a:headEnd type="none" w="med" len="med"/>
                      <a:tailEnd type="none" w="med" len="med"/>
                    </a:lnT>
                    <a:lnB w="12700" cap="flat" cmpd="sng" algn="ctr">
                      <a:solidFill>
                        <a:srgbClr val="D8D1C4"/>
                      </a:solidFill>
                      <a:prstDash val="solid"/>
                      <a:round/>
                      <a:headEnd type="none" w="med" len="med"/>
                      <a:tailEnd type="none" w="med" len="med"/>
                    </a:lnB>
                    <a:solidFill>
                      <a:srgbClr val="EAF4F5"/>
                    </a:solidFill>
                  </a:tcPr>
                </a:tc>
                <a:tc>
                  <a:txBody>
                    <a:bodyPr/>
                    <a:lstStyle/>
                    <a:p>
                      <a:pPr marL="0" indent="0" algn="l">
                        <a:buNone/>
                      </a:pPr>
                      <a:r>
                        <a:rPr lang="en-US" sz="2000" dirty="0">
                          <a:solidFill>
                            <a:srgbClr val="000000"/>
                          </a:solidFill>
                          <a:latin typeface="Geist" pitchFamily="34" charset="0"/>
                          <a:ea typeface="Geist" pitchFamily="34" charset="-122"/>
                          <a:cs typeface="Geist" pitchFamily="34" charset="-120"/>
                        </a:rPr>
                        <a:t>False Positive (False Alarm)</a:t>
                      </a:r>
                      <a:endParaRPr lang="en-US" sz="2000" dirty="0">
                        <a:latin typeface="Geist" charset="0"/>
                        <a:ea typeface="Geist" charset="0"/>
                        <a:cs typeface="Geist" charset="0"/>
                      </a:endParaRPr>
                    </a:p>
                    <a:p>
                      <a:pPr marL="0" indent="0" algn="l">
                        <a:buNone/>
                      </a:pPr>
                      <a:r>
                        <a:rPr lang="en-US" sz="1600" dirty="0">
                          <a:solidFill>
                            <a:srgbClr val="000000"/>
                          </a:solidFill>
                          <a:latin typeface="Geist" pitchFamily="34" charset="0"/>
                          <a:ea typeface="Geist" pitchFamily="34" charset="-122"/>
                          <a:cs typeface="Geist" pitchFamily="34" charset="-120"/>
                        </a:rPr>
                        <a:t>Predicted diabetes. the person didn't have it.</a:t>
                      </a:r>
                      <a:endParaRPr lang="en-US" sz="2000" dirty="0">
                        <a:latin typeface="Geist" charset="0"/>
                        <a:ea typeface="Geist" charset="0"/>
                        <a:cs typeface="Geist" charset="0"/>
                      </a:endParaRPr>
                    </a:p>
                  </a:txBody>
                  <a:tcPr marL="152396" marR="152396" marT="126997" marB="126997" anchor="ctr">
                    <a:lnL w="12700" cap="flat" cmpd="sng" algn="ctr">
                      <a:solidFill>
                        <a:srgbClr val="D8D1C4"/>
                      </a:solidFill>
                      <a:prstDash val="solid"/>
                      <a:round/>
                      <a:headEnd type="none" w="med" len="med"/>
                      <a:tailEnd type="none" w="med" len="med"/>
                    </a:lnL>
                    <a:lnR w="12700" cap="flat" cmpd="sng" algn="ctr">
                      <a:solidFill>
                        <a:srgbClr val="D8D1C4"/>
                      </a:solidFill>
                      <a:prstDash val="solid"/>
                      <a:round/>
                      <a:headEnd type="none" w="med" len="med"/>
                      <a:tailEnd type="none" w="med" len="med"/>
                    </a:lnR>
                    <a:lnT w="12700" cap="flat" cmpd="sng" algn="ctr">
                      <a:solidFill>
                        <a:srgbClr val="D8D1C4"/>
                      </a:solidFill>
                      <a:prstDash val="solid"/>
                      <a:round/>
                      <a:headEnd type="none" w="med" len="med"/>
                      <a:tailEnd type="none" w="med" len="med"/>
                    </a:lnT>
                    <a:lnB w="12700" cap="flat" cmpd="sng" algn="ctr">
                      <a:solidFill>
                        <a:srgbClr val="D8D1C4"/>
                      </a:solidFill>
                      <a:prstDash val="solid"/>
                      <a:round/>
                      <a:headEnd type="none" w="med" len="med"/>
                      <a:tailEnd type="none" w="med" len="med"/>
                    </a:lnB>
                    <a:solidFill>
                      <a:srgbClr val="F1F3F6"/>
                    </a:solidFill>
                  </a:tcPr>
                </a:tc>
                <a:extLst>
                  <a:ext uri="{0D108BD9-81ED-4DB2-BD59-A6C34878D82A}">
                    <a16:rowId xmlns:a16="http://schemas.microsoft.com/office/drawing/2014/main" val="10001"/>
                  </a:ext>
                </a:extLst>
              </a:tr>
              <a:tr h="1310448">
                <a:tc>
                  <a:txBody>
                    <a:bodyPr/>
                    <a:lstStyle/>
                    <a:p>
                      <a:pPr marL="0" indent="0" algn="l">
                        <a:buNone/>
                      </a:pPr>
                      <a:r>
                        <a:rPr lang="en-US" sz="1600" dirty="0">
                          <a:solidFill>
                            <a:srgbClr val="1B2638"/>
                          </a:solidFill>
                          <a:latin typeface="Geist" pitchFamily="34" charset="0"/>
                          <a:ea typeface="Geist" pitchFamily="34" charset="-122"/>
                          <a:cs typeface="Geist" pitchFamily="34" charset="-120"/>
                        </a:rPr>
                        <a:t>1 · Diabetes</a:t>
                      </a:r>
                      <a:endParaRPr lang="en-US" sz="1600" dirty="0">
                        <a:latin typeface="Geist" charset="0"/>
                        <a:ea typeface="Geist" charset="0"/>
                        <a:cs typeface="Geist" charset="0"/>
                      </a:endParaRPr>
                    </a:p>
                  </a:txBody>
                  <a:tcPr marL="152396" marR="152396" marT="126997" marB="126997" anchor="ctr">
                    <a:lnL w="12700" cap="flat" cmpd="sng" algn="ctr">
                      <a:solidFill>
                        <a:srgbClr val="D8D1C4"/>
                      </a:solidFill>
                      <a:prstDash val="solid"/>
                      <a:round/>
                      <a:headEnd type="none" w="med" len="med"/>
                      <a:tailEnd type="none" w="med" len="med"/>
                    </a:lnL>
                    <a:lnR w="12700" cap="flat" cmpd="sng" algn="ctr">
                      <a:solidFill>
                        <a:srgbClr val="D8D1C4"/>
                      </a:solidFill>
                      <a:prstDash val="solid"/>
                      <a:round/>
                      <a:headEnd type="none" w="med" len="med"/>
                      <a:tailEnd type="none" w="med" len="med"/>
                    </a:lnR>
                    <a:lnT w="12700" cap="flat" cmpd="sng" algn="ctr">
                      <a:solidFill>
                        <a:srgbClr val="D8D1C4"/>
                      </a:solidFill>
                      <a:prstDash val="solid"/>
                      <a:round/>
                      <a:headEnd type="none" w="med" len="med"/>
                      <a:tailEnd type="none" w="med" len="med"/>
                    </a:lnT>
                    <a:lnB w="12700" cap="flat" cmpd="sng" algn="ctr">
                      <a:solidFill>
                        <a:srgbClr val="D8D1C4"/>
                      </a:solidFill>
                      <a:prstDash val="solid"/>
                      <a:round/>
                      <a:headEnd type="none" w="med" len="med"/>
                      <a:tailEnd type="none" w="med" len="med"/>
                    </a:lnB>
                  </a:tcPr>
                </a:tc>
                <a:tc>
                  <a:txBody>
                    <a:bodyPr/>
                    <a:lstStyle/>
                    <a:p>
                      <a:pPr marL="0" indent="0" algn="l">
                        <a:buNone/>
                      </a:pPr>
                      <a:r>
                        <a:rPr lang="en-US" sz="2000" dirty="0">
                          <a:solidFill>
                            <a:srgbClr val="000000"/>
                          </a:solidFill>
                          <a:latin typeface="Geist" pitchFamily="34" charset="0"/>
                          <a:ea typeface="Geist" pitchFamily="34" charset="-122"/>
                          <a:cs typeface="Geist" pitchFamily="34" charset="-120"/>
                        </a:rPr>
                        <a:t>False Negative (Missed the Target)</a:t>
                      </a:r>
                      <a:endParaRPr lang="en-US" sz="2000" dirty="0">
                        <a:latin typeface="Geist" charset="0"/>
                        <a:ea typeface="Geist" charset="0"/>
                        <a:cs typeface="Geist" charset="0"/>
                      </a:endParaRPr>
                    </a:p>
                    <a:p>
                      <a:pPr marL="0" indent="0" algn="l">
                        <a:buNone/>
                      </a:pPr>
                      <a:r>
                        <a:rPr lang="en-US" sz="1600" dirty="0">
                          <a:solidFill>
                            <a:srgbClr val="000000"/>
                          </a:solidFill>
                          <a:latin typeface="Geist" pitchFamily="34" charset="0"/>
                          <a:ea typeface="Geist" pitchFamily="34" charset="-122"/>
                          <a:cs typeface="Geist" pitchFamily="34" charset="-120"/>
                        </a:rPr>
                        <a:t>Predicted no diabetes. the person had it.</a:t>
                      </a:r>
                      <a:endParaRPr lang="en-US" sz="2000" dirty="0">
                        <a:latin typeface="Geist" charset="0"/>
                        <a:ea typeface="Geist" charset="0"/>
                        <a:cs typeface="Geist" charset="0"/>
                      </a:endParaRPr>
                    </a:p>
                  </a:txBody>
                  <a:tcPr marL="152396" marR="152396" marT="126997" marB="126997" anchor="ctr">
                    <a:lnL w="12700" cap="flat" cmpd="sng" algn="ctr">
                      <a:solidFill>
                        <a:srgbClr val="D8D1C4"/>
                      </a:solidFill>
                      <a:prstDash val="solid"/>
                      <a:round/>
                      <a:headEnd type="none" w="med" len="med"/>
                      <a:tailEnd type="none" w="med" len="med"/>
                    </a:lnL>
                    <a:lnR w="12700" cap="flat" cmpd="sng" algn="ctr">
                      <a:solidFill>
                        <a:srgbClr val="D8D1C4"/>
                      </a:solidFill>
                      <a:prstDash val="solid"/>
                      <a:round/>
                      <a:headEnd type="none" w="med" len="med"/>
                      <a:tailEnd type="none" w="med" len="med"/>
                    </a:lnR>
                    <a:lnT w="12700" cap="flat" cmpd="sng" algn="ctr">
                      <a:solidFill>
                        <a:srgbClr val="D8D1C4"/>
                      </a:solidFill>
                      <a:prstDash val="solid"/>
                      <a:round/>
                      <a:headEnd type="none" w="med" len="med"/>
                      <a:tailEnd type="none" w="med" len="med"/>
                    </a:lnT>
                    <a:lnB w="12700" cap="flat" cmpd="sng" algn="ctr">
                      <a:solidFill>
                        <a:srgbClr val="D8D1C4"/>
                      </a:solidFill>
                      <a:prstDash val="solid"/>
                      <a:round/>
                      <a:headEnd type="none" w="med" len="med"/>
                      <a:tailEnd type="none" w="med" len="med"/>
                    </a:lnB>
                    <a:solidFill>
                      <a:srgbClr val="F1F3F6"/>
                    </a:solidFill>
                  </a:tcPr>
                </a:tc>
                <a:tc>
                  <a:txBody>
                    <a:bodyPr/>
                    <a:lstStyle/>
                    <a:p>
                      <a:pPr marL="0" indent="0" algn="l">
                        <a:buNone/>
                      </a:pPr>
                      <a:r>
                        <a:rPr lang="en-US" sz="2000" dirty="0">
                          <a:solidFill>
                            <a:srgbClr val="000000"/>
                          </a:solidFill>
                          <a:latin typeface="Geist" pitchFamily="34" charset="0"/>
                          <a:ea typeface="Geist" pitchFamily="34" charset="-122"/>
                          <a:cs typeface="Geist" pitchFamily="34" charset="-120"/>
                        </a:rPr>
                        <a:t>True Positive</a:t>
                      </a:r>
                      <a:endParaRPr lang="en-US" sz="2000" dirty="0">
                        <a:latin typeface="Geist" charset="0"/>
                        <a:ea typeface="Geist" charset="0"/>
                        <a:cs typeface="Geist" charset="0"/>
                      </a:endParaRPr>
                    </a:p>
                    <a:p>
                      <a:pPr marL="0" indent="0" algn="l">
                        <a:buNone/>
                      </a:pPr>
                      <a:r>
                        <a:rPr lang="en-US" sz="1600" dirty="0">
                          <a:solidFill>
                            <a:srgbClr val="000000"/>
                          </a:solidFill>
                          <a:latin typeface="Geist" pitchFamily="34" charset="0"/>
                          <a:ea typeface="Geist" pitchFamily="34" charset="-122"/>
                          <a:cs typeface="Geist" pitchFamily="34" charset="-120"/>
                        </a:rPr>
                        <a:t>Correctly predicted diabetes.</a:t>
                      </a:r>
                      <a:endParaRPr lang="en-US" sz="2000" dirty="0">
                        <a:latin typeface="Geist" charset="0"/>
                        <a:ea typeface="Geist" charset="0"/>
                        <a:cs typeface="Geist" charset="0"/>
                      </a:endParaRPr>
                    </a:p>
                  </a:txBody>
                  <a:tcPr marL="152396" marR="152396" marT="126997" marB="126997" anchor="ctr">
                    <a:lnL w="12700" cap="flat" cmpd="sng" algn="ctr">
                      <a:solidFill>
                        <a:srgbClr val="D8D1C4"/>
                      </a:solidFill>
                      <a:prstDash val="solid"/>
                      <a:round/>
                      <a:headEnd type="none" w="med" len="med"/>
                      <a:tailEnd type="none" w="med" len="med"/>
                    </a:lnL>
                    <a:lnR w="12700" cap="flat" cmpd="sng" algn="ctr">
                      <a:solidFill>
                        <a:srgbClr val="D8D1C4"/>
                      </a:solidFill>
                      <a:prstDash val="solid"/>
                      <a:round/>
                      <a:headEnd type="none" w="med" len="med"/>
                      <a:tailEnd type="none" w="med" len="med"/>
                    </a:lnR>
                    <a:lnT w="12700" cap="flat" cmpd="sng" algn="ctr">
                      <a:solidFill>
                        <a:srgbClr val="D8D1C4"/>
                      </a:solidFill>
                      <a:prstDash val="solid"/>
                      <a:round/>
                      <a:headEnd type="none" w="med" len="med"/>
                      <a:tailEnd type="none" w="med" len="med"/>
                    </a:lnT>
                    <a:lnB w="12700" cap="flat" cmpd="sng" algn="ctr">
                      <a:solidFill>
                        <a:srgbClr val="D8D1C4"/>
                      </a:solidFill>
                      <a:prstDash val="solid"/>
                      <a:round/>
                      <a:headEnd type="none" w="med" len="med"/>
                      <a:tailEnd type="none" w="med" len="med"/>
                    </a:lnB>
                    <a:solidFill>
                      <a:srgbClr val="D7EBEE"/>
                    </a:solidFill>
                  </a:tcPr>
                </a:tc>
                <a:extLst>
                  <a:ext uri="{0D108BD9-81ED-4DB2-BD59-A6C34878D82A}">
                    <a16:rowId xmlns:a16="http://schemas.microsoft.com/office/drawing/2014/main" val="10002"/>
                  </a:ext>
                </a:extLst>
              </a:tr>
            </a:tbl>
          </a:graphicData>
        </a:graphic>
      </p:graphicFrame>
      <p:sp>
        <p:nvSpPr>
          <p:cNvPr id="7" name="Rectangle 6">
            <a:extLst>
              <a:ext uri="{FF2B5EF4-FFF2-40B4-BE49-F238E27FC236}">
                <a16:creationId xmlns:a16="http://schemas.microsoft.com/office/drawing/2014/main" id="{A2B38FDD-430D-8C09-47EE-2A319E5737A6}"/>
              </a:ext>
            </a:extLst>
          </p:cNvPr>
          <p:cNvSpPr/>
          <p:nvPr/>
        </p:nvSpPr>
        <p:spPr>
          <a:xfrm>
            <a:off x="10982131" y="6447453"/>
            <a:ext cx="1209869" cy="41054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BE9BDF-C799-A998-DA5B-67561EE1CA89}"/>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D09F6C1F-CE43-4AD2-095B-ACFFC59D309D}"/>
              </a:ext>
            </a:extLst>
          </p:cNvPr>
          <p:cNvSpPr/>
          <p:nvPr/>
        </p:nvSpPr>
        <p:spPr>
          <a:xfrm>
            <a:off x="457189" y="459184"/>
            <a:ext cx="11734506" cy="182563"/>
          </a:xfrm>
          <a:prstGeom prst="rect">
            <a:avLst/>
          </a:prstGeom>
          <a:noFill/>
          <a:ln/>
        </p:spPr>
        <p:txBody>
          <a:bodyPr wrap="none" lIns="0" tIns="0" rIns="0" bIns="0" rtlCol="0" anchor="t"/>
          <a:lstStyle/>
          <a:p>
            <a:pPr marL="0" indent="0" algn="l">
              <a:lnSpc>
                <a:spcPct val="104000"/>
              </a:lnSpc>
              <a:buNone/>
            </a:pPr>
            <a:r>
              <a:rPr lang="en-US" sz="1150" kern="100" spc="92" dirty="0">
                <a:solidFill>
                  <a:srgbClr val="4A5B70"/>
                </a:solidFill>
                <a:latin typeface="Geist SemiBold" pitchFamily="34" charset="0"/>
                <a:ea typeface="Geist SemiBold" pitchFamily="34" charset="-122"/>
                <a:cs typeface="Geist SemiBold" pitchFamily="34" charset="-120"/>
              </a:rPr>
              <a:t>UNDERSTANDING PREDICTION ERRORS</a:t>
            </a:r>
            <a:endParaRPr lang="en-US" sz="1150" dirty="0"/>
          </a:p>
        </p:txBody>
      </p:sp>
      <p:sp>
        <p:nvSpPr>
          <p:cNvPr id="3" name="Text 1">
            <a:extLst>
              <a:ext uri="{FF2B5EF4-FFF2-40B4-BE49-F238E27FC236}">
                <a16:creationId xmlns:a16="http://schemas.microsoft.com/office/drawing/2014/main" id="{06676856-62FD-31CB-2C72-2E17AF9C8DD1}"/>
              </a:ext>
            </a:extLst>
          </p:cNvPr>
          <p:cNvSpPr/>
          <p:nvPr/>
        </p:nvSpPr>
        <p:spPr>
          <a:xfrm>
            <a:off x="457189" y="731837"/>
            <a:ext cx="11277318" cy="432991"/>
          </a:xfrm>
          <a:prstGeom prst="rect">
            <a:avLst/>
          </a:prstGeom>
          <a:noFill/>
          <a:ln/>
        </p:spPr>
        <p:txBody>
          <a:bodyPr wrap="none" lIns="0" tIns="0" rIns="0" bIns="0" rtlCol="0" anchor="t"/>
          <a:lstStyle/>
          <a:p>
            <a:pPr marL="0" indent="0" algn="l">
              <a:lnSpc>
                <a:spcPct val="92000"/>
              </a:lnSpc>
              <a:buNone/>
            </a:pPr>
            <a:r>
              <a:rPr lang="en-US" sz="3100" kern="100" spc="-31" dirty="0">
                <a:solidFill>
                  <a:srgbClr val="1B2638"/>
                </a:solidFill>
                <a:latin typeface="Newsreader Medium" pitchFamily="34" charset="0"/>
                <a:ea typeface="Newsreader Medium" pitchFamily="34" charset="-122"/>
                <a:cs typeface="Newsreader Medium" pitchFamily="34" charset="-120"/>
              </a:rPr>
              <a:t>A confusion matrix shows which errors the KNN model makes (Cont.)</a:t>
            </a:r>
            <a:endParaRPr lang="en-US" sz="3100" dirty="0"/>
          </a:p>
        </p:txBody>
      </p:sp>
      <p:sp>
        <p:nvSpPr>
          <p:cNvPr id="4" name="Shape 2">
            <a:extLst>
              <a:ext uri="{FF2B5EF4-FFF2-40B4-BE49-F238E27FC236}">
                <a16:creationId xmlns:a16="http://schemas.microsoft.com/office/drawing/2014/main" id="{16CD12AC-7A0D-9F34-A242-B6FE0B13503A}"/>
              </a:ext>
            </a:extLst>
          </p:cNvPr>
          <p:cNvSpPr/>
          <p:nvPr/>
        </p:nvSpPr>
        <p:spPr>
          <a:xfrm>
            <a:off x="457189" y="1439466"/>
            <a:ext cx="11277318" cy="31651"/>
          </a:xfrm>
          <a:prstGeom prst="roundRect">
            <a:avLst>
              <a:gd name="adj" fmla="val 49998"/>
            </a:avLst>
          </a:prstGeom>
          <a:solidFill>
            <a:srgbClr val="397B88"/>
          </a:solidFill>
          <a:ln/>
        </p:spPr>
        <p:txBody>
          <a:bodyPr/>
          <a:lstStyle/>
          <a:p>
            <a:endParaRPr lang="en-US"/>
          </a:p>
        </p:txBody>
      </p:sp>
      <p:sp>
        <p:nvSpPr>
          <p:cNvPr id="5" name="Text 3">
            <a:extLst>
              <a:ext uri="{FF2B5EF4-FFF2-40B4-BE49-F238E27FC236}">
                <a16:creationId xmlns:a16="http://schemas.microsoft.com/office/drawing/2014/main" id="{C3F81312-39C2-4908-A97B-2399DA516DE5}"/>
              </a:ext>
            </a:extLst>
          </p:cNvPr>
          <p:cNvSpPr/>
          <p:nvPr/>
        </p:nvSpPr>
        <p:spPr>
          <a:xfrm>
            <a:off x="457189" y="1723628"/>
            <a:ext cx="11734506" cy="288528"/>
          </a:xfrm>
          <a:prstGeom prst="rect">
            <a:avLst/>
          </a:prstGeom>
          <a:noFill/>
          <a:ln/>
        </p:spPr>
        <p:txBody>
          <a:bodyPr wrap="none" lIns="0" tIns="0" rIns="0" bIns="0" rtlCol="0" anchor="t"/>
          <a:lstStyle/>
          <a:p>
            <a:pPr marL="0" indent="0" algn="l">
              <a:lnSpc>
                <a:spcPct val="118000"/>
              </a:lnSpc>
              <a:buNone/>
            </a:pPr>
            <a:r>
              <a:rPr lang="en-US" sz="1600" dirty="0">
                <a:solidFill>
                  <a:srgbClr val="2B3139"/>
                </a:solidFill>
                <a:latin typeface="Geist" pitchFamily="34" charset="0"/>
                <a:ea typeface="Geist" pitchFamily="34" charset="-122"/>
                <a:cs typeface="Geist" pitchFamily="34" charset="-120"/>
              </a:rPr>
              <a:t>It reveals error types that accuracy alone hides.</a:t>
            </a:r>
            <a:endParaRPr lang="en-US" sz="1600" dirty="0"/>
          </a:p>
        </p:txBody>
      </p:sp>
      <p:pic>
        <p:nvPicPr>
          <p:cNvPr id="10" name="Picture 9">
            <a:extLst>
              <a:ext uri="{FF2B5EF4-FFF2-40B4-BE49-F238E27FC236}">
                <a16:creationId xmlns:a16="http://schemas.microsoft.com/office/drawing/2014/main" id="{C0895937-47A9-ED52-4473-253D9839609B}"/>
              </a:ext>
            </a:extLst>
          </p:cNvPr>
          <p:cNvPicPr>
            <a:picLocks noChangeAspect="1"/>
          </p:cNvPicPr>
          <p:nvPr/>
        </p:nvPicPr>
        <p:blipFill>
          <a:blip r:embed="rId3"/>
          <a:stretch>
            <a:fillRect/>
          </a:stretch>
        </p:blipFill>
        <p:spPr>
          <a:xfrm>
            <a:off x="457189" y="2123085"/>
            <a:ext cx="5279671" cy="4564361"/>
          </a:xfrm>
          <a:prstGeom prst="rect">
            <a:avLst/>
          </a:prstGeom>
        </p:spPr>
      </p:pic>
      <p:sp>
        <p:nvSpPr>
          <p:cNvPr id="18" name="TextBox 17">
            <a:extLst>
              <a:ext uri="{FF2B5EF4-FFF2-40B4-BE49-F238E27FC236}">
                <a16:creationId xmlns:a16="http://schemas.microsoft.com/office/drawing/2014/main" id="{34839548-3F65-B914-8205-CCCE89802105}"/>
              </a:ext>
            </a:extLst>
          </p:cNvPr>
          <p:cNvSpPr txBox="1"/>
          <p:nvPr/>
        </p:nvSpPr>
        <p:spPr>
          <a:xfrm>
            <a:off x="7104146" y="2830275"/>
            <a:ext cx="3877985" cy="2246769"/>
          </a:xfrm>
          <a:prstGeom prst="rect">
            <a:avLst/>
          </a:prstGeom>
          <a:noFill/>
        </p:spPr>
        <p:txBody>
          <a:bodyPr wrap="square" rtlCol="0">
            <a:spAutoFit/>
          </a:bodyPr>
          <a:lstStyle/>
          <a:p>
            <a:r>
              <a:rPr lang="en-US" sz="2000" dirty="0">
                <a:latin typeface="Geist" panose="020B0604020202020204" charset="0"/>
                <a:ea typeface="Geist" panose="020B0604020202020204" charset="0"/>
                <a:cs typeface="Geist" panose="020B0604020202020204" charset="0"/>
              </a:rPr>
              <a:t>(TN) True Negative 	101</a:t>
            </a:r>
          </a:p>
          <a:p>
            <a:endParaRPr lang="en-US" sz="2000" dirty="0">
              <a:latin typeface="Geist" panose="020B0604020202020204" charset="0"/>
              <a:ea typeface="Geist" panose="020B0604020202020204" charset="0"/>
              <a:cs typeface="Geist" panose="020B0604020202020204" charset="0"/>
            </a:endParaRPr>
          </a:p>
          <a:p>
            <a:r>
              <a:rPr lang="en-US" sz="2000" dirty="0">
                <a:latin typeface="Geist" panose="020B0604020202020204" charset="0"/>
                <a:ea typeface="Geist" panose="020B0604020202020204" charset="0"/>
                <a:cs typeface="Geist" panose="020B0604020202020204" charset="0"/>
              </a:rPr>
              <a:t>(FP) False Positive 	22</a:t>
            </a:r>
          </a:p>
          <a:p>
            <a:endParaRPr lang="en-US" sz="2000" dirty="0">
              <a:latin typeface="Geist" panose="020B0604020202020204" charset="0"/>
              <a:ea typeface="Geist" panose="020B0604020202020204" charset="0"/>
              <a:cs typeface="Geist" panose="020B0604020202020204" charset="0"/>
            </a:endParaRPr>
          </a:p>
          <a:p>
            <a:r>
              <a:rPr lang="en-US" sz="2000" dirty="0">
                <a:latin typeface="Geist" panose="020B0604020202020204" charset="0"/>
                <a:ea typeface="Geist" panose="020B0604020202020204" charset="0"/>
                <a:cs typeface="Geist" panose="020B0604020202020204" charset="0"/>
              </a:rPr>
              <a:t>(FN) False Negative 	25	</a:t>
            </a:r>
          </a:p>
          <a:p>
            <a:endParaRPr lang="en-US" sz="2000" dirty="0">
              <a:latin typeface="Geist" panose="020B0604020202020204" charset="0"/>
              <a:ea typeface="Geist" panose="020B0604020202020204" charset="0"/>
              <a:cs typeface="Geist" panose="020B0604020202020204" charset="0"/>
            </a:endParaRPr>
          </a:p>
          <a:p>
            <a:r>
              <a:rPr lang="en-US" sz="2000" dirty="0">
                <a:latin typeface="Geist" panose="020B0604020202020204" charset="0"/>
                <a:ea typeface="Geist" panose="020B0604020202020204" charset="0"/>
                <a:cs typeface="Geist" panose="020B0604020202020204" charset="0"/>
              </a:rPr>
              <a:t>(TP) True Positive 	44</a:t>
            </a:r>
          </a:p>
        </p:txBody>
      </p:sp>
      <p:sp>
        <p:nvSpPr>
          <p:cNvPr id="22" name="Rectangle 21">
            <a:extLst>
              <a:ext uri="{FF2B5EF4-FFF2-40B4-BE49-F238E27FC236}">
                <a16:creationId xmlns:a16="http://schemas.microsoft.com/office/drawing/2014/main" id="{629DB7F1-02AF-B9EC-5D8A-E7720DC25F07}"/>
              </a:ext>
            </a:extLst>
          </p:cNvPr>
          <p:cNvSpPr/>
          <p:nvPr/>
        </p:nvSpPr>
        <p:spPr>
          <a:xfrm>
            <a:off x="10982131" y="6447453"/>
            <a:ext cx="1209869" cy="41054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8960533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02E3B6-1AA3-CEB1-DA79-72A33163CFAB}"/>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3C7C3204-0B15-5C22-83E3-60CA6A52E40D}"/>
              </a:ext>
            </a:extLst>
          </p:cNvPr>
          <p:cNvSpPr txBox="1"/>
          <p:nvPr/>
        </p:nvSpPr>
        <p:spPr>
          <a:xfrm>
            <a:off x="4122543" y="2921168"/>
            <a:ext cx="3946914" cy="1015663"/>
          </a:xfrm>
          <a:prstGeom prst="rect">
            <a:avLst/>
          </a:prstGeom>
          <a:noFill/>
        </p:spPr>
        <p:txBody>
          <a:bodyPr wrap="none" rtlCol="0">
            <a:spAutoFit/>
          </a:bodyPr>
          <a:lstStyle/>
          <a:p>
            <a:r>
              <a:rPr lang="en-US" sz="6000" dirty="0">
                <a:latin typeface="Newsreader Medium" panose="020B0604020202020204" charset="0"/>
              </a:rPr>
              <a:t>Thank You</a:t>
            </a:r>
          </a:p>
        </p:txBody>
      </p:sp>
      <p:sp>
        <p:nvSpPr>
          <p:cNvPr id="8" name="Rectangle 7">
            <a:extLst>
              <a:ext uri="{FF2B5EF4-FFF2-40B4-BE49-F238E27FC236}">
                <a16:creationId xmlns:a16="http://schemas.microsoft.com/office/drawing/2014/main" id="{D6D648D9-3D26-A812-5687-B9094DD3527E}"/>
              </a:ext>
            </a:extLst>
          </p:cNvPr>
          <p:cNvSpPr/>
          <p:nvPr/>
        </p:nvSpPr>
        <p:spPr>
          <a:xfrm>
            <a:off x="10982131" y="6447453"/>
            <a:ext cx="1209869" cy="41054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48687618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4A5B70"/>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Archway</Template>
  <TotalTime>22</TotalTime>
  <Words>651</Words>
  <Application>Microsoft Office PowerPoint</Application>
  <PresentationFormat>Widescreen</PresentationFormat>
  <Paragraphs>136</Paragraphs>
  <Slides>12</Slides>
  <Notes>12</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12</vt:i4>
      </vt:variant>
    </vt:vector>
  </HeadingPairs>
  <TitlesOfParts>
    <vt:vector size="19" baseType="lpstr">
      <vt:lpstr>Newsreader Medium</vt:lpstr>
      <vt:lpstr>Consolas</vt:lpstr>
      <vt:lpstr>Geist</vt:lpstr>
      <vt:lpstr>Geist SemiBold</vt:lpstr>
      <vt:lpstr>Arial</vt:lpstr>
      <vt:lpstr>Geist Bold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lastModifiedBy>Hazem Wael</cp:lastModifiedBy>
  <cp:revision>2</cp:revision>
  <dcterms:created xsi:type="dcterms:W3CDTF">2026-10-07T19:10:05Z</dcterms:created>
  <dcterms:modified xsi:type="dcterms:W3CDTF">2026-10-07T19:32:41Z</dcterms:modified>
</cp:coreProperties>
</file>